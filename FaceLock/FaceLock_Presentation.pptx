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71" r:id="rId15"/>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09" d="100"/>
          <a:sy n="109" d="100"/>
        </p:scale>
        <p:origin x="706"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7528219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31653" y="5627"/>
            <a:ext cx="9207305" cy="5143500"/>
          </a:xfrm>
          <a:prstGeom prst="rect">
            <a:avLst/>
          </a:prstGeom>
          <a:solidFill>
            <a:srgbClr val="1B3A6B"/>
          </a:solidFill>
          <a:ln w="12700">
            <a:solidFill>
              <a:srgbClr val="1B3A6B"/>
            </a:solidFill>
            <a:prstDash val="solid"/>
          </a:ln>
        </p:spPr>
        <p:txBody>
          <a:bodyPr/>
          <a:lstStyle/>
          <a:p>
            <a:endParaRPr lang="fr-FR"/>
          </a:p>
        </p:txBody>
      </p:sp>
      <p:sp>
        <p:nvSpPr>
          <p:cNvPr id="4" name="Text 2"/>
          <p:cNvSpPr/>
          <p:nvPr/>
        </p:nvSpPr>
        <p:spPr>
          <a:xfrm>
            <a:off x="457200" y="457200"/>
            <a:ext cx="2926080" cy="1097280"/>
          </a:xfrm>
          <a:prstGeom prst="rect">
            <a:avLst/>
          </a:prstGeom>
          <a:noFill/>
          <a:ln/>
        </p:spPr>
        <p:txBody>
          <a:bodyPr wrap="square" rtlCol="0" anchor="ctr"/>
          <a:lstStyle/>
          <a:p>
            <a:pPr marL="0" indent="0" algn="ctr">
              <a:buNone/>
            </a:pPr>
            <a:endParaRPr lang="en-US" sz="7200" dirty="0"/>
          </a:p>
        </p:txBody>
      </p:sp>
      <p:sp>
        <p:nvSpPr>
          <p:cNvPr id="5" name="Text 3"/>
          <p:cNvSpPr/>
          <p:nvPr/>
        </p:nvSpPr>
        <p:spPr>
          <a:xfrm>
            <a:off x="2926080" y="525077"/>
            <a:ext cx="3291840" cy="777240"/>
          </a:xfrm>
          <a:prstGeom prst="rect">
            <a:avLst/>
          </a:prstGeom>
          <a:noFill/>
          <a:ln/>
        </p:spPr>
        <p:txBody>
          <a:bodyPr wrap="square" rtlCol="0" anchor="ctr"/>
          <a:lstStyle/>
          <a:p>
            <a:pPr marL="0" indent="0" algn="ctr">
              <a:buNone/>
            </a:pPr>
            <a:r>
              <a:rPr lang="en-US" sz="3800" b="1" dirty="0">
                <a:solidFill>
                  <a:srgbClr val="FFFFFF"/>
                </a:solidFill>
                <a:latin typeface="Calibri Black" pitchFamily="34" charset="0"/>
                <a:ea typeface="Calibri Black" pitchFamily="34" charset="-122"/>
                <a:cs typeface="Calibri Black" pitchFamily="34" charset="-120"/>
              </a:rPr>
              <a:t>FaceLock</a:t>
            </a:r>
            <a:endParaRPr lang="en-US" sz="3800" dirty="0"/>
          </a:p>
        </p:txBody>
      </p:sp>
      <p:sp>
        <p:nvSpPr>
          <p:cNvPr id="7" name="Shape 5"/>
          <p:cNvSpPr/>
          <p:nvPr/>
        </p:nvSpPr>
        <p:spPr>
          <a:xfrm flipV="1">
            <a:off x="548640" y="2172404"/>
            <a:ext cx="5788152" cy="4572"/>
          </a:xfrm>
          <a:prstGeom prst="line">
            <a:avLst/>
          </a:prstGeom>
          <a:noFill/>
          <a:ln w="19050">
            <a:solidFill>
              <a:srgbClr val="0A7EA4"/>
            </a:solidFill>
            <a:prstDash val="solid"/>
          </a:ln>
        </p:spPr>
        <p:txBody>
          <a:bodyPr/>
          <a:lstStyle/>
          <a:p>
            <a:endParaRPr lang="fr-FR"/>
          </a:p>
        </p:txBody>
      </p:sp>
      <p:sp>
        <p:nvSpPr>
          <p:cNvPr id="15" name="Text 13"/>
          <p:cNvSpPr/>
          <p:nvPr/>
        </p:nvSpPr>
        <p:spPr>
          <a:xfrm>
            <a:off x="3108960" y="3158900"/>
            <a:ext cx="3108960" cy="164592"/>
          </a:xfrm>
          <a:prstGeom prst="rect">
            <a:avLst/>
          </a:prstGeom>
          <a:noFill/>
          <a:ln/>
        </p:spPr>
        <p:txBody>
          <a:bodyPr wrap="square" rtlCol="0" anchor="ctr"/>
          <a:lstStyle/>
          <a:p>
            <a:pPr marL="0" indent="0">
              <a:buNone/>
            </a:pPr>
            <a:r>
              <a:rPr lang="en-US" sz="2000" i="1" dirty="0">
                <a:solidFill>
                  <a:srgbClr val="0A7EA4"/>
                </a:solidFill>
                <a:latin typeface="Calibri" pitchFamily="34" charset="0"/>
                <a:ea typeface="Calibri" pitchFamily="34" charset="-122"/>
                <a:cs typeface="Calibri" pitchFamily="34" charset="-120"/>
              </a:rPr>
              <a:t>ING-4-S-SSIR-D</a:t>
            </a:r>
            <a:endParaRPr lang="en-US" sz="2000" dirty="0"/>
          </a:p>
        </p:txBody>
      </p:sp>
      <p:sp>
        <p:nvSpPr>
          <p:cNvPr id="17" name="Text 15"/>
          <p:cNvSpPr/>
          <p:nvPr/>
        </p:nvSpPr>
        <p:spPr>
          <a:xfrm>
            <a:off x="2467473" y="1205602"/>
            <a:ext cx="4754880" cy="822960"/>
          </a:xfrm>
          <a:prstGeom prst="rect">
            <a:avLst/>
          </a:prstGeom>
          <a:noFill/>
          <a:ln/>
        </p:spPr>
        <p:txBody>
          <a:bodyPr wrap="square" rtlCol="0" anchor="ctr"/>
          <a:lstStyle/>
          <a:p>
            <a:pPr marL="0" indent="0">
              <a:buNone/>
            </a:pPr>
            <a:r>
              <a:rPr lang="en-US" sz="1800" b="1" dirty="0">
                <a:solidFill>
                  <a:schemeClr val="bg1"/>
                </a:solidFill>
                <a:latin typeface="Calibri" pitchFamily="34" charset="0"/>
                <a:ea typeface="Calibri" pitchFamily="34" charset="-122"/>
                <a:cs typeface="Calibri" pitchFamily="34" charset="-120"/>
              </a:rPr>
              <a:t>Système de Verrouillage/Déverrouillage</a:t>
            </a:r>
            <a:endParaRPr lang="en-US" sz="1800" dirty="0">
              <a:solidFill>
                <a:schemeClr val="bg1"/>
              </a:solidFill>
            </a:endParaRPr>
          </a:p>
          <a:p>
            <a:pPr marL="0" indent="0">
              <a:buNone/>
            </a:pPr>
            <a:r>
              <a:rPr lang="en-US" sz="1800" b="1" dirty="0">
                <a:solidFill>
                  <a:schemeClr val="bg1"/>
                </a:solidFill>
                <a:latin typeface="Calibri" pitchFamily="34" charset="0"/>
                <a:ea typeface="Calibri" pitchFamily="34" charset="-122"/>
                <a:cs typeface="Calibri" pitchFamily="34" charset="-120"/>
              </a:rPr>
              <a:t>de Session Windows par Reconnaissance Faciale</a:t>
            </a:r>
            <a:endParaRPr lang="en-US" sz="1800" dirty="0">
              <a:solidFill>
                <a:schemeClr val="bg1"/>
              </a:solidFill>
            </a:endParaRPr>
          </a:p>
        </p:txBody>
      </p:sp>
      <p:sp>
        <p:nvSpPr>
          <p:cNvPr id="20" name="Text 18"/>
          <p:cNvSpPr/>
          <p:nvPr/>
        </p:nvSpPr>
        <p:spPr>
          <a:xfrm>
            <a:off x="4114800" y="1920240"/>
            <a:ext cx="1051560" cy="411480"/>
          </a:xfrm>
          <a:prstGeom prst="rect">
            <a:avLst/>
          </a:prstGeom>
          <a:noFill/>
          <a:ln/>
        </p:spPr>
        <p:txBody>
          <a:bodyPr wrap="square" rtlCol="0" anchor="ctr"/>
          <a:lstStyle/>
          <a:p>
            <a:pPr marL="0" indent="0" algn="ctr">
              <a:buNone/>
            </a:pPr>
            <a:endParaRPr lang="en-US" sz="2200" dirty="0"/>
          </a:p>
        </p:txBody>
      </p:sp>
      <p:sp>
        <p:nvSpPr>
          <p:cNvPr id="23" name="Text 21"/>
          <p:cNvSpPr/>
          <p:nvPr/>
        </p:nvSpPr>
        <p:spPr>
          <a:xfrm>
            <a:off x="5285232" y="1920240"/>
            <a:ext cx="1051560" cy="411480"/>
          </a:xfrm>
          <a:prstGeom prst="rect">
            <a:avLst/>
          </a:prstGeom>
          <a:noFill/>
          <a:ln/>
        </p:spPr>
        <p:txBody>
          <a:bodyPr wrap="square" rtlCol="0" anchor="ctr"/>
          <a:lstStyle/>
          <a:p>
            <a:pPr marL="0" indent="0" algn="ctr">
              <a:buNone/>
            </a:pPr>
            <a:endParaRPr lang="en-US" sz="2200" dirty="0"/>
          </a:p>
        </p:txBody>
      </p:sp>
      <p:sp>
        <p:nvSpPr>
          <p:cNvPr id="26" name="Text 24"/>
          <p:cNvSpPr/>
          <p:nvPr/>
        </p:nvSpPr>
        <p:spPr>
          <a:xfrm>
            <a:off x="6455664" y="1920240"/>
            <a:ext cx="1051560" cy="411480"/>
          </a:xfrm>
          <a:prstGeom prst="rect">
            <a:avLst/>
          </a:prstGeom>
          <a:noFill/>
          <a:ln/>
        </p:spPr>
        <p:txBody>
          <a:bodyPr wrap="square" rtlCol="0" anchor="ctr"/>
          <a:lstStyle/>
          <a:p>
            <a:pPr marL="0" indent="0" algn="ctr">
              <a:buNone/>
            </a:pPr>
            <a:endParaRPr lang="en-US" sz="2200" dirty="0"/>
          </a:p>
        </p:txBody>
      </p:sp>
      <p:sp>
        <p:nvSpPr>
          <p:cNvPr id="29" name="Text 27"/>
          <p:cNvSpPr/>
          <p:nvPr/>
        </p:nvSpPr>
        <p:spPr>
          <a:xfrm>
            <a:off x="7626096" y="1920240"/>
            <a:ext cx="1051560" cy="411480"/>
          </a:xfrm>
          <a:prstGeom prst="rect">
            <a:avLst/>
          </a:prstGeom>
          <a:noFill/>
          <a:ln/>
        </p:spPr>
        <p:txBody>
          <a:bodyPr wrap="square" rtlCol="0" anchor="ctr"/>
          <a:lstStyle/>
          <a:p>
            <a:pPr marL="0" indent="0" algn="ctr">
              <a:buNone/>
            </a:pPr>
            <a:endParaRPr lang="en-US" sz="2200" dirty="0"/>
          </a:p>
        </p:txBody>
      </p:sp>
      <p:sp>
        <p:nvSpPr>
          <p:cNvPr id="35" name="Text 33"/>
          <p:cNvSpPr/>
          <p:nvPr/>
        </p:nvSpPr>
        <p:spPr>
          <a:xfrm>
            <a:off x="7772400" y="4974336"/>
            <a:ext cx="1097280" cy="164592"/>
          </a:xfrm>
          <a:prstGeom prst="rect">
            <a:avLst/>
          </a:prstGeom>
          <a:noFill/>
          <a:ln/>
        </p:spPr>
        <p:txBody>
          <a:bodyPr wrap="square" rtlCol="0" anchor="ctr"/>
          <a:lstStyle/>
          <a:p>
            <a:pPr marL="0" indent="0" algn="r">
              <a:buNone/>
            </a:pPr>
            <a:r>
              <a:rPr lang="en-US" sz="900" dirty="0">
                <a:solidFill>
                  <a:srgbClr val="5A6A7A"/>
                </a:solidFill>
                <a:latin typeface="Calibri" pitchFamily="34" charset="0"/>
                <a:ea typeface="Calibri" pitchFamily="34" charset="-122"/>
                <a:cs typeface="Calibri" pitchFamily="34" charset="-120"/>
              </a:rPr>
              <a:t>1 / 16</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1B3A6B"/>
          </a:solidFill>
          <a:ln w="12700">
            <a:solidFill>
              <a:srgbClr val="1B3A6B"/>
            </a:solidFill>
            <a:prstDash val="solid"/>
          </a:ln>
        </p:spPr>
        <p:txBody>
          <a:bodyPr/>
          <a:lstStyle/>
          <a:p>
            <a:endParaRPr lang="fr-FR"/>
          </a:p>
        </p:txBody>
      </p:sp>
      <p:sp>
        <p:nvSpPr>
          <p:cNvPr id="3" name="Text 1"/>
          <p:cNvSpPr/>
          <p:nvPr/>
        </p:nvSpPr>
        <p:spPr>
          <a:xfrm>
            <a:off x="365760" y="91440"/>
            <a:ext cx="8229600" cy="594360"/>
          </a:xfrm>
          <a:prstGeom prst="rect">
            <a:avLst/>
          </a:prstGeom>
          <a:noFill/>
          <a:ln/>
        </p:spPr>
        <p:txBody>
          <a:bodyPr wrap="square"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Plan de Présentation</a:t>
            </a:r>
            <a:endParaRPr lang="en-US" sz="2800" dirty="0"/>
          </a:p>
        </p:txBody>
      </p:sp>
      <p:sp>
        <p:nvSpPr>
          <p:cNvPr id="9" name="Text 7"/>
          <p:cNvSpPr/>
          <p:nvPr/>
        </p:nvSpPr>
        <p:spPr>
          <a:xfrm>
            <a:off x="1097280" y="1280160"/>
            <a:ext cx="5029200" cy="292608"/>
          </a:xfrm>
          <a:prstGeom prst="rect">
            <a:avLst/>
          </a:prstGeom>
          <a:noFill/>
          <a:ln/>
        </p:spPr>
        <p:txBody>
          <a:bodyPr wrap="square" rtlCol="0" anchor="ctr"/>
          <a:lstStyle/>
          <a:p>
            <a:pPr marL="0" indent="0">
              <a:buNone/>
            </a:pPr>
            <a:r>
              <a:rPr lang="en-US" sz="1500" b="1" dirty="0">
                <a:solidFill>
                  <a:srgbClr val="1B3A6B"/>
                </a:solidFill>
                <a:latin typeface="Calibri" pitchFamily="34" charset="0"/>
                <a:ea typeface="Calibri" pitchFamily="34" charset="-122"/>
                <a:cs typeface="Calibri" pitchFamily="34" charset="-120"/>
              </a:rPr>
              <a:t>Problématique &amp; Contexte</a:t>
            </a:r>
            <a:endParaRPr lang="en-US" sz="1500" dirty="0"/>
          </a:p>
        </p:txBody>
      </p:sp>
      <p:sp>
        <p:nvSpPr>
          <p:cNvPr id="10" name="Text 8"/>
          <p:cNvSpPr/>
          <p:nvPr/>
        </p:nvSpPr>
        <p:spPr>
          <a:xfrm>
            <a:off x="1097280" y="1618488"/>
            <a:ext cx="5029200" cy="256032"/>
          </a:xfrm>
          <a:prstGeom prst="rect">
            <a:avLst/>
          </a:prstGeom>
          <a:noFill/>
          <a:ln/>
        </p:spPr>
        <p:txBody>
          <a:bodyPr wrap="square" rtlCol="0" anchor="ctr"/>
          <a:lstStyle/>
          <a:p>
            <a:pPr marL="0" indent="0">
              <a:buNone/>
            </a:pPr>
            <a:r>
              <a:rPr lang="en-US" sz="1100" dirty="0">
                <a:solidFill>
                  <a:srgbClr val="5A6A7A"/>
                </a:solidFill>
                <a:latin typeface="Calibri" pitchFamily="34" charset="0"/>
                <a:ea typeface="Calibri" pitchFamily="34" charset="-122"/>
                <a:cs typeface="Calibri" pitchFamily="34" charset="-120"/>
              </a:rPr>
              <a:t>Pourquoi FaceLock ? Quel problème résout-il ?</a:t>
            </a:r>
            <a:endParaRPr lang="en-US" sz="1100" dirty="0"/>
          </a:p>
        </p:txBody>
      </p:sp>
      <p:sp>
        <p:nvSpPr>
          <p:cNvPr id="15" name="Text 13"/>
          <p:cNvSpPr/>
          <p:nvPr/>
        </p:nvSpPr>
        <p:spPr>
          <a:xfrm>
            <a:off x="320040" y="2130552"/>
            <a:ext cx="640080" cy="749808"/>
          </a:xfrm>
          <a:prstGeom prst="rect">
            <a:avLst/>
          </a:prstGeom>
          <a:noFill/>
          <a:ln/>
        </p:spPr>
        <p:txBody>
          <a:bodyPr wrap="square" rtlCol="0" anchor="ctr"/>
          <a:lstStyle/>
          <a:p>
            <a:pPr marL="0" indent="0" algn="ctr">
              <a:buNone/>
            </a:pPr>
            <a:endParaRPr lang="en-US" sz="2200" dirty="0"/>
          </a:p>
        </p:txBody>
      </p:sp>
      <p:sp>
        <p:nvSpPr>
          <p:cNvPr id="16" name="Text 14"/>
          <p:cNvSpPr/>
          <p:nvPr/>
        </p:nvSpPr>
        <p:spPr>
          <a:xfrm>
            <a:off x="1097280" y="2176272"/>
            <a:ext cx="5029200" cy="292608"/>
          </a:xfrm>
          <a:prstGeom prst="rect">
            <a:avLst/>
          </a:prstGeom>
          <a:noFill/>
          <a:ln/>
        </p:spPr>
        <p:txBody>
          <a:bodyPr wrap="square" rtlCol="0" anchor="ctr"/>
          <a:lstStyle/>
          <a:p>
            <a:pPr marL="0" indent="0">
              <a:buNone/>
            </a:pPr>
            <a:r>
              <a:rPr lang="en-US" sz="1500" b="1" dirty="0">
                <a:solidFill>
                  <a:srgbClr val="1B3A6B"/>
                </a:solidFill>
                <a:latin typeface="Calibri" pitchFamily="34" charset="0"/>
                <a:ea typeface="Calibri" pitchFamily="34" charset="-122"/>
                <a:cs typeface="Calibri" pitchFamily="34" charset="-120"/>
              </a:rPr>
              <a:t>Architecture &amp; Fonctionnement</a:t>
            </a:r>
            <a:endParaRPr lang="en-US" sz="1500" dirty="0"/>
          </a:p>
        </p:txBody>
      </p:sp>
      <p:sp>
        <p:nvSpPr>
          <p:cNvPr id="17" name="Text 15"/>
          <p:cNvSpPr/>
          <p:nvPr/>
        </p:nvSpPr>
        <p:spPr>
          <a:xfrm>
            <a:off x="1097280" y="2514600"/>
            <a:ext cx="5029200" cy="256032"/>
          </a:xfrm>
          <a:prstGeom prst="rect">
            <a:avLst/>
          </a:prstGeom>
          <a:noFill/>
          <a:ln/>
        </p:spPr>
        <p:txBody>
          <a:bodyPr wrap="square" rtlCol="0" anchor="ctr"/>
          <a:lstStyle/>
          <a:p>
            <a:pPr marL="0" indent="0">
              <a:buNone/>
            </a:pPr>
            <a:r>
              <a:rPr lang="en-US" sz="1100" dirty="0">
                <a:solidFill>
                  <a:srgbClr val="5A6A7A"/>
                </a:solidFill>
                <a:latin typeface="Calibri" pitchFamily="34" charset="0"/>
                <a:ea typeface="Calibri" pitchFamily="34" charset="-122"/>
                <a:cs typeface="Calibri" pitchFamily="34" charset="-120"/>
              </a:rPr>
              <a:t>Modules, flux de données, diagramme système</a:t>
            </a:r>
            <a:endParaRPr lang="en-US" sz="1100" dirty="0"/>
          </a:p>
        </p:txBody>
      </p:sp>
      <p:sp>
        <p:nvSpPr>
          <p:cNvPr id="22" name="Text 20"/>
          <p:cNvSpPr/>
          <p:nvPr/>
        </p:nvSpPr>
        <p:spPr>
          <a:xfrm>
            <a:off x="320040" y="3026664"/>
            <a:ext cx="640080" cy="749808"/>
          </a:xfrm>
          <a:prstGeom prst="rect">
            <a:avLst/>
          </a:prstGeom>
          <a:noFill/>
          <a:ln/>
        </p:spPr>
        <p:txBody>
          <a:bodyPr wrap="square" rtlCol="0" anchor="ctr"/>
          <a:lstStyle/>
          <a:p>
            <a:pPr marL="0" indent="0" algn="ctr">
              <a:buNone/>
            </a:pPr>
            <a:endParaRPr lang="en-US" sz="2200" dirty="0"/>
          </a:p>
        </p:txBody>
      </p:sp>
      <p:sp>
        <p:nvSpPr>
          <p:cNvPr id="23" name="Text 21"/>
          <p:cNvSpPr/>
          <p:nvPr/>
        </p:nvSpPr>
        <p:spPr>
          <a:xfrm>
            <a:off x="1097280" y="3072384"/>
            <a:ext cx="5029200" cy="292608"/>
          </a:xfrm>
          <a:prstGeom prst="rect">
            <a:avLst/>
          </a:prstGeom>
          <a:noFill/>
          <a:ln/>
        </p:spPr>
        <p:txBody>
          <a:bodyPr wrap="square" rtlCol="0" anchor="ctr"/>
          <a:lstStyle/>
          <a:p>
            <a:pPr marL="0" indent="0">
              <a:buNone/>
            </a:pPr>
            <a:r>
              <a:rPr lang="en-US" sz="1500" b="1" dirty="0">
                <a:solidFill>
                  <a:srgbClr val="1B3A6B"/>
                </a:solidFill>
                <a:latin typeface="Calibri" pitchFamily="34" charset="0"/>
                <a:ea typeface="Calibri" pitchFamily="34" charset="-122"/>
                <a:cs typeface="Calibri" pitchFamily="34" charset="-120"/>
              </a:rPr>
              <a:t>Sécurité &amp; Conformité</a:t>
            </a:r>
            <a:endParaRPr lang="en-US" sz="1500" dirty="0"/>
          </a:p>
        </p:txBody>
      </p:sp>
      <p:sp>
        <p:nvSpPr>
          <p:cNvPr id="24" name="Text 22"/>
          <p:cNvSpPr/>
          <p:nvPr/>
        </p:nvSpPr>
        <p:spPr>
          <a:xfrm>
            <a:off x="1097280" y="3410712"/>
            <a:ext cx="5029200" cy="256032"/>
          </a:xfrm>
          <a:prstGeom prst="rect">
            <a:avLst/>
          </a:prstGeom>
          <a:noFill/>
          <a:ln/>
        </p:spPr>
        <p:txBody>
          <a:bodyPr wrap="square" rtlCol="0" anchor="ctr"/>
          <a:lstStyle/>
          <a:p>
            <a:pPr marL="0" indent="0">
              <a:buNone/>
            </a:pPr>
            <a:r>
              <a:rPr lang="en-US" sz="1100" dirty="0">
                <a:solidFill>
                  <a:srgbClr val="5A6A7A"/>
                </a:solidFill>
                <a:latin typeface="Calibri" pitchFamily="34" charset="0"/>
                <a:ea typeface="Calibri" pitchFamily="34" charset="-122"/>
                <a:cs typeface="Calibri" pitchFamily="34" charset="-120"/>
              </a:rPr>
              <a:t>RGPD, ISO 27018, chiffrement AES-256</a:t>
            </a:r>
            <a:endParaRPr lang="en-US" sz="1100" dirty="0"/>
          </a:p>
        </p:txBody>
      </p:sp>
      <p:sp>
        <p:nvSpPr>
          <p:cNvPr id="29" name="Text 27"/>
          <p:cNvSpPr/>
          <p:nvPr/>
        </p:nvSpPr>
        <p:spPr>
          <a:xfrm>
            <a:off x="320040" y="3922776"/>
            <a:ext cx="640080" cy="749808"/>
          </a:xfrm>
          <a:prstGeom prst="rect">
            <a:avLst/>
          </a:prstGeom>
          <a:noFill/>
          <a:ln/>
        </p:spPr>
        <p:txBody>
          <a:bodyPr wrap="square" rtlCol="0" anchor="ctr"/>
          <a:lstStyle/>
          <a:p>
            <a:pPr marL="0" indent="0" algn="ctr">
              <a:buNone/>
            </a:pPr>
            <a:endParaRPr lang="en-US" sz="2200" dirty="0"/>
          </a:p>
        </p:txBody>
      </p:sp>
      <p:sp>
        <p:nvSpPr>
          <p:cNvPr id="30" name="Text 28"/>
          <p:cNvSpPr/>
          <p:nvPr/>
        </p:nvSpPr>
        <p:spPr>
          <a:xfrm>
            <a:off x="1097280" y="3968496"/>
            <a:ext cx="5029200" cy="292608"/>
          </a:xfrm>
          <a:prstGeom prst="rect">
            <a:avLst/>
          </a:prstGeom>
          <a:noFill/>
          <a:ln/>
        </p:spPr>
        <p:txBody>
          <a:bodyPr wrap="square" rtlCol="0" anchor="ctr"/>
          <a:lstStyle/>
          <a:p>
            <a:pPr marL="0" indent="0">
              <a:buNone/>
            </a:pPr>
            <a:r>
              <a:rPr lang="en-US" sz="1500" b="1" dirty="0">
                <a:solidFill>
                  <a:srgbClr val="1B3A6B"/>
                </a:solidFill>
                <a:latin typeface="Calibri" pitchFamily="34" charset="0"/>
                <a:ea typeface="Calibri" pitchFamily="34" charset="-122"/>
                <a:cs typeface="Calibri" pitchFamily="34" charset="-120"/>
              </a:rPr>
              <a:t>Déploiement &amp; Démo</a:t>
            </a:r>
            <a:endParaRPr lang="en-US" sz="1500" dirty="0"/>
          </a:p>
        </p:txBody>
      </p:sp>
      <p:sp>
        <p:nvSpPr>
          <p:cNvPr id="31" name="Text 29"/>
          <p:cNvSpPr/>
          <p:nvPr/>
        </p:nvSpPr>
        <p:spPr>
          <a:xfrm>
            <a:off x="1097280" y="4306824"/>
            <a:ext cx="5029200" cy="256032"/>
          </a:xfrm>
          <a:prstGeom prst="rect">
            <a:avLst/>
          </a:prstGeom>
          <a:noFill/>
          <a:ln/>
        </p:spPr>
        <p:txBody>
          <a:bodyPr wrap="square" rtlCol="0" anchor="ctr"/>
          <a:lstStyle/>
          <a:p>
            <a:pPr marL="0" indent="0">
              <a:buNone/>
            </a:pPr>
            <a:r>
              <a:rPr lang="en-US" sz="1100" dirty="0">
                <a:solidFill>
                  <a:srgbClr val="5A6A7A"/>
                </a:solidFill>
                <a:latin typeface="Calibri" pitchFamily="34" charset="0"/>
                <a:ea typeface="Calibri" pitchFamily="34" charset="-122"/>
                <a:cs typeface="Calibri" pitchFamily="34" charset="-120"/>
              </a:rPr>
              <a:t>Registre Windows, démarrage auto, résultats</a:t>
            </a:r>
            <a:endParaRPr lang="en-US" sz="1100" dirty="0"/>
          </a:p>
        </p:txBody>
      </p:sp>
      <p:sp>
        <p:nvSpPr>
          <p:cNvPr id="36" name="Text 34"/>
          <p:cNvSpPr/>
          <p:nvPr/>
        </p:nvSpPr>
        <p:spPr>
          <a:xfrm>
            <a:off x="7772400" y="4974336"/>
            <a:ext cx="1097280" cy="164592"/>
          </a:xfrm>
          <a:prstGeom prst="rect">
            <a:avLst/>
          </a:prstGeom>
          <a:noFill/>
          <a:ln/>
        </p:spPr>
        <p:txBody>
          <a:bodyPr wrap="square" rtlCol="0" anchor="ctr"/>
          <a:lstStyle/>
          <a:p>
            <a:pPr marL="0" indent="0" algn="r">
              <a:buNone/>
            </a:pPr>
            <a:r>
              <a:rPr lang="en-US" sz="900" dirty="0">
                <a:solidFill>
                  <a:srgbClr val="5A6A7A"/>
                </a:solidFill>
                <a:latin typeface="Calibri" pitchFamily="34" charset="0"/>
                <a:ea typeface="Calibri" pitchFamily="34" charset="-122"/>
                <a:cs typeface="Calibri" pitchFamily="34" charset="-120"/>
              </a:rPr>
              <a:t>2 / 16</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1B3A6B"/>
          </a:solidFill>
          <a:ln w="12700">
            <a:solidFill>
              <a:srgbClr val="1B3A6B"/>
            </a:solidFill>
            <a:prstDash val="solid"/>
          </a:ln>
        </p:spPr>
        <p:txBody>
          <a:bodyPr/>
          <a:lstStyle/>
          <a:p>
            <a:endParaRPr lang="fr-FR"/>
          </a:p>
        </p:txBody>
      </p:sp>
      <p:sp>
        <p:nvSpPr>
          <p:cNvPr id="3" name="Text 1"/>
          <p:cNvSpPr/>
          <p:nvPr/>
        </p:nvSpPr>
        <p:spPr>
          <a:xfrm>
            <a:off x="365760" y="91440"/>
            <a:ext cx="8229600" cy="594360"/>
          </a:xfrm>
          <a:prstGeom prst="rect">
            <a:avLst/>
          </a:prstGeom>
          <a:noFill/>
          <a:ln/>
        </p:spPr>
        <p:txBody>
          <a:bodyPr wrap="square"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Problématique</a:t>
            </a:r>
            <a:endParaRPr lang="en-US" sz="2800" dirty="0"/>
          </a:p>
        </p:txBody>
      </p:sp>
      <p:sp>
        <p:nvSpPr>
          <p:cNvPr id="6" name="Shape 4"/>
          <p:cNvSpPr/>
          <p:nvPr/>
        </p:nvSpPr>
        <p:spPr>
          <a:xfrm>
            <a:off x="320040" y="1234440"/>
            <a:ext cx="4114800" cy="3383280"/>
          </a:xfrm>
          <a:prstGeom prst="rect">
            <a:avLst/>
          </a:prstGeom>
          <a:solidFill>
            <a:srgbClr val="FDECEA"/>
          </a:solidFill>
          <a:ln w="15240">
            <a:solidFill>
              <a:srgbClr val="C0392B"/>
            </a:solidFill>
            <a:prstDash val="solid"/>
          </a:ln>
          <a:effectLst>
            <a:outerShdw blurRad="63500" dist="25400" dir="8100000" algn="bl" rotWithShape="0">
              <a:srgbClr val="000000">
                <a:alpha val="10000"/>
              </a:srgbClr>
            </a:outerShdw>
          </a:effectLst>
        </p:spPr>
        <p:txBody>
          <a:bodyPr/>
          <a:lstStyle/>
          <a:p>
            <a:endParaRPr lang="fr-FR" dirty="0"/>
          </a:p>
        </p:txBody>
      </p:sp>
      <p:sp>
        <p:nvSpPr>
          <p:cNvPr id="7" name="Shape 5"/>
          <p:cNvSpPr/>
          <p:nvPr/>
        </p:nvSpPr>
        <p:spPr>
          <a:xfrm>
            <a:off x="320040" y="1234440"/>
            <a:ext cx="4114800" cy="457200"/>
          </a:xfrm>
          <a:prstGeom prst="rect">
            <a:avLst/>
          </a:prstGeom>
          <a:solidFill>
            <a:srgbClr val="C0392B"/>
          </a:solidFill>
          <a:ln w="12700">
            <a:solidFill>
              <a:srgbClr val="C0392B"/>
            </a:solidFill>
            <a:prstDash val="solid"/>
          </a:ln>
        </p:spPr>
        <p:txBody>
          <a:bodyPr/>
          <a:lstStyle/>
          <a:p>
            <a:endParaRPr lang="fr-FR" dirty="0">
              <a:solidFill>
                <a:schemeClr val="bg1"/>
              </a:solidFill>
            </a:endParaRPr>
          </a:p>
        </p:txBody>
      </p:sp>
      <p:sp>
        <p:nvSpPr>
          <p:cNvPr id="8" name="Text 6"/>
          <p:cNvSpPr/>
          <p:nvPr/>
        </p:nvSpPr>
        <p:spPr>
          <a:xfrm>
            <a:off x="320040" y="1234440"/>
            <a:ext cx="4114800" cy="457200"/>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  </a:t>
            </a:r>
            <a:r>
              <a:rPr lang="en-US" sz="1600" b="1" dirty="0" err="1">
                <a:solidFill>
                  <a:srgbClr val="FFFFFF"/>
                </a:solidFill>
                <a:latin typeface="Calibri" pitchFamily="34" charset="0"/>
                <a:ea typeface="Calibri" pitchFamily="34" charset="-122"/>
                <a:cs typeface="Calibri" pitchFamily="34" charset="-120"/>
              </a:rPr>
              <a:t>Problèmatique</a:t>
            </a:r>
            <a:r>
              <a:rPr lang="en-US" sz="1600" b="1" dirty="0">
                <a:solidFill>
                  <a:srgbClr val="FFFFFF"/>
                </a:solidFill>
                <a:latin typeface="Calibri" pitchFamily="34" charset="0"/>
                <a:ea typeface="Calibri" pitchFamily="34" charset="-122"/>
                <a:cs typeface="Calibri" pitchFamily="34" charset="-120"/>
              </a:rPr>
              <a:t> </a:t>
            </a:r>
            <a:endParaRPr lang="en-US" sz="1600" dirty="0"/>
          </a:p>
        </p:txBody>
      </p:sp>
      <p:sp>
        <p:nvSpPr>
          <p:cNvPr id="9" name="Text 7"/>
          <p:cNvSpPr/>
          <p:nvPr/>
        </p:nvSpPr>
        <p:spPr>
          <a:xfrm>
            <a:off x="502920" y="1828800"/>
            <a:ext cx="3749040" cy="384048"/>
          </a:xfrm>
          <a:prstGeom prst="rect">
            <a:avLst/>
          </a:prstGeom>
          <a:noFill/>
          <a:ln/>
        </p:spPr>
        <p:txBody>
          <a:bodyPr wrap="square" rtlCol="0" anchor="ctr"/>
          <a:lstStyle/>
          <a:p>
            <a:pPr marL="0" indent="0">
              <a:buNone/>
            </a:pPr>
            <a:r>
              <a:rPr lang="en-US" sz="1150" dirty="0">
                <a:latin typeface="Calibri" pitchFamily="34" charset="0"/>
                <a:ea typeface="Calibri" pitchFamily="34" charset="-122"/>
                <a:cs typeface="Calibri" pitchFamily="34" charset="-120"/>
              </a:rPr>
              <a:t> Les utilisateurs oublient régulièrement de verrouiller leur session</a:t>
            </a:r>
            <a:endParaRPr lang="en-US" sz="1150" dirty="0"/>
          </a:p>
        </p:txBody>
      </p:sp>
      <p:sp>
        <p:nvSpPr>
          <p:cNvPr id="10" name="Text 8"/>
          <p:cNvSpPr/>
          <p:nvPr/>
        </p:nvSpPr>
        <p:spPr>
          <a:xfrm>
            <a:off x="502920" y="2286000"/>
            <a:ext cx="3749040" cy="384048"/>
          </a:xfrm>
          <a:prstGeom prst="rect">
            <a:avLst/>
          </a:prstGeom>
          <a:noFill/>
          <a:ln/>
        </p:spPr>
        <p:txBody>
          <a:bodyPr wrap="square" rtlCol="0" anchor="ctr"/>
          <a:lstStyle/>
          <a:p>
            <a:pPr marL="0" indent="0">
              <a:buNone/>
            </a:pPr>
            <a:r>
              <a:rPr lang="en-US" sz="1150" dirty="0">
                <a:latin typeface="Calibri" pitchFamily="34" charset="0"/>
                <a:ea typeface="Calibri" pitchFamily="34" charset="-122"/>
                <a:cs typeface="Calibri" pitchFamily="34" charset="-120"/>
              </a:rPr>
              <a:t> Des données sensibles restent exposées en bureau ou open-space</a:t>
            </a:r>
            <a:endParaRPr lang="en-US" sz="1150" dirty="0"/>
          </a:p>
        </p:txBody>
      </p:sp>
      <p:sp>
        <p:nvSpPr>
          <p:cNvPr id="11" name="Text 9"/>
          <p:cNvSpPr/>
          <p:nvPr/>
        </p:nvSpPr>
        <p:spPr>
          <a:xfrm>
            <a:off x="502920" y="2743200"/>
            <a:ext cx="3749040" cy="384048"/>
          </a:xfrm>
          <a:prstGeom prst="rect">
            <a:avLst/>
          </a:prstGeom>
          <a:noFill/>
          <a:ln/>
        </p:spPr>
        <p:txBody>
          <a:bodyPr wrap="square" rtlCol="0" anchor="ctr"/>
          <a:lstStyle/>
          <a:p>
            <a:pPr marL="0" indent="0">
              <a:buNone/>
            </a:pPr>
            <a:r>
              <a:rPr lang="en-US" sz="1150" dirty="0">
                <a:latin typeface="Calibri" pitchFamily="34" charset="0"/>
                <a:ea typeface="Calibri" pitchFamily="34" charset="-122"/>
                <a:cs typeface="Calibri" pitchFamily="34" charset="-120"/>
              </a:rPr>
              <a:t>Le mot de passe est fastidieux à retaper constamment</a:t>
            </a:r>
            <a:endParaRPr lang="en-US" sz="1150" dirty="0"/>
          </a:p>
        </p:txBody>
      </p:sp>
      <p:sp>
        <p:nvSpPr>
          <p:cNvPr id="12" name="Text 10"/>
          <p:cNvSpPr/>
          <p:nvPr/>
        </p:nvSpPr>
        <p:spPr>
          <a:xfrm>
            <a:off x="502920" y="3200400"/>
            <a:ext cx="3749040" cy="384048"/>
          </a:xfrm>
          <a:prstGeom prst="rect">
            <a:avLst/>
          </a:prstGeom>
          <a:noFill/>
          <a:ln/>
        </p:spPr>
        <p:txBody>
          <a:bodyPr wrap="square" rtlCol="0" anchor="ctr"/>
          <a:lstStyle/>
          <a:p>
            <a:pPr marL="0" indent="0">
              <a:buNone/>
            </a:pPr>
            <a:r>
              <a:rPr lang="en-US" sz="1150" dirty="0" err="1">
                <a:latin typeface="Calibri" pitchFamily="34" charset="0"/>
                <a:ea typeface="Calibri" pitchFamily="34" charset="-122"/>
                <a:cs typeface="Calibri" pitchFamily="34" charset="-120"/>
              </a:rPr>
              <a:t>Aucune</a:t>
            </a:r>
            <a:r>
              <a:rPr lang="en-US" sz="1150" dirty="0">
                <a:latin typeface="Calibri" pitchFamily="34" charset="0"/>
                <a:ea typeface="Calibri" pitchFamily="34" charset="-122"/>
                <a:cs typeface="Calibri" pitchFamily="34" charset="-120"/>
              </a:rPr>
              <a:t> détection automatique d'absence de l'utilisateur</a:t>
            </a:r>
            <a:endParaRPr lang="en-US" sz="1150" dirty="0"/>
          </a:p>
        </p:txBody>
      </p:sp>
      <p:sp>
        <p:nvSpPr>
          <p:cNvPr id="13" name="Text 11"/>
          <p:cNvSpPr/>
          <p:nvPr/>
        </p:nvSpPr>
        <p:spPr>
          <a:xfrm>
            <a:off x="502920" y="3657600"/>
            <a:ext cx="3749040" cy="384048"/>
          </a:xfrm>
          <a:prstGeom prst="rect">
            <a:avLst/>
          </a:prstGeom>
          <a:noFill/>
          <a:ln/>
        </p:spPr>
        <p:txBody>
          <a:bodyPr wrap="square" rtlCol="0" anchor="ctr"/>
          <a:lstStyle/>
          <a:p>
            <a:pPr marL="0" indent="0">
              <a:buNone/>
            </a:pPr>
            <a:r>
              <a:rPr lang="en-US" sz="1150" dirty="0">
                <a:latin typeface="Calibri" pitchFamily="34" charset="0"/>
                <a:ea typeface="Calibri" pitchFamily="34" charset="-122"/>
                <a:cs typeface="Calibri" pitchFamily="34" charset="-120"/>
              </a:rPr>
              <a:t>Risque de violation de données confidentielles</a:t>
            </a:r>
            <a:endParaRPr lang="en-US" sz="1150" dirty="0"/>
          </a:p>
        </p:txBody>
      </p:sp>
      <p:sp>
        <p:nvSpPr>
          <p:cNvPr id="14" name="Text 12"/>
          <p:cNvSpPr/>
          <p:nvPr/>
        </p:nvSpPr>
        <p:spPr>
          <a:xfrm>
            <a:off x="4378569" y="2532888"/>
            <a:ext cx="457200" cy="457200"/>
          </a:xfrm>
          <a:prstGeom prst="rect">
            <a:avLst/>
          </a:prstGeom>
          <a:noFill/>
          <a:ln/>
        </p:spPr>
        <p:txBody>
          <a:bodyPr wrap="square" rtlCol="0" anchor="ctr"/>
          <a:lstStyle/>
          <a:p>
            <a:pPr marL="0" indent="0" algn="ctr">
              <a:buNone/>
            </a:pPr>
            <a:r>
              <a:rPr lang="en-US" sz="2800" b="1" dirty="0">
                <a:solidFill>
                  <a:srgbClr val="0A7EA4"/>
                </a:solidFill>
              </a:rPr>
              <a:t>→</a:t>
            </a:r>
            <a:endParaRPr lang="en-US" sz="2800" dirty="0"/>
          </a:p>
        </p:txBody>
      </p:sp>
      <p:sp>
        <p:nvSpPr>
          <p:cNvPr id="15" name="Shape 13"/>
          <p:cNvSpPr/>
          <p:nvPr/>
        </p:nvSpPr>
        <p:spPr>
          <a:xfrm>
            <a:off x="4754880" y="1234440"/>
            <a:ext cx="4069080" cy="3383280"/>
          </a:xfrm>
          <a:prstGeom prst="rect">
            <a:avLst/>
          </a:prstGeom>
          <a:solidFill>
            <a:srgbClr val="E8F5EE"/>
          </a:solidFill>
          <a:ln w="15240">
            <a:solidFill>
              <a:srgbClr val="1A7A4A"/>
            </a:solidFill>
            <a:prstDash val="solid"/>
          </a:ln>
          <a:effectLst>
            <a:outerShdw blurRad="63500" dist="25400" dir="8100000" algn="bl" rotWithShape="0">
              <a:srgbClr val="000000">
                <a:alpha val="10000"/>
              </a:srgbClr>
            </a:outerShdw>
          </a:effectLst>
        </p:spPr>
        <p:txBody>
          <a:bodyPr/>
          <a:lstStyle/>
          <a:p>
            <a:endParaRPr lang="fr-FR"/>
          </a:p>
        </p:txBody>
      </p:sp>
      <p:sp>
        <p:nvSpPr>
          <p:cNvPr id="16" name="Shape 14"/>
          <p:cNvSpPr/>
          <p:nvPr/>
        </p:nvSpPr>
        <p:spPr>
          <a:xfrm>
            <a:off x="4754880" y="1234440"/>
            <a:ext cx="4069080" cy="457200"/>
          </a:xfrm>
          <a:prstGeom prst="rect">
            <a:avLst/>
          </a:prstGeom>
          <a:solidFill>
            <a:srgbClr val="1A7A4A"/>
          </a:solidFill>
          <a:ln w="12700">
            <a:solidFill>
              <a:srgbClr val="1A7A4A"/>
            </a:solidFill>
            <a:prstDash val="solid"/>
          </a:ln>
        </p:spPr>
        <p:txBody>
          <a:bodyPr/>
          <a:lstStyle/>
          <a:p>
            <a:endParaRPr lang="fr-FR"/>
          </a:p>
        </p:txBody>
      </p:sp>
      <p:sp>
        <p:nvSpPr>
          <p:cNvPr id="17" name="Text 15"/>
          <p:cNvSpPr/>
          <p:nvPr/>
        </p:nvSpPr>
        <p:spPr>
          <a:xfrm>
            <a:off x="4754880" y="1234440"/>
            <a:ext cx="4069080" cy="457200"/>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  FaceLock — La Solution</a:t>
            </a:r>
            <a:endParaRPr lang="en-US" sz="1600" dirty="0"/>
          </a:p>
        </p:txBody>
      </p:sp>
      <p:sp>
        <p:nvSpPr>
          <p:cNvPr id="18" name="Text 16"/>
          <p:cNvSpPr/>
          <p:nvPr/>
        </p:nvSpPr>
        <p:spPr>
          <a:xfrm>
            <a:off x="4937760" y="1828800"/>
            <a:ext cx="3749040" cy="384048"/>
          </a:xfrm>
          <a:prstGeom prst="rect">
            <a:avLst/>
          </a:prstGeom>
          <a:noFill/>
          <a:ln/>
        </p:spPr>
        <p:txBody>
          <a:bodyPr wrap="square" rtlCol="0" anchor="ctr"/>
          <a:lstStyle/>
          <a:p>
            <a:pPr marL="0" indent="0">
              <a:buNone/>
            </a:pPr>
            <a:r>
              <a:rPr lang="en-US" sz="1150" dirty="0">
                <a:latin typeface="Calibri" pitchFamily="34" charset="0"/>
                <a:ea typeface="Calibri" pitchFamily="34" charset="-122"/>
                <a:cs typeface="Calibri" pitchFamily="34" charset="-120"/>
              </a:rPr>
              <a:t>  Verrouillage automatique si absence détectée (60 secondes)</a:t>
            </a:r>
            <a:endParaRPr lang="en-US" sz="1150" dirty="0"/>
          </a:p>
        </p:txBody>
      </p:sp>
      <p:sp>
        <p:nvSpPr>
          <p:cNvPr id="19" name="Text 17"/>
          <p:cNvSpPr/>
          <p:nvPr/>
        </p:nvSpPr>
        <p:spPr>
          <a:xfrm>
            <a:off x="4937760" y="2286000"/>
            <a:ext cx="3749040" cy="384048"/>
          </a:xfrm>
          <a:prstGeom prst="rect">
            <a:avLst/>
          </a:prstGeom>
          <a:noFill/>
          <a:ln/>
        </p:spPr>
        <p:txBody>
          <a:bodyPr wrap="square" rtlCol="0" anchor="ctr"/>
          <a:lstStyle/>
          <a:p>
            <a:pPr marL="0" indent="0">
              <a:buNone/>
            </a:pPr>
            <a:r>
              <a:rPr lang="en-US" sz="1150" dirty="0">
                <a:latin typeface="Calibri" pitchFamily="34" charset="0"/>
                <a:ea typeface="Calibri" pitchFamily="34" charset="-122"/>
                <a:cs typeface="Calibri" pitchFamily="34" charset="-120"/>
              </a:rPr>
              <a:t>   Déverrouillage par simple regard devant la webcam</a:t>
            </a:r>
            <a:endParaRPr lang="en-US" sz="1150" dirty="0"/>
          </a:p>
        </p:txBody>
      </p:sp>
      <p:sp>
        <p:nvSpPr>
          <p:cNvPr id="20" name="Text 18"/>
          <p:cNvSpPr/>
          <p:nvPr/>
        </p:nvSpPr>
        <p:spPr>
          <a:xfrm>
            <a:off x="4937760" y="2743200"/>
            <a:ext cx="3749040" cy="384048"/>
          </a:xfrm>
          <a:prstGeom prst="rect">
            <a:avLst/>
          </a:prstGeom>
          <a:noFill/>
          <a:ln/>
        </p:spPr>
        <p:txBody>
          <a:bodyPr wrap="square" rtlCol="0" anchor="ctr"/>
          <a:lstStyle/>
          <a:p>
            <a:pPr marL="0" indent="0">
              <a:buNone/>
            </a:pPr>
            <a:r>
              <a:rPr lang="en-US" sz="1150" dirty="0">
                <a:latin typeface="Calibri" pitchFamily="34" charset="0"/>
                <a:ea typeface="Calibri" pitchFamily="34" charset="-122"/>
                <a:cs typeface="Calibri" pitchFamily="34" charset="-120"/>
              </a:rPr>
              <a:t>   Aucun mot de passe à retaper au retour</a:t>
            </a:r>
            <a:endParaRPr lang="en-US" sz="1150" dirty="0"/>
          </a:p>
        </p:txBody>
      </p:sp>
      <p:sp>
        <p:nvSpPr>
          <p:cNvPr id="21" name="Text 19"/>
          <p:cNvSpPr/>
          <p:nvPr/>
        </p:nvSpPr>
        <p:spPr>
          <a:xfrm>
            <a:off x="4937760" y="3200400"/>
            <a:ext cx="3749040" cy="384048"/>
          </a:xfrm>
          <a:prstGeom prst="rect">
            <a:avLst/>
          </a:prstGeom>
          <a:noFill/>
          <a:ln/>
        </p:spPr>
        <p:txBody>
          <a:bodyPr wrap="square" rtlCol="0" anchor="ctr"/>
          <a:lstStyle/>
          <a:p>
            <a:pPr marL="0" indent="0">
              <a:buNone/>
            </a:pPr>
            <a:r>
              <a:rPr lang="en-US" sz="1150" dirty="0">
                <a:latin typeface="Calibri" pitchFamily="34" charset="0"/>
                <a:ea typeface="Calibri" pitchFamily="34" charset="-122"/>
                <a:cs typeface="Calibri" pitchFamily="34" charset="-120"/>
              </a:rPr>
              <a:t>  Traitement 100% local — aucune donnée envoyée en ligne</a:t>
            </a:r>
            <a:endParaRPr lang="en-US" sz="1150" dirty="0"/>
          </a:p>
        </p:txBody>
      </p:sp>
      <p:sp>
        <p:nvSpPr>
          <p:cNvPr id="22" name="Text 20"/>
          <p:cNvSpPr/>
          <p:nvPr/>
        </p:nvSpPr>
        <p:spPr>
          <a:xfrm>
            <a:off x="4937760" y="3657600"/>
            <a:ext cx="3749040" cy="384048"/>
          </a:xfrm>
          <a:prstGeom prst="rect">
            <a:avLst/>
          </a:prstGeom>
          <a:noFill/>
          <a:ln/>
        </p:spPr>
        <p:txBody>
          <a:bodyPr wrap="square" rtlCol="0" anchor="ctr"/>
          <a:lstStyle/>
          <a:p>
            <a:pPr marL="0" indent="0">
              <a:buNone/>
            </a:pPr>
            <a:r>
              <a:rPr lang="en-US" sz="1150" dirty="0">
                <a:latin typeface="Calibri" pitchFamily="34" charset="0"/>
                <a:ea typeface="Calibri" pitchFamily="34" charset="-122"/>
                <a:cs typeface="Calibri" pitchFamily="34" charset="-120"/>
              </a:rPr>
              <a:t> Données biométriques chiffrées et non réversibles</a:t>
            </a:r>
            <a:endParaRPr lang="en-US" sz="1150" dirty="0"/>
          </a:p>
        </p:txBody>
      </p:sp>
      <p:sp>
        <p:nvSpPr>
          <p:cNvPr id="25" name="Text 23"/>
          <p:cNvSpPr/>
          <p:nvPr/>
        </p:nvSpPr>
        <p:spPr>
          <a:xfrm>
            <a:off x="7772400" y="4974336"/>
            <a:ext cx="1097280" cy="164592"/>
          </a:xfrm>
          <a:prstGeom prst="rect">
            <a:avLst/>
          </a:prstGeom>
          <a:noFill/>
          <a:ln/>
        </p:spPr>
        <p:txBody>
          <a:bodyPr wrap="square" rtlCol="0" anchor="ctr"/>
          <a:lstStyle/>
          <a:p>
            <a:pPr marL="0" indent="0" algn="r">
              <a:buNone/>
            </a:pPr>
            <a:r>
              <a:rPr lang="en-US" sz="900" dirty="0">
                <a:solidFill>
                  <a:srgbClr val="5A6A7A"/>
                </a:solidFill>
                <a:latin typeface="Calibri" pitchFamily="34" charset="0"/>
                <a:ea typeface="Calibri" pitchFamily="34" charset="-122"/>
                <a:cs typeface="Calibri" pitchFamily="34" charset="-120"/>
              </a:rPr>
              <a:t>3 / 16</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1B3A6B"/>
          </a:solidFill>
          <a:ln w="12700">
            <a:solidFill>
              <a:srgbClr val="1B3A6B"/>
            </a:solidFill>
            <a:prstDash val="solid"/>
          </a:ln>
        </p:spPr>
        <p:txBody>
          <a:bodyPr/>
          <a:lstStyle/>
          <a:p>
            <a:endParaRPr lang="fr-FR"/>
          </a:p>
        </p:txBody>
      </p:sp>
      <p:sp>
        <p:nvSpPr>
          <p:cNvPr id="3" name="Text 1"/>
          <p:cNvSpPr/>
          <p:nvPr/>
        </p:nvSpPr>
        <p:spPr>
          <a:xfrm>
            <a:off x="365760" y="91440"/>
            <a:ext cx="8229600" cy="594360"/>
          </a:xfrm>
          <a:prstGeom prst="rect">
            <a:avLst/>
          </a:prstGeom>
          <a:noFill/>
          <a:ln/>
        </p:spPr>
        <p:txBody>
          <a:bodyPr wrap="square"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Objectifs du Projet</a:t>
            </a:r>
            <a:endParaRPr lang="en-US" sz="2800" dirty="0"/>
          </a:p>
        </p:txBody>
      </p:sp>
      <p:sp>
        <p:nvSpPr>
          <p:cNvPr id="5" name="Shape 3"/>
          <p:cNvSpPr/>
          <p:nvPr/>
        </p:nvSpPr>
        <p:spPr>
          <a:xfrm>
            <a:off x="0" y="1005840"/>
            <a:ext cx="9144000" cy="54864"/>
          </a:xfrm>
          <a:prstGeom prst="rect">
            <a:avLst/>
          </a:prstGeom>
          <a:solidFill>
            <a:srgbClr val="0A7EA4"/>
          </a:solidFill>
          <a:ln w="12700">
            <a:solidFill>
              <a:srgbClr val="0A7EA4"/>
            </a:solidFill>
            <a:prstDash val="solid"/>
          </a:ln>
        </p:spPr>
        <p:txBody>
          <a:bodyPr/>
          <a:lstStyle/>
          <a:p>
            <a:endParaRPr lang="fr-FR"/>
          </a:p>
        </p:txBody>
      </p:sp>
      <p:sp>
        <p:nvSpPr>
          <p:cNvPr id="6" name="Shape 4"/>
          <p:cNvSpPr/>
          <p:nvPr/>
        </p:nvSpPr>
        <p:spPr>
          <a:xfrm>
            <a:off x="320040" y="1234440"/>
            <a:ext cx="4160520" cy="1078992"/>
          </a:xfrm>
          <a:prstGeom prst="rect">
            <a:avLst/>
          </a:prstGeom>
          <a:solidFill>
            <a:srgbClr val="FFFFFF"/>
          </a:solidFill>
          <a:ln w="15240">
            <a:solidFill>
              <a:srgbClr val="C5D5E8"/>
            </a:solidFill>
            <a:prstDash val="solid"/>
          </a:ln>
          <a:effectLst>
            <a:outerShdw blurRad="63500" dist="25400" dir="8100000" algn="bl" rotWithShape="0">
              <a:srgbClr val="000000">
                <a:alpha val="10000"/>
              </a:srgbClr>
            </a:outerShdw>
          </a:effectLst>
        </p:spPr>
        <p:txBody>
          <a:bodyPr/>
          <a:lstStyle/>
          <a:p>
            <a:endParaRPr lang="fr-FR"/>
          </a:p>
        </p:txBody>
      </p:sp>
      <p:sp>
        <p:nvSpPr>
          <p:cNvPr id="7" name="Shape 5"/>
          <p:cNvSpPr/>
          <p:nvPr/>
        </p:nvSpPr>
        <p:spPr>
          <a:xfrm>
            <a:off x="320040" y="1234440"/>
            <a:ext cx="594360" cy="1078992"/>
          </a:xfrm>
          <a:prstGeom prst="rect">
            <a:avLst/>
          </a:prstGeom>
          <a:solidFill>
            <a:srgbClr val="E8F4F8"/>
          </a:solidFill>
          <a:ln w="12700">
            <a:solidFill>
              <a:srgbClr val="E8F4F8"/>
            </a:solidFill>
            <a:prstDash val="solid"/>
          </a:ln>
        </p:spPr>
        <p:txBody>
          <a:bodyPr/>
          <a:lstStyle/>
          <a:p>
            <a:endParaRPr lang="fr-FR"/>
          </a:p>
        </p:txBody>
      </p:sp>
      <p:sp>
        <p:nvSpPr>
          <p:cNvPr id="8" name="Text 6"/>
          <p:cNvSpPr/>
          <p:nvPr/>
        </p:nvSpPr>
        <p:spPr>
          <a:xfrm>
            <a:off x="320040" y="1234440"/>
            <a:ext cx="594360" cy="548640"/>
          </a:xfrm>
          <a:prstGeom prst="rect">
            <a:avLst/>
          </a:prstGeom>
          <a:noFill/>
          <a:ln/>
        </p:spPr>
        <p:txBody>
          <a:bodyPr wrap="square" rtlCol="0" anchor="ctr"/>
          <a:lstStyle/>
          <a:p>
            <a:pPr marL="0" indent="0" algn="ctr">
              <a:buNone/>
            </a:pPr>
            <a:endParaRPr lang="en-US" sz="2200" dirty="0"/>
          </a:p>
        </p:txBody>
      </p:sp>
      <p:sp>
        <p:nvSpPr>
          <p:cNvPr id="9" name="Text 7"/>
          <p:cNvSpPr/>
          <p:nvPr/>
        </p:nvSpPr>
        <p:spPr>
          <a:xfrm>
            <a:off x="320040" y="1783080"/>
            <a:ext cx="594360" cy="530352"/>
          </a:xfrm>
          <a:prstGeom prst="rect">
            <a:avLst/>
          </a:prstGeom>
          <a:noFill/>
          <a:ln/>
        </p:spPr>
        <p:txBody>
          <a:bodyPr wrap="square" rtlCol="0" anchor="ctr"/>
          <a:lstStyle/>
          <a:p>
            <a:pPr marL="0" indent="0" algn="ctr">
              <a:buNone/>
            </a:pPr>
            <a:r>
              <a:rPr lang="en-US" sz="1800" b="1" dirty="0">
                <a:solidFill>
                  <a:srgbClr val="0A7EA4"/>
                </a:solidFill>
                <a:latin typeface="Calibri Black" pitchFamily="34" charset="0"/>
                <a:ea typeface="Calibri Black" pitchFamily="34" charset="-122"/>
                <a:cs typeface="Calibri Black" pitchFamily="34" charset="-120"/>
              </a:rPr>
              <a:t>1</a:t>
            </a:r>
            <a:endParaRPr lang="en-US" sz="1800" dirty="0"/>
          </a:p>
        </p:txBody>
      </p:sp>
      <p:sp>
        <p:nvSpPr>
          <p:cNvPr id="10" name="Text 8"/>
          <p:cNvSpPr/>
          <p:nvPr/>
        </p:nvSpPr>
        <p:spPr>
          <a:xfrm>
            <a:off x="1005840" y="1280160"/>
            <a:ext cx="3383280" cy="320040"/>
          </a:xfrm>
          <a:prstGeom prst="rect">
            <a:avLst/>
          </a:prstGeom>
          <a:noFill/>
          <a:ln/>
        </p:spPr>
        <p:txBody>
          <a:bodyPr wrap="square" rtlCol="0" anchor="ctr"/>
          <a:lstStyle/>
          <a:p>
            <a:pPr marL="0" indent="0">
              <a:buNone/>
            </a:pPr>
            <a:r>
              <a:rPr lang="en-US" sz="1200" b="1" dirty="0">
                <a:solidFill>
                  <a:srgbClr val="1B3A6B"/>
                </a:solidFill>
                <a:latin typeface="Calibri" pitchFamily="34" charset="0"/>
                <a:ea typeface="Calibri" pitchFamily="34" charset="-122"/>
                <a:cs typeface="Calibri" pitchFamily="34" charset="-120"/>
              </a:rPr>
              <a:t>Pipeline Computer Vision</a:t>
            </a:r>
            <a:endParaRPr lang="en-US" sz="1200" dirty="0"/>
          </a:p>
        </p:txBody>
      </p:sp>
      <p:sp>
        <p:nvSpPr>
          <p:cNvPr id="11" name="Text 9"/>
          <p:cNvSpPr/>
          <p:nvPr/>
        </p:nvSpPr>
        <p:spPr>
          <a:xfrm>
            <a:off x="1005840" y="1618488"/>
            <a:ext cx="3383280" cy="594360"/>
          </a:xfrm>
          <a:prstGeom prst="rect">
            <a:avLst/>
          </a:prstGeom>
          <a:noFill/>
          <a:ln/>
        </p:spPr>
        <p:txBody>
          <a:bodyPr wrap="square" rtlCol="0" anchor="ctr"/>
          <a:lstStyle/>
          <a:p>
            <a:pPr marL="0" indent="0">
              <a:buNone/>
            </a:pPr>
            <a:r>
              <a:rPr lang="en-US" sz="1000" dirty="0">
                <a:solidFill>
                  <a:srgbClr val="5A6A7A"/>
                </a:solidFill>
                <a:latin typeface="Calibri" pitchFamily="34" charset="0"/>
                <a:ea typeface="Calibri" pitchFamily="34" charset="-122"/>
                <a:cs typeface="Calibri" pitchFamily="34" charset="-120"/>
              </a:rPr>
              <a:t>Implémentation complète : détection → alignement → extraction d'embeddings → comparaison</a:t>
            </a:r>
            <a:endParaRPr lang="en-US" sz="1000" dirty="0"/>
          </a:p>
        </p:txBody>
      </p:sp>
      <p:sp>
        <p:nvSpPr>
          <p:cNvPr id="12" name="Shape 10"/>
          <p:cNvSpPr/>
          <p:nvPr/>
        </p:nvSpPr>
        <p:spPr>
          <a:xfrm>
            <a:off x="4800600" y="1234440"/>
            <a:ext cx="4160520" cy="1078992"/>
          </a:xfrm>
          <a:prstGeom prst="rect">
            <a:avLst/>
          </a:prstGeom>
          <a:solidFill>
            <a:srgbClr val="FFFFFF"/>
          </a:solidFill>
          <a:ln w="15240">
            <a:solidFill>
              <a:srgbClr val="C5D5E8"/>
            </a:solidFill>
            <a:prstDash val="solid"/>
          </a:ln>
          <a:effectLst>
            <a:outerShdw blurRad="63500" dist="25400" dir="8100000" algn="bl" rotWithShape="0">
              <a:srgbClr val="000000">
                <a:alpha val="10000"/>
              </a:srgbClr>
            </a:outerShdw>
          </a:effectLst>
        </p:spPr>
        <p:txBody>
          <a:bodyPr/>
          <a:lstStyle/>
          <a:p>
            <a:endParaRPr lang="fr-FR"/>
          </a:p>
        </p:txBody>
      </p:sp>
      <p:sp>
        <p:nvSpPr>
          <p:cNvPr id="13" name="Shape 11"/>
          <p:cNvSpPr/>
          <p:nvPr/>
        </p:nvSpPr>
        <p:spPr>
          <a:xfrm>
            <a:off x="4800600" y="1234440"/>
            <a:ext cx="594360" cy="1078992"/>
          </a:xfrm>
          <a:prstGeom prst="rect">
            <a:avLst/>
          </a:prstGeom>
          <a:solidFill>
            <a:srgbClr val="E8F4F8"/>
          </a:solidFill>
          <a:ln w="12700">
            <a:solidFill>
              <a:srgbClr val="E8F4F8"/>
            </a:solidFill>
            <a:prstDash val="solid"/>
          </a:ln>
        </p:spPr>
        <p:txBody>
          <a:bodyPr/>
          <a:lstStyle/>
          <a:p>
            <a:endParaRPr lang="fr-FR"/>
          </a:p>
        </p:txBody>
      </p:sp>
      <p:sp>
        <p:nvSpPr>
          <p:cNvPr id="14" name="Text 12"/>
          <p:cNvSpPr/>
          <p:nvPr/>
        </p:nvSpPr>
        <p:spPr>
          <a:xfrm>
            <a:off x="4800600" y="1234440"/>
            <a:ext cx="594360" cy="548640"/>
          </a:xfrm>
          <a:prstGeom prst="rect">
            <a:avLst/>
          </a:prstGeom>
          <a:noFill/>
          <a:ln/>
        </p:spPr>
        <p:txBody>
          <a:bodyPr wrap="square" rtlCol="0" anchor="ctr"/>
          <a:lstStyle/>
          <a:p>
            <a:pPr marL="0" indent="0" algn="ctr">
              <a:buNone/>
            </a:pPr>
            <a:endParaRPr lang="en-US" sz="2200" dirty="0"/>
          </a:p>
        </p:txBody>
      </p:sp>
      <p:sp>
        <p:nvSpPr>
          <p:cNvPr id="15" name="Text 13"/>
          <p:cNvSpPr/>
          <p:nvPr/>
        </p:nvSpPr>
        <p:spPr>
          <a:xfrm>
            <a:off x="4800600" y="1783080"/>
            <a:ext cx="594360" cy="530352"/>
          </a:xfrm>
          <a:prstGeom prst="rect">
            <a:avLst/>
          </a:prstGeom>
          <a:noFill/>
          <a:ln/>
        </p:spPr>
        <p:txBody>
          <a:bodyPr wrap="square" rtlCol="0" anchor="ctr"/>
          <a:lstStyle/>
          <a:p>
            <a:pPr marL="0" indent="0" algn="ctr">
              <a:buNone/>
            </a:pPr>
            <a:r>
              <a:rPr lang="en-US" sz="1800" b="1" dirty="0">
                <a:solidFill>
                  <a:srgbClr val="0A7EA4"/>
                </a:solidFill>
                <a:latin typeface="Calibri Black" pitchFamily="34" charset="0"/>
                <a:ea typeface="Calibri Black" pitchFamily="34" charset="-122"/>
                <a:cs typeface="Calibri Black" pitchFamily="34" charset="-120"/>
              </a:rPr>
              <a:t>2</a:t>
            </a:r>
            <a:endParaRPr lang="en-US" sz="1800" dirty="0"/>
          </a:p>
        </p:txBody>
      </p:sp>
      <p:sp>
        <p:nvSpPr>
          <p:cNvPr id="16" name="Text 14"/>
          <p:cNvSpPr/>
          <p:nvPr/>
        </p:nvSpPr>
        <p:spPr>
          <a:xfrm>
            <a:off x="5577840" y="1780970"/>
            <a:ext cx="3383280" cy="320040"/>
          </a:xfrm>
          <a:prstGeom prst="rect">
            <a:avLst/>
          </a:prstGeom>
          <a:noFill/>
          <a:ln/>
        </p:spPr>
        <p:txBody>
          <a:bodyPr wrap="square" rtlCol="0" anchor="ctr"/>
          <a:lstStyle/>
          <a:p>
            <a:pPr marL="0" indent="0">
              <a:buNone/>
            </a:pPr>
            <a:r>
              <a:rPr lang="en-US" sz="1200" b="1" dirty="0">
                <a:solidFill>
                  <a:srgbClr val="1B3A6B"/>
                </a:solidFill>
                <a:latin typeface="Calibri" pitchFamily="34" charset="0"/>
                <a:ea typeface="Calibri" pitchFamily="34" charset="-122"/>
                <a:cs typeface="Calibri" pitchFamily="34" charset="-120"/>
              </a:rPr>
              <a:t>Deep Learning pré-entraîné</a:t>
            </a:r>
            <a:endParaRPr lang="en-US" sz="1200" dirty="0"/>
          </a:p>
        </p:txBody>
      </p:sp>
      <p:sp>
        <p:nvSpPr>
          <p:cNvPr id="18" name="Shape 16"/>
          <p:cNvSpPr/>
          <p:nvPr/>
        </p:nvSpPr>
        <p:spPr>
          <a:xfrm>
            <a:off x="320040" y="2468880"/>
            <a:ext cx="4160520" cy="1078992"/>
          </a:xfrm>
          <a:prstGeom prst="rect">
            <a:avLst/>
          </a:prstGeom>
          <a:solidFill>
            <a:srgbClr val="FFFFFF"/>
          </a:solidFill>
          <a:ln w="15240">
            <a:solidFill>
              <a:srgbClr val="C5D5E8"/>
            </a:solidFill>
            <a:prstDash val="solid"/>
          </a:ln>
          <a:effectLst>
            <a:outerShdw blurRad="63500" dist="25400" dir="8100000" algn="bl" rotWithShape="0">
              <a:srgbClr val="000000">
                <a:alpha val="10000"/>
              </a:srgbClr>
            </a:outerShdw>
          </a:effectLst>
        </p:spPr>
        <p:txBody>
          <a:bodyPr/>
          <a:lstStyle/>
          <a:p>
            <a:endParaRPr lang="fr-FR"/>
          </a:p>
        </p:txBody>
      </p:sp>
      <p:sp>
        <p:nvSpPr>
          <p:cNvPr id="19" name="Shape 17"/>
          <p:cNvSpPr/>
          <p:nvPr/>
        </p:nvSpPr>
        <p:spPr>
          <a:xfrm>
            <a:off x="320040" y="2468880"/>
            <a:ext cx="594360" cy="1078992"/>
          </a:xfrm>
          <a:prstGeom prst="rect">
            <a:avLst/>
          </a:prstGeom>
          <a:solidFill>
            <a:srgbClr val="E8F4F8"/>
          </a:solidFill>
          <a:ln w="12700">
            <a:solidFill>
              <a:srgbClr val="E8F4F8"/>
            </a:solidFill>
            <a:prstDash val="solid"/>
          </a:ln>
        </p:spPr>
        <p:txBody>
          <a:bodyPr/>
          <a:lstStyle/>
          <a:p>
            <a:endParaRPr lang="fr-FR"/>
          </a:p>
        </p:txBody>
      </p:sp>
      <p:sp>
        <p:nvSpPr>
          <p:cNvPr id="20" name="Text 18"/>
          <p:cNvSpPr/>
          <p:nvPr/>
        </p:nvSpPr>
        <p:spPr>
          <a:xfrm>
            <a:off x="320040" y="2468880"/>
            <a:ext cx="594360" cy="548640"/>
          </a:xfrm>
          <a:prstGeom prst="rect">
            <a:avLst/>
          </a:prstGeom>
          <a:noFill/>
          <a:ln/>
        </p:spPr>
        <p:txBody>
          <a:bodyPr wrap="square" rtlCol="0" anchor="ctr"/>
          <a:lstStyle/>
          <a:p>
            <a:pPr marL="0" indent="0" algn="ctr">
              <a:buNone/>
            </a:pPr>
            <a:endParaRPr lang="en-US" sz="2200" dirty="0"/>
          </a:p>
        </p:txBody>
      </p:sp>
      <p:sp>
        <p:nvSpPr>
          <p:cNvPr id="21" name="Text 19"/>
          <p:cNvSpPr/>
          <p:nvPr/>
        </p:nvSpPr>
        <p:spPr>
          <a:xfrm>
            <a:off x="320040" y="3017520"/>
            <a:ext cx="594360" cy="530352"/>
          </a:xfrm>
          <a:prstGeom prst="rect">
            <a:avLst/>
          </a:prstGeom>
          <a:noFill/>
          <a:ln/>
        </p:spPr>
        <p:txBody>
          <a:bodyPr wrap="square" rtlCol="0" anchor="ctr"/>
          <a:lstStyle/>
          <a:p>
            <a:pPr marL="0" indent="0" algn="ctr">
              <a:buNone/>
            </a:pPr>
            <a:r>
              <a:rPr lang="en-US" sz="1800" b="1" dirty="0">
                <a:solidFill>
                  <a:srgbClr val="0A7EA4"/>
                </a:solidFill>
                <a:latin typeface="Calibri Black" pitchFamily="34" charset="0"/>
                <a:ea typeface="Calibri Black" pitchFamily="34" charset="-122"/>
                <a:cs typeface="Calibri Black" pitchFamily="34" charset="-120"/>
              </a:rPr>
              <a:t>3</a:t>
            </a:r>
            <a:endParaRPr lang="en-US" sz="1800" dirty="0"/>
          </a:p>
        </p:txBody>
      </p:sp>
      <p:sp>
        <p:nvSpPr>
          <p:cNvPr id="22" name="Text 20"/>
          <p:cNvSpPr/>
          <p:nvPr/>
        </p:nvSpPr>
        <p:spPr>
          <a:xfrm>
            <a:off x="1005840" y="2514600"/>
            <a:ext cx="3383280" cy="320040"/>
          </a:xfrm>
          <a:prstGeom prst="rect">
            <a:avLst/>
          </a:prstGeom>
          <a:noFill/>
          <a:ln/>
        </p:spPr>
        <p:txBody>
          <a:bodyPr wrap="square" rtlCol="0" anchor="ctr"/>
          <a:lstStyle/>
          <a:p>
            <a:pPr marL="0" indent="0">
              <a:buNone/>
            </a:pPr>
            <a:r>
              <a:rPr lang="en-US" sz="1200" b="1" dirty="0">
                <a:solidFill>
                  <a:srgbClr val="1B3A6B"/>
                </a:solidFill>
                <a:latin typeface="Calibri" pitchFamily="34" charset="0"/>
                <a:ea typeface="Calibri" pitchFamily="34" charset="-122"/>
                <a:cs typeface="Calibri" pitchFamily="34" charset="-120"/>
              </a:rPr>
              <a:t>Intégration Windows API</a:t>
            </a:r>
            <a:endParaRPr lang="en-US" sz="1200" dirty="0"/>
          </a:p>
        </p:txBody>
      </p:sp>
      <p:sp>
        <p:nvSpPr>
          <p:cNvPr id="23" name="Text 21"/>
          <p:cNvSpPr/>
          <p:nvPr/>
        </p:nvSpPr>
        <p:spPr>
          <a:xfrm>
            <a:off x="1005840" y="2852928"/>
            <a:ext cx="3383280" cy="594360"/>
          </a:xfrm>
          <a:prstGeom prst="rect">
            <a:avLst/>
          </a:prstGeom>
          <a:noFill/>
          <a:ln/>
        </p:spPr>
        <p:txBody>
          <a:bodyPr wrap="square" rtlCol="0" anchor="ctr"/>
          <a:lstStyle/>
          <a:p>
            <a:pPr marL="0" indent="0">
              <a:buNone/>
            </a:pPr>
            <a:r>
              <a:rPr lang="en-US" sz="1000" dirty="0">
                <a:solidFill>
                  <a:srgbClr val="5A6A7A"/>
                </a:solidFill>
                <a:latin typeface="Calibri" pitchFamily="34" charset="0"/>
                <a:ea typeface="Calibri" pitchFamily="34" charset="-122"/>
                <a:cs typeface="Calibri" pitchFamily="34" charset="-120"/>
              </a:rPr>
              <a:t>Verrouillage/déverrouillage de session via ctypes.windll.user32.LockWorkStation()</a:t>
            </a:r>
            <a:endParaRPr lang="en-US" sz="1000" dirty="0"/>
          </a:p>
        </p:txBody>
      </p:sp>
      <p:sp>
        <p:nvSpPr>
          <p:cNvPr id="24" name="Shape 22"/>
          <p:cNvSpPr/>
          <p:nvPr/>
        </p:nvSpPr>
        <p:spPr>
          <a:xfrm>
            <a:off x="4800600" y="2468880"/>
            <a:ext cx="4160520" cy="1078992"/>
          </a:xfrm>
          <a:prstGeom prst="rect">
            <a:avLst/>
          </a:prstGeom>
          <a:solidFill>
            <a:srgbClr val="FFFFFF"/>
          </a:solidFill>
          <a:ln w="15240">
            <a:solidFill>
              <a:srgbClr val="C5D5E8"/>
            </a:solidFill>
            <a:prstDash val="solid"/>
          </a:ln>
          <a:effectLst>
            <a:outerShdw blurRad="63500" dist="25400" dir="8100000" algn="bl" rotWithShape="0">
              <a:srgbClr val="000000">
                <a:alpha val="10000"/>
              </a:srgbClr>
            </a:outerShdw>
          </a:effectLst>
        </p:spPr>
        <p:txBody>
          <a:bodyPr/>
          <a:lstStyle/>
          <a:p>
            <a:endParaRPr lang="fr-FR"/>
          </a:p>
        </p:txBody>
      </p:sp>
      <p:sp>
        <p:nvSpPr>
          <p:cNvPr id="25" name="Shape 23"/>
          <p:cNvSpPr/>
          <p:nvPr/>
        </p:nvSpPr>
        <p:spPr>
          <a:xfrm>
            <a:off x="4800600" y="2468880"/>
            <a:ext cx="594360" cy="1078992"/>
          </a:xfrm>
          <a:prstGeom prst="rect">
            <a:avLst/>
          </a:prstGeom>
          <a:solidFill>
            <a:srgbClr val="E8F4F8"/>
          </a:solidFill>
          <a:ln w="12700">
            <a:solidFill>
              <a:srgbClr val="E8F4F8"/>
            </a:solidFill>
            <a:prstDash val="solid"/>
          </a:ln>
        </p:spPr>
        <p:txBody>
          <a:bodyPr/>
          <a:lstStyle/>
          <a:p>
            <a:endParaRPr lang="fr-FR"/>
          </a:p>
        </p:txBody>
      </p:sp>
      <p:sp>
        <p:nvSpPr>
          <p:cNvPr id="26" name="Text 24"/>
          <p:cNvSpPr/>
          <p:nvPr/>
        </p:nvSpPr>
        <p:spPr>
          <a:xfrm>
            <a:off x="4800600" y="2468880"/>
            <a:ext cx="594360" cy="548640"/>
          </a:xfrm>
          <a:prstGeom prst="rect">
            <a:avLst/>
          </a:prstGeom>
          <a:noFill/>
          <a:ln/>
        </p:spPr>
        <p:txBody>
          <a:bodyPr wrap="square" rtlCol="0" anchor="ctr"/>
          <a:lstStyle/>
          <a:p>
            <a:pPr marL="0" indent="0" algn="ctr">
              <a:buNone/>
            </a:pPr>
            <a:endParaRPr lang="en-US" sz="2200" dirty="0"/>
          </a:p>
        </p:txBody>
      </p:sp>
      <p:sp>
        <p:nvSpPr>
          <p:cNvPr id="27" name="Text 25"/>
          <p:cNvSpPr/>
          <p:nvPr/>
        </p:nvSpPr>
        <p:spPr>
          <a:xfrm>
            <a:off x="4800600" y="3017520"/>
            <a:ext cx="594360" cy="530352"/>
          </a:xfrm>
          <a:prstGeom prst="rect">
            <a:avLst/>
          </a:prstGeom>
          <a:noFill/>
          <a:ln/>
        </p:spPr>
        <p:txBody>
          <a:bodyPr wrap="square" rtlCol="0" anchor="ctr"/>
          <a:lstStyle/>
          <a:p>
            <a:pPr marL="0" indent="0" algn="ctr">
              <a:buNone/>
            </a:pPr>
            <a:r>
              <a:rPr lang="en-US" sz="1800" b="1" dirty="0">
                <a:solidFill>
                  <a:srgbClr val="0A7EA4"/>
                </a:solidFill>
                <a:latin typeface="Calibri Black" pitchFamily="34" charset="0"/>
                <a:ea typeface="Calibri Black" pitchFamily="34" charset="-122"/>
                <a:cs typeface="Calibri Black" pitchFamily="34" charset="-120"/>
              </a:rPr>
              <a:t>4</a:t>
            </a:r>
            <a:endParaRPr lang="en-US" sz="1800" dirty="0"/>
          </a:p>
        </p:txBody>
      </p:sp>
      <p:sp>
        <p:nvSpPr>
          <p:cNvPr id="28" name="Text 26"/>
          <p:cNvSpPr/>
          <p:nvPr/>
        </p:nvSpPr>
        <p:spPr>
          <a:xfrm>
            <a:off x="5577840" y="2916936"/>
            <a:ext cx="3383280" cy="320040"/>
          </a:xfrm>
          <a:prstGeom prst="rect">
            <a:avLst/>
          </a:prstGeom>
          <a:noFill/>
          <a:ln/>
        </p:spPr>
        <p:txBody>
          <a:bodyPr wrap="square" rtlCol="0" anchor="ctr"/>
          <a:lstStyle/>
          <a:p>
            <a:pPr marL="0" indent="0">
              <a:buNone/>
            </a:pPr>
            <a:r>
              <a:rPr lang="en-US" sz="1200" b="1" dirty="0">
                <a:solidFill>
                  <a:srgbClr val="1B3A6B"/>
                </a:solidFill>
                <a:latin typeface="Calibri" pitchFamily="34" charset="0"/>
                <a:ea typeface="Calibri" pitchFamily="34" charset="-122"/>
                <a:cs typeface="Calibri" pitchFamily="34" charset="-120"/>
              </a:rPr>
              <a:t>Protection des données biométriques</a:t>
            </a:r>
            <a:endParaRPr lang="en-US" sz="1200" dirty="0"/>
          </a:p>
        </p:txBody>
      </p:sp>
      <p:sp>
        <p:nvSpPr>
          <p:cNvPr id="30" name="Shape 28"/>
          <p:cNvSpPr/>
          <p:nvPr/>
        </p:nvSpPr>
        <p:spPr>
          <a:xfrm>
            <a:off x="320040" y="3703320"/>
            <a:ext cx="4160520" cy="1078992"/>
          </a:xfrm>
          <a:prstGeom prst="rect">
            <a:avLst/>
          </a:prstGeom>
          <a:solidFill>
            <a:srgbClr val="FFFFFF"/>
          </a:solidFill>
          <a:ln w="15240">
            <a:solidFill>
              <a:srgbClr val="C5D5E8"/>
            </a:solidFill>
            <a:prstDash val="solid"/>
          </a:ln>
          <a:effectLst>
            <a:outerShdw blurRad="63500" dist="25400" dir="8100000" algn="bl" rotWithShape="0">
              <a:srgbClr val="000000">
                <a:alpha val="10000"/>
              </a:srgbClr>
            </a:outerShdw>
          </a:effectLst>
        </p:spPr>
        <p:txBody>
          <a:bodyPr/>
          <a:lstStyle/>
          <a:p>
            <a:endParaRPr lang="fr-FR"/>
          </a:p>
        </p:txBody>
      </p:sp>
      <p:sp>
        <p:nvSpPr>
          <p:cNvPr id="31" name="Shape 29"/>
          <p:cNvSpPr/>
          <p:nvPr/>
        </p:nvSpPr>
        <p:spPr>
          <a:xfrm>
            <a:off x="320040" y="3703320"/>
            <a:ext cx="594360" cy="1078992"/>
          </a:xfrm>
          <a:prstGeom prst="rect">
            <a:avLst/>
          </a:prstGeom>
          <a:solidFill>
            <a:srgbClr val="E8F4F8"/>
          </a:solidFill>
          <a:ln w="12700">
            <a:solidFill>
              <a:srgbClr val="E8F4F8"/>
            </a:solidFill>
            <a:prstDash val="solid"/>
          </a:ln>
        </p:spPr>
        <p:txBody>
          <a:bodyPr/>
          <a:lstStyle/>
          <a:p>
            <a:endParaRPr lang="fr-FR"/>
          </a:p>
        </p:txBody>
      </p:sp>
      <p:sp>
        <p:nvSpPr>
          <p:cNvPr id="32" name="Text 30"/>
          <p:cNvSpPr/>
          <p:nvPr/>
        </p:nvSpPr>
        <p:spPr>
          <a:xfrm>
            <a:off x="320040" y="3703320"/>
            <a:ext cx="594360" cy="548640"/>
          </a:xfrm>
          <a:prstGeom prst="rect">
            <a:avLst/>
          </a:prstGeom>
          <a:noFill/>
          <a:ln/>
        </p:spPr>
        <p:txBody>
          <a:bodyPr wrap="square" rtlCol="0" anchor="ctr"/>
          <a:lstStyle/>
          <a:p>
            <a:pPr marL="0" indent="0" algn="ctr">
              <a:buNone/>
            </a:pPr>
            <a:endParaRPr lang="en-US" sz="2200" dirty="0"/>
          </a:p>
        </p:txBody>
      </p:sp>
      <p:sp>
        <p:nvSpPr>
          <p:cNvPr id="33" name="Text 31"/>
          <p:cNvSpPr/>
          <p:nvPr/>
        </p:nvSpPr>
        <p:spPr>
          <a:xfrm>
            <a:off x="320040" y="4251960"/>
            <a:ext cx="594360" cy="530352"/>
          </a:xfrm>
          <a:prstGeom prst="rect">
            <a:avLst/>
          </a:prstGeom>
          <a:noFill/>
          <a:ln/>
        </p:spPr>
        <p:txBody>
          <a:bodyPr wrap="square" rtlCol="0" anchor="ctr"/>
          <a:lstStyle/>
          <a:p>
            <a:pPr marL="0" indent="0" algn="ctr">
              <a:buNone/>
            </a:pPr>
            <a:r>
              <a:rPr lang="en-US" sz="1800" b="1" dirty="0">
                <a:solidFill>
                  <a:srgbClr val="0A7EA4"/>
                </a:solidFill>
                <a:latin typeface="Calibri Black" pitchFamily="34" charset="0"/>
                <a:ea typeface="Calibri Black" pitchFamily="34" charset="-122"/>
                <a:cs typeface="Calibri Black" pitchFamily="34" charset="-120"/>
              </a:rPr>
              <a:t>5</a:t>
            </a:r>
            <a:endParaRPr lang="en-US" sz="1800" dirty="0"/>
          </a:p>
        </p:txBody>
      </p:sp>
      <p:sp>
        <p:nvSpPr>
          <p:cNvPr id="34" name="Text 32"/>
          <p:cNvSpPr/>
          <p:nvPr/>
        </p:nvSpPr>
        <p:spPr>
          <a:xfrm>
            <a:off x="1005840" y="3749040"/>
            <a:ext cx="3383280" cy="320040"/>
          </a:xfrm>
          <a:prstGeom prst="rect">
            <a:avLst/>
          </a:prstGeom>
          <a:noFill/>
          <a:ln/>
        </p:spPr>
        <p:txBody>
          <a:bodyPr wrap="square" rtlCol="0" anchor="ctr"/>
          <a:lstStyle/>
          <a:p>
            <a:pPr marL="0" indent="0">
              <a:buNone/>
            </a:pPr>
            <a:r>
              <a:rPr lang="en-US" sz="1200" b="1" dirty="0">
                <a:solidFill>
                  <a:srgbClr val="1B3A6B"/>
                </a:solidFill>
                <a:latin typeface="Calibri" pitchFamily="34" charset="0"/>
                <a:ea typeface="Calibri" pitchFamily="34" charset="-122"/>
                <a:cs typeface="Calibri" pitchFamily="34" charset="-120"/>
              </a:rPr>
              <a:t>Traitement temps réel</a:t>
            </a:r>
            <a:endParaRPr lang="en-US" sz="1200" dirty="0"/>
          </a:p>
        </p:txBody>
      </p:sp>
      <p:sp>
        <p:nvSpPr>
          <p:cNvPr id="35" name="Text 33"/>
          <p:cNvSpPr/>
          <p:nvPr/>
        </p:nvSpPr>
        <p:spPr>
          <a:xfrm>
            <a:off x="1005840" y="4087368"/>
            <a:ext cx="3383280" cy="594360"/>
          </a:xfrm>
          <a:prstGeom prst="rect">
            <a:avLst/>
          </a:prstGeom>
          <a:noFill/>
          <a:ln/>
        </p:spPr>
        <p:txBody>
          <a:bodyPr wrap="square" rtlCol="0" anchor="ctr"/>
          <a:lstStyle/>
          <a:p>
            <a:pPr marL="0" indent="0">
              <a:buNone/>
            </a:pPr>
            <a:r>
              <a:rPr lang="en-US" sz="1000" dirty="0">
                <a:solidFill>
                  <a:srgbClr val="5A6A7A"/>
                </a:solidFill>
                <a:latin typeface="Calibri" pitchFamily="34" charset="0"/>
                <a:ea typeface="Calibri" pitchFamily="34" charset="-122"/>
                <a:cs typeface="Calibri" pitchFamily="34" charset="-120"/>
              </a:rPr>
              <a:t>Traitement de chaque frame en moins de 1 seconde sur CPU standard</a:t>
            </a:r>
            <a:endParaRPr lang="en-US" sz="1000" dirty="0"/>
          </a:p>
        </p:txBody>
      </p:sp>
      <p:sp>
        <p:nvSpPr>
          <p:cNvPr id="36" name="Shape 34"/>
          <p:cNvSpPr/>
          <p:nvPr/>
        </p:nvSpPr>
        <p:spPr>
          <a:xfrm>
            <a:off x="4800600" y="3712464"/>
            <a:ext cx="4160520" cy="1078992"/>
          </a:xfrm>
          <a:prstGeom prst="rect">
            <a:avLst/>
          </a:prstGeom>
          <a:solidFill>
            <a:srgbClr val="FFFFFF"/>
          </a:solidFill>
          <a:ln w="15240">
            <a:solidFill>
              <a:srgbClr val="C5D5E8"/>
            </a:solidFill>
            <a:prstDash val="solid"/>
          </a:ln>
          <a:effectLst>
            <a:outerShdw blurRad="63500" dist="25400" dir="8100000" algn="bl" rotWithShape="0">
              <a:srgbClr val="000000">
                <a:alpha val="10000"/>
              </a:srgbClr>
            </a:outerShdw>
          </a:effectLst>
        </p:spPr>
        <p:txBody>
          <a:bodyPr/>
          <a:lstStyle/>
          <a:p>
            <a:endParaRPr lang="fr-FR"/>
          </a:p>
        </p:txBody>
      </p:sp>
      <p:sp>
        <p:nvSpPr>
          <p:cNvPr id="37" name="Shape 35"/>
          <p:cNvSpPr/>
          <p:nvPr/>
        </p:nvSpPr>
        <p:spPr>
          <a:xfrm>
            <a:off x="4800600" y="3703320"/>
            <a:ext cx="594360" cy="1078992"/>
          </a:xfrm>
          <a:prstGeom prst="rect">
            <a:avLst/>
          </a:prstGeom>
          <a:solidFill>
            <a:srgbClr val="E8F4F8"/>
          </a:solidFill>
          <a:ln w="12700">
            <a:solidFill>
              <a:srgbClr val="E8F4F8"/>
            </a:solidFill>
            <a:prstDash val="solid"/>
          </a:ln>
        </p:spPr>
        <p:txBody>
          <a:bodyPr/>
          <a:lstStyle/>
          <a:p>
            <a:endParaRPr lang="fr-FR"/>
          </a:p>
        </p:txBody>
      </p:sp>
      <p:sp>
        <p:nvSpPr>
          <p:cNvPr id="38" name="Text 36"/>
          <p:cNvSpPr/>
          <p:nvPr/>
        </p:nvSpPr>
        <p:spPr>
          <a:xfrm>
            <a:off x="4800600" y="3703320"/>
            <a:ext cx="594360" cy="548640"/>
          </a:xfrm>
          <a:prstGeom prst="rect">
            <a:avLst/>
          </a:prstGeom>
          <a:noFill/>
          <a:ln/>
        </p:spPr>
        <p:txBody>
          <a:bodyPr wrap="square" rtlCol="0" anchor="ctr"/>
          <a:lstStyle/>
          <a:p>
            <a:pPr marL="0" indent="0" algn="ctr">
              <a:buNone/>
            </a:pPr>
            <a:endParaRPr lang="en-US" sz="2200" dirty="0"/>
          </a:p>
        </p:txBody>
      </p:sp>
      <p:sp>
        <p:nvSpPr>
          <p:cNvPr id="39" name="Text 37"/>
          <p:cNvSpPr/>
          <p:nvPr/>
        </p:nvSpPr>
        <p:spPr>
          <a:xfrm>
            <a:off x="4800600" y="4251960"/>
            <a:ext cx="594360" cy="530352"/>
          </a:xfrm>
          <a:prstGeom prst="rect">
            <a:avLst/>
          </a:prstGeom>
          <a:noFill/>
          <a:ln/>
        </p:spPr>
        <p:txBody>
          <a:bodyPr wrap="square" rtlCol="0" anchor="ctr"/>
          <a:lstStyle/>
          <a:p>
            <a:pPr marL="0" indent="0" algn="ctr">
              <a:buNone/>
            </a:pPr>
            <a:r>
              <a:rPr lang="en-US" sz="1800" b="1" dirty="0">
                <a:solidFill>
                  <a:srgbClr val="0A7EA4"/>
                </a:solidFill>
                <a:latin typeface="Calibri Black" pitchFamily="34" charset="0"/>
                <a:ea typeface="Calibri Black" pitchFamily="34" charset="-122"/>
                <a:cs typeface="Calibri Black" pitchFamily="34" charset="-120"/>
              </a:rPr>
              <a:t>6</a:t>
            </a:r>
            <a:endParaRPr lang="en-US" sz="1800" dirty="0"/>
          </a:p>
        </p:txBody>
      </p:sp>
      <p:sp>
        <p:nvSpPr>
          <p:cNvPr id="40" name="Text 38"/>
          <p:cNvSpPr/>
          <p:nvPr/>
        </p:nvSpPr>
        <p:spPr>
          <a:xfrm>
            <a:off x="5577840" y="4123592"/>
            <a:ext cx="3383280" cy="320040"/>
          </a:xfrm>
          <a:prstGeom prst="rect">
            <a:avLst/>
          </a:prstGeom>
          <a:noFill/>
          <a:ln/>
        </p:spPr>
        <p:txBody>
          <a:bodyPr wrap="square" rtlCol="0" anchor="ctr"/>
          <a:lstStyle/>
          <a:p>
            <a:pPr marL="0" indent="0">
              <a:buNone/>
            </a:pPr>
            <a:r>
              <a:rPr lang="en-US" sz="1200" b="1" dirty="0">
                <a:solidFill>
                  <a:srgbClr val="1B3A6B"/>
                </a:solidFill>
                <a:latin typeface="Calibri" pitchFamily="34" charset="0"/>
                <a:ea typeface="Calibri" pitchFamily="34" charset="-122"/>
                <a:cs typeface="Calibri" pitchFamily="34" charset="-120"/>
              </a:rPr>
              <a:t>Système d'authentification local</a:t>
            </a:r>
            <a:endParaRPr lang="en-US" sz="1200" dirty="0"/>
          </a:p>
        </p:txBody>
      </p:sp>
      <p:sp>
        <p:nvSpPr>
          <p:cNvPr id="44" name="Text 42"/>
          <p:cNvSpPr/>
          <p:nvPr/>
        </p:nvSpPr>
        <p:spPr>
          <a:xfrm>
            <a:off x="7772400" y="4974336"/>
            <a:ext cx="1097280" cy="164592"/>
          </a:xfrm>
          <a:prstGeom prst="rect">
            <a:avLst/>
          </a:prstGeom>
          <a:noFill/>
          <a:ln/>
        </p:spPr>
        <p:txBody>
          <a:bodyPr wrap="square" rtlCol="0" anchor="ctr"/>
          <a:lstStyle/>
          <a:p>
            <a:pPr marL="0" indent="0" algn="r">
              <a:buNone/>
            </a:pPr>
            <a:r>
              <a:rPr lang="en-US" sz="900" dirty="0">
                <a:solidFill>
                  <a:srgbClr val="5A6A7A"/>
                </a:solidFill>
                <a:latin typeface="Calibri" pitchFamily="34" charset="0"/>
                <a:ea typeface="Calibri" pitchFamily="34" charset="-122"/>
                <a:cs typeface="Calibri" pitchFamily="34" charset="-120"/>
              </a:rPr>
              <a:t>4 / 16</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1B3A6B"/>
          </a:solidFill>
          <a:ln w="12700">
            <a:solidFill>
              <a:srgbClr val="1B3A6B"/>
            </a:solidFill>
            <a:prstDash val="solid"/>
          </a:ln>
        </p:spPr>
        <p:txBody>
          <a:bodyPr/>
          <a:lstStyle/>
          <a:p>
            <a:endParaRPr lang="fr-FR"/>
          </a:p>
        </p:txBody>
      </p:sp>
      <p:sp>
        <p:nvSpPr>
          <p:cNvPr id="3" name="Text 1"/>
          <p:cNvSpPr/>
          <p:nvPr/>
        </p:nvSpPr>
        <p:spPr>
          <a:xfrm>
            <a:off x="365760" y="91440"/>
            <a:ext cx="8229600" cy="594360"/>
          </a:xfrm>
          <a:prstGeom prst="rect">
            <a:avLst/>
          </a:prstGeom>
          <a:noFill/>
          <a:ln/>
        </p:spPr>
        <p:txBody>
          <a:bodyPr wrap="square"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Architecture Modulaire du Système</a:t>
            </a:r>
            <a:endParaRPr lang="en-US" sz="2800" dirty="0"/>
          </a:p>
        </p:txBody>
      </p:sp>
      <p:sp>
        <p:nvSpPr>
          <p:cNvPr id="5" name="Shape 3"/>
          <p:cNvSpPr/>
          <p:nvPr/>
        </p:nvSpPr>
        <p:spPr>
          <a:xfrm>
            <a:off x="0" y="1005840"/>
            <a:ext cx="9144000" cy="54864"/>
          </a:xfrm>
          <a:prstGeom prst="rect">
            <a:avLst/>
          </a:prstGeom>
          <a:solidFill>
            <a:srgbClr val="0A7EA4"/>
          </a:solidFill>
          <a:ln w="12700">
            <a:solidFill>
              <a:srgbClr val="0A7EA4"/>
            </a:solidFill>
            <a:prstDash val="solid"/>
          </a:ln>
        </p:spPr>
        <p:txBody>
          <a:bodyPr/>
          <a:lstStyle/>
          <a:p>
            <a:endParaRPr lang="fr-FR"/>
          </a:p>
        </p:txBody>
      </p:sp>
      <p:sp>
        <p:nvSpPr>
          <p:cNvPr id="6" name="Shape 4"/>
          <p:cNvSpPr/>
          <p:nvPr/>
        </p:nvSpPr>
        <p:spPr>
          <a:xfrm>
            <a:off x="320040" y="1234440"/>
            <a:ext cx="1572768" cy="1828800"/>
          </a:xfrm>
          <a:prstGeom prst="rect">
            <a:avLst/>
          </a:prstGeom>
          <a:solidFill>
            <a:srgbClr val="FFFFFF"/>
          </a:solidFill>
          <a:ln w="15240">
            <a:solidFill>
              <a:srgbClr val="0A7EA4"/>
            </a:solidFill>
            <a:prstDash val="solid"/>
          </a:ln>
          <a:effectLst>
            <a:outerShdw blurRad="63500" dist="25400" dir="8100000" algn="bl" rotWithShape="0">
              <a:srgbClr val="000000">
                <a:alpha val="10000"/>
              </a:srgbClr>
            </a:outerShdw>
          </a:effectLst>
        </p:spPr>
        <p:txBody>
          <a:bodyPr/>
          <a:lstStyle/>
          <a:p>
            <a:endParaRPr lang="fr-FR"/>
          </a:p>
        </p:txBody>
      </p:sp>
      <p:sp>
        <p:nvSpPr>
          <p:cNvPr id="7" name="Shape 5"/>
          <p:cNvSpPr/>
          <p:nvPr/>
        </p:nvSpPr>
        <p:spPr>
          <a:xfrm>
            <a:off x="320040" y="1234440"/>
            <a:ext cx="1572768" cy="384048"/>
          </a:xfrm>
          <a:prstGeom prst="rect">
            <a:avLst/>
          </a:prstGeom>
          <a:solidFill>
            <a:srgbClr val="0A7EA4"/>
          </a:solidFill>
          <a:ln w="12700">
            <a:solidFill>
              <a:srgbClr val="0A7EA4"/>
            </a:solidFill>
            <a:prstDash val="solid"/>
          </a:ln>
        </p:spPr>
        <p:txBody>
          <a:bodyPr/>
          <a:lstStyle/>
          <a:p>
            <a:endParaRPr lang="fr-FR"/>
          </a:p>
        </p:txBody>
      </p:sp>
      <p:sp>
        <p:nvSpPr>
          <p:cNvPr id="8" name="Text 6"/>
          <p:cNvSpPr/>
          <p:nvPr/>
        </p:nvSpPr>
        <p:spPr>
          <a:xfrm>
            <a:off x="320040" y="1234440"/>
            <a:ext cx="1572768" cy="384048"/>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Acquisition</a:t>
            </a:r>
            <a:endParaRPr lang="en-US" sz="1100" dirty="0"/>
          </a:p>
        </p:txBody>
      </p:sp>
      <p:sp>
        <p:nvSpPr>
          <p:cNvPr id="9" name="Text 7"/>
          <p:cNvSpPr/>
          <p:nvPr/>
        </p:nvSpPr>
        <p:spPr>
          <a:xfrm>
            <a:off x="320040" y="1618488"/>
            <a:ext cx="1572768" cy="457200"/>
          </a:xfrm>
          <a:prstGeom prst="rect">
            <a:avLst/>
          </a:prstGeom>
          <a:noFill/>
          <a:ln/>
        </p:spPr>
        <p:txBody>
          <a:bodyPr wrap="square" rtlCol="0" anchor="ctr"/>
          <a:lstStyle/>
          <a:p>
            <a:pPr marL="0" indent="0" algn="ctr">
              <a:buNone/>
            </a:pPr>
            <a:endParaRPr lang="en-US" sz="2400" dirty="0"/>
          </a:p>
        </p:txBody>
      </p:sp>
      <p:sp>
        <p:nvSpPr>
          <p:cNvPr id="10" name="Text 8"/>
          <p:cNvSpPr/>
          <p:nvPr/>
        </p:nvSpPr>
        <p:spPr>
          <a:xfrm>
            <a:off x="320040" y="2075688"/>
            <a:ext cx="1572768" cy="347472"/>
          </a:xfrm>
          <a:prstGeom prst="rect">
            <a:avLst/>
          </a:prstGeom>
          <a:noFill/>
          <a:ln/>
        </p:spPr>
        <p:txBody>
          <a:bodyPr wrap="square" rtlCol="0" anchor="ctr"/>
          <a:lstStyle/>
          <a:p>
            <a:pPr marL="0" indent="0" algn="ctr">
              <a:buNone/>
            </a:pPr>
            <a:r>
              <a:rPr lang="en-US" sz="850" b="1" dirty="0">
                <a:solidFill>
                  <a:srgbClr val="0A7EA4"/>
                </a:solidFill>
                <a:latin typeface="Courier New" pitchFamily="34" charset="0"/>
                <a:ea typeface="Courier New" pitchFamily="34" charset="-122"/>
                <a:cs typeface="Courier New" pitchFamily="34" charset="-120"/>
              </a:rPr>
              <a:t>camera_handler.py</a:t>
            </a:r>
            <a:endParaRPr lang="en-US" sz="850" dirty="0"/>
          </a:p>
        </p:txBody>
      </p:sp>
      <p:sp>
        <p:nvSpPr>
          <p:cNvPr id="11" name="Text 9"/>
          <p:cNvSpPr/>
          <p:nvPr/>
        </p:nvSpPr>
        <p:spPr>
          <a:xfrm>
            <a:off x="320040" y="2423160"/>
            <a:ext cx="1572768" cy="502920"/>
          </a:xfrm>
          <a:prstGeom prst="rect">
            <a:avLst/>
          </a:prstGeom>
          <a:noFill/>
          <a:ln/>
        </p:spPr>
        <p:txBody>
          <a:bodyPr wrap="square" rtlCol="0" anchor="ctr"/>
          <a:lstStyle/>
          <a:p>
            <a:pPr marL="0" indent="0" algn="ctr">
              <a:buNone/>
            </a:pPr>
            <a:r>
              <a:rPr lang="en-US" sz="1000" dirty="0">
                <a:solidFill>
                  <a:srgbClr val="5A6A7A"/>
                </a:solidFill>
                <a:latin typeface="Calibri" pitchFamily="34" charset="0"/>
                <a:ea typeface="Calibri" pitchFamily="34" charset="-122"/>
                <a:cs typeface="Calibri" pitchFamily="34" charset="-120"/>
              </a:rPr>
              <a:t>OpenCV VideoCapture</a:t>
            </a:r>
            <a:endParaRPr lang="en-US" sz="1000" dirty="0"/>
          </a:p>
          <a:p>
            <a:pPr marL="0" indent="0" algn="ctr">
              <a:buNone/>
            </a:pPr>
            <a:r>
              <a:rPr lang="en-US" sz="1000" dirty="0">
                <a:solidFill>
                  <a:srgbClr val="5A6A7A"/>
                </a:solidFill>
                <a:latin typeface="Calibri" pitchFamily="34" charset="0"/>
                <a:ea typeface="Calibri" pitchFamily="34" charset="-122"/>
                <a:cs typeface="Calibri" pitchFamily="34" charset="-120"/>
              </a:rPr>
              <a:t>640×480 BGR</a:t>
            </a:r>
            <a:endParaRPr lang="en-US" sz="1000" dirty="0"/>
          </a:p>
        </p:txBody>
      </p:sp>
      <p:sp>
        <p:nvSpPr>
          <p:cNvPr id="12" name="Text 10"/>
          <p:cNvSpPr/>
          <p:nvPr/>
        </p:nvSpPr>
        <p:spPr>
          <a:xfrm>
            <a:off x="1892808" y="1874520"/>
            <a:ext cx="146304" cy="457200"/>
          </a:xfrm>
          <a:prstGeom prst="rect">
            <a:avLst/>
          </a:prstGeom>
          <a:noFill/>
          <a:ln/>
        </p:spPr>
        <p:txBody>
          <a:bodyPr wrap="square" rtlCol="0" anchor="ctr"/>
          <a:lstStyle/>
          <a:p>
            <a:pPr marL="0" indent="0" algn="ctr">
              <a:buNone/>
            </a:pPr>
            <a:r>
              <a:rPr lang="en-US" sz="1800" b="1" dirty="0">
                <a:solidFill>
                  <a:srgbClr val="0A7EA4"/>
                </a:solidFill>
              </a:rPr>
              <a:t>→</a:t>
            </a:r>
            <a:endParaRPr lang="en-US" sz="1800" dirty="0"/>
          </a:p>
        </p:txBody>
      </p:sp>
      <p:sp>
        <p:nvSpPr>
          <p:cNvPr id="13" name="Shape 11"/>
          <p:cNvSpPr/>
          <p:nvPr/>
        </p:nvSpPr>
        <p:spPr>
          <a:xfrm>
            <a:off x="2039112" y="1234440"/>
            <a:ext cx="1572768" cy="1828800"/>
          </a:xfrm>
          <a:prstGeom prst="rect">
            <a:avLst/>
          </a:prstGeom>
          <a:solidFill>
            <a:srgbClr val="FFFFFF"/>
          </a:solidFill>
          <a:ln w="15240">
            <a:solidFill>
              <a:srgbClr val="0A7EA4"/>
            </a:solidFill>
            <a:prstDash val="solid"/>
          </a:ln>
          <a:effectLst>
            <a:outerShdw blurRad="63500" dist="25400" dir="8100000" algn="bl" rotWithShape="0">
              <a:srgbClr val="000000">
                <a:alpha val="10000"/>
              </a:srgbClr>
            </a:outerShdw>
          </a:effectLst>
        </p:spPr>
        <p:txBody>
          <a:bodyPr/>
          <a:lstStyle/>
          <a:p>
            <a:endParaRPr lang="fr-FR"/>
          </a:p>
        </p:txBody>
      </p:sp>
      <p:sp>
        <p:nvSpPr>
          <p:cNvPr id="14" name="Shape 12"/>
          <p:cNvSpPr/>
          <p:nvPr/>
        </p:nvSpPr>
        <p:spPr>
          <a:xfrm>
            <a:off x="2039112" y="1234440"/>
            <a:ext cx="1572768" cy="384048"/>
          </a:xfrm>
          <a:prstGeom prst="rect">
            <a:avLst/>
          </a:prstGeom>
          <a:solidFill>
            <a:srgbClr val="0A7EA4"/>
          </a:solidFill>
          <a:ln w="12700">
            <a:solidFill>
              <a:srgbClr val="0A7EA4"/>
            </a:solidFill>
            <a:prstDash val="solid"/>
          </a:ln>
        </p:spPr>
        <p:txBody>
          <a:bodyPr/>
          <a:lstStyle/>
          <a:p>
            <a:endParaRPr lang="fr-FR"/>
          </a:p>
        </p:txBody>
      </p:sp>
      <p:sp>
        <p:nvSpPr>
          <p:cNvPr id="15" name="Text 13"/>
          <p:cNvSpPr/>
          <p:nvPr/>
        </p:nvSpPr>
        <p:spPr>
          <a:xfrm>
            <a:off x="2039112" y="1234440"/>
            <a:ext cx="1572768" cy="384048"/>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Détection</a:t>
            </a:r>
            <a:endParaRPr lang="en-US" sz="1100" dirty="0"/>
          </a:p>
        </p:txBody>
      </p:sp>
      <p:sp>
        <p:nvSpPr>
          <p:cNvPr id="16" name="Text 14"/>
          <p:cNvSpPr/>
          <p:nvPr/>
        </p:nvSpPr>
        <p:spPr>
          <a:xfrm>
            <a:off x="2039112" y="1618488"/>
            <a:ext cx="1572768" cy="457200"/>
          </a:xfrm>
          <a:prstGeom prst="rect">
            <a:avLst/>
          </a:prstGeom>
          <a:noFill/>
          <a:ln/>
        </p:spPr>
        <p:txBody>
          <a:bodyPr wrap="square" rtlCol="0" anchor="ctr"/>
          <a:lstStyle/>
          <a:p>
            <a:pPr marL="0" indent="0" algn="ctr">
              <a:buNone/>
            </a:pPr>
            <a:endParaRPr lang="en-US" sz="2400" dirty="0"/>
          </a:p>
        </p:txBody>
      </p:sp>
      <p:sp>
        <p:nvSpPr>
          <p:cNvPr id="17" name="Text 15"/>
          <p:cNvSpPr/>
          <p:nvPr/>
        </p:nvSpPr>
        <p:spPr>
          <a:xfrm>
            <a:off x="2039112" y="2075688"/>
            <a:ext cx="1572768" cy="347472"/>
          </a:xfrm>
          <a:prstGeom prst="rect">
            <a:avLst/>
          </a:prstGeom>
          <a:noFill/>
          <a:ln/>
        </p:spPr>
        <p:txBody>
          <a:bodyPr wrap="square" rtlCol="0" anchor="ctr"/>
          <a:lstStyle/>
          <a:p>
            <a:pPr marL="0" indent="0" algn="ctr">
              <a:buNone/>
            </a:pPr>
            <a:r>
              <a:rPr lang="en-US" sz="850" b="1" dirty="0">
                <a:solidFill>
                  <a:srgbClr val="0A7EA4"/>
                </a:solidFill>
                <a:latin typeface="Courier New" pitchFamily="34" charset="0"/>
                <a:ea typeface="Courier New" pitchFamily="34" charset="-122"/>
                <a:cs typeface="Courier New" pitchFamily="34" charset="-120"/>
              </a:rPr>
              <a:t>face_detector.py</a:t>
            </a:r>
            <a:endParaRPr lang="en-US" sz="850" dirty="0"/>
          </a:p>
        </p:txBody>
      </p:sp>
      <p:sp>
        <p:nvSpPr>
          <p:cNvPr id="18" name="Text 16"/>
          <p:cNvSpPr/>
          <p:nvPr/>
        </p:nvSpPr>
        <p:spPr>
          <a:xfrm>
            <a:off x="2039112" y="2423160"/>
            <a:ext cx="1572768" cy="502920"/>
          </a:xfrm>
          <a:prstGeom prst="rect">
            <a:avLst/>
          </a:prstGeom>
          <a:noFill/>
          <a:ln/>
        </p:spPr>
        <p:txBody>
          <a:bodyPr wrap="square" rtlCol="0" anchor="ctr"/>
          <a:lstStyle/>
          <a:p>
            <a:pPr marL="0" indent="0" algn="ctr">
              <a:buNone/>
            </a:pPr>
            <a:r>
              <a:rPr lang="en-US" sz="1000" dirty="0">
                <a:solidFill>
                  <a:srgbClr val="5A6A7A"/>
                </a:solidFill>
                <a:latin typeface="Calibri" pitchFamily="34" charset="0"/>
                <a:ea typeface="Calibri" pitchFamily="34" charset="-122"/>
                <a:cs typeface="Calibri" pitchFamily="34" charset="-120"/>
              </a:rPr>
              <a:t>MediaPipe / Haar</a:t>
            </a:r>
            <a:endParaRPr lang="en-US" sz="1000" dirty="0"/>
          </a:p>
          <a:p>
            <a:pPr marL="0" indent="0" algn="ctr">
              <a:buNone/>
            </a:pPr>
            <a:r>
              <a:rPr lang="en-US" sz="1000" dirty="0">
                <a:solidFill>
                  <a:srgbClr val="5A6A7A"/>
                </a:solidFill>
                <a:latin typeface="Calibri" pitchFamily="34" charset="0"/>
                <a:ea typeface="Calibri" pitchFamily="34" charset="-122"/>
                <a:cs typeface="Calibri" pitchFamily="34" charset="-120"/>
              </a:rPr>
              <a:t>align 160×160px</a:t>
            </a:r>
            <a:endParaRPr lang="en-US" sz="1000" dirty="0"/>
          </a:p>
        </p:txBody>
      </p:sp>
      <p:sp>
        <p:nvSpPr>
          <p:cNvPr id="19" name="Text 17"/>
          <p:cNvSpPr/>
          <p:nvPr/>
        </p:nvSpPr>
        <p:spPr>
          <a:xfrm>
            <a:off x="3611880" y="1874520"/>
            <a:ext cx="146304" cy="457200"/>
          </a:xfrm>
          <a:prstGeom prst="rect">
            <a:avLst/>
          </a:prstGeom>
          <a:noFill/>
          <a:ln/>
        </p:spPr>
        <p:txBody>
          <a:bodyPr wrap="square" rtlCol="0" anchor="ctr"/>
          <a:lstStyle/>
          <a:p>
            <a:pPr marL="0" indent="0" algn="ctr">
              <a:buNone/>
            </a:pPr>
            <a:r>
              <a:rPr lang="en-US" sz="1800" b="1" dirty="0">
                <a:solidFill>
                  <a:srgbClr val="0A7EA4"/>
                </a:solidFill>
              </a:rPr>
              <a:t>→</a:t>
            </a:r>
            <a:endParaRPr lang="en-US" sz="1800" dirty="0"/>
          </a:p>
        </p:txBody>
      </p:sp>
      <p:sp>
        <p:nvSpPr>
          <p:cNvPr id="20" name="Shape 18"/>
          <p:cNvSpPr/>
          <p:nvPr/>
        </p:nvSpPr>
        <p:spPr>
          <a:xfrm>
            <a:off x="3758184" y="1234440"/>
            <a:ext cx="1572768" cy="1828800"/>
          </a:xfrm>
          <a:prstGeom prst="rect">
            <a:avLst/>
          </a:prstGeom>
          <a:solidFill>
            <a:srgbClr val="FFFFFF"/>
          </a:solidFill>
          <a:ln w="15240">
            <a:solidFill>
              <a:srgbClr val="1B3A6B"/>
            </a:solidFill>
            <a:prstDash val="solid"/>
          </a:ln>
          <a:effectLst>
            <a:outerShdw blurRad="63500" dist="25400" dir="8100000" algn="bl" rotWithShape="0">
              <a:srgbClr val="000000">
                <a:alpha val="10000"/>
              </a:srgbClr>
            </a:outerShdw>
          </a:effectLst>
        </p:spPr>
        <p:txBody>
          <a:bodyPr/>
          <a:lstStyle/>
          <a:p>
            <a:endParaRPr lang="fr-FR"/>
          </a:p>
        </p:txBody>
      </p:sp>
      <p:sp>
        <p:nvSpPr>
          <p:cNvPr id="21" name="Shape 19"/>
          <p:cNvSpPr/>
          <p:nvPr/>
        </p:nvSpPr>
        <p:spPr>
          <a:xfrm>
            <a:off x="3758184" y="1234440"/>
            <a:ext cx="1572768" cy="384048"/>
          </a:xfrm>
          <a:prstGeom prst="rect">
            <a:avLst/>
          </a:prstGeom>
          <a:solidFill>
            <a:srgbClr val="1B3A6B"/>
          </a:solidFill>
          <a:ln w="12700">
            <a:solidFill>
              <a:srgbClr val="1B3A6B"/>
            </a:solidFill>
            <a:prstDash val="solid"/>
          </a:ln>
        </p:spPr>
        <p:txBody>
          <a:bodyPr/>
          <a:lstStyle/>
          <a:p>
            <a:endParaRPr lang="fr-FR"/>
          </a:p>
        </p:txBody>
      </p:sp>
      <p:sp>
        <p:nvSpPr>
          <p:cNvPr id="22" name="Text 20"/>
          <p:cNvSpPr/>
          <p:nvPr/>
        </p:nvSpPr>
        <p:spPr>
          <a:xfrm>
            <a:off x="3758184" y="1234440"/>
            <a:ext cx="1572768" cy="384048"/>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Encodage</a:t>
            </a:r>
            <a:endParaRPr lang="en-US" sz="1100" dirty="0"/>
          </a:p>
        </p:txBody>
      </p:sp>
      <p:sp>
        <p:nvSpPr>
          <p:cNvPr id="23" name="Text 21"/>
          <p:cNvSpPr/>
          <p:nvPr/>
        </p:nvSpPr>
        <p:spPr>
          <a:xfrm>
            <a:off x="3758184" y="1618488"/>
            <a:ext cx="1572768" cy="457200"/>
          </a:xfrm>
          <a:prstGeom prst="rect">
            <a:avLst/>
          </a:prstGeom>
          <a:noFill/>
          <a:ln/>
        </p:spPr>
        <p:txBody>
          <a:bodyPr wrap="square" rtlCol="0" anchor="ctr"/>
          <a:lstStyle/>
          <a:p>
            <a:pPr marL="0" indent="0" algn="ctr">
              <a:buNone/>
            </a:pPr>
            <a:endParaRPr lang="en-US" sz="2400" dirty="0"/>
          </a:p>
        </p:txBody>
      </p:sp>
      <p:sp>
        <p:nvSpPr>
          <p:cNvPr id="24" name="Text 22"/>
          <p:cNvSpPr/>
          <p:nvPr/>
        </p:nvSpPr>
        <p:spPr>
          <a:xfrm>
            <a:off x="3758184" y="2075688"/>
            <a:ext cx="1572768" cy="347472"/>
          </a:xfrm>
          <a:prstGeom prst="rect">
            <a:avLst/>
          </a:prstGeom>
          <a:noFill/>
          <a:ln/>
        </p:spPr>
        <p:txBody>
          <a:bodyPr wrap="square" rtlCol="0" anchor="ctr"/>
          <a:lstStyle/>
          <a:p>
            <a:pPr marL="0" indent="0" algn="ctr">
              <a:buNone/>
            </a:pPr>
            <a:r>
              <a:rPr lang="en-US" sz="850" b="1" dirty="0">
                <a:solidFill>
                  <a:srgbClr val="1B3A6B"/>
                </a:solidFill>
                <a:latin typeface="Courier New" pitchFamily="34" charset="0"/>
                <a:ea typeface="Courier New" pitchFamily="34" charset="-122"/>
                <a:cs typeface="Courier New" pitchFamily="34" charset="-120"/>
              </a:rPr>
              <a:t>face_encoder.py</a:t>
            </a:r>
            <a:endParaRPr lang="en-US" sz="850" dirty="0"/>
          </a:p>
        </p:txBody>
      </p:sp>
      <p:sp>
        <p:nvSpPr>
          <p:cNvPr id="25" name="Text 23"/>
          <p:cNvSpPr/>
          <p:nvPr/>
        </p:nvSpPr>
        <p:spPr>
          <a:xfrm>
            <a:off x="3758184" y="2423160"/>
            <a:ext cx="1572768" cy="502920"/>
          </a:xfrm>
          <a:prstGeom prst="rect">
            <a:avLst/>
          </a:prstGeom>
          <a:noFill/>
          <a:ln/>
        </p:spPr>
        <p:txBody>
          <a:bodyPr wrap="square" rtlCol="0" anchor="ctr"/>
          <a:lstStyle/>
          <a:p>
            <a:pPr marL="0" indent="0" algn="ctr">
              <a:buNone/>
            </a:pPr>
            <a:r>
              <a:rPr lang="en-US" sz="1000" dirty="0">
                <a:solidFill>
                  <a:srgbClr val="5A6A7A"/>
                </a:solidFill>
                <a:latin typeface="Calibri" pitchFamily="34" charset="0"/>
                <a:ea typeface="Calibri" pitchFamily="34" charset="-122"/>
                <a:cs typeface="Calibri" pitchFamily="34" charset="-120"/>
              </a:rPr>
              <a:t>InsightFace ArcFace</a:t>
            </a:r>
            <a:endParaRPr lang="en-US" sz="1000" dirty="0"/>
          </a:p>
          <a:p>
            <a:pPr marL="0" indent="0" algn="ctr">
              <a:buNone/>
            </a:pPr>
            <a:r>
              <a:rPr lang="en-US" sz="1000" dirty="0">
                <a:solidFill>
                  <a:srgbClr val="5A6A7A"/>
                </a:solidFill>
                <a:latin typeface="Calibri" pitchFamily="34" charset="0"/>
                <a:ea typeface="Calibri" pitchFamily="34" charset="-122"/>
                <a:cs typeface="Calibri" pitchFamily="34" charset="-120"/>
              </a:rPr>
              <a:t>Embedding 512D</a:t>
            </a:r>
            <a:endParaRPr lang="en-US" sz="1000" dirty="0"/>
          </a:p>
        </p:txBody>
      </p:sp>
      <p:sp>
        <p:nvSpPr>
          <p:cNvPr id="26" name="Text 24"/>
          <p:cNvSpPr/>
          <p:nvPr/>
        </p:nvSpPr>
        <p:spPr>
          <a:xfrm>
            <a:off x="5330952" y="1874520"/>
            <a:ext cx="146304" cy="457200"/>
          </a:xfrm>
          <a:prstGeom prst="rect">
            <a:avLst/>
          </a:prstGeom>
          <a:noFill/>
          <a:ln/>
        </p:spPr>
        <p:txBody>
          <a:bodyPr wrap="square" rtlCol="0" anchor="ctr"/>
          <a:lstStyle/>
          <a:p>
            <a:pPr marL="0" indent="0" algn="ctr">
              <a:buNone/>
            </a:pPr>
            <a:r>
              <a:rPr lang="en-US" sz="1800" b="1" dirty="0">
                <a:solidFill>
                  <a:srgbClr val="0A7EA4"/>
                </a:solidFill>
              </a:rPr>
              <a:t>→</a:t>
            </a:r>
            <a:endParaRPr lang="en-US" sz="1800" dirty="0"/>
          </a:p>
        </p:txBody>
      </p:sp>
      <p:sp>
        <p:nvSpPr>
          <p:cNvPr id="27" name="Shape 25"/>
          <p:cNvSpPr/>
          <p:nvPr/>
        </p:nvSpPr>
        <p:spPr>
          <a:xfrm>
            <a:off x="5477256" y="1234440"/>
            <a:ext cx="1572768" cy="1828800"/>
          </a:xfrm>
          <a:prstGeom prst="rect">
            <a:avLst/>
          </a:prstGeom>
          <a:solidFill>
            <a:srgbClr val="FFFFFF"/>
          </a:solidFill>
          <a:ln w="15240">
            <a:solidFill>
              <a:srgbClr val="1B3A6B"/>
            </a:solidFill>
            <a:prstDash val="solid"/>
          </a:ln>
          <a:effectLst>
            <a:outerShdw blurRad="63500" dist="25400" dir="8100000" algn="bl" rotWithShape="0">
              <a:srgbClr val="000000">
                <a:alpha val="10000"/>
              </a:srgbClr>
            </a:outerShdw>
          </a:effectLst>
        </p:spPr>
        <p:txBody>
          <a:bodyPr/>
          <a:lstStyle/>
          <a:p>
            <a:endParaRPr lang="fr-FR"/>
          </a:p>
        </p:txBody>
      </p:sp>
      <p:sp>
        <p:nvSpPr>
          <p:cNvPr id="28" name="Shape 26"/>
          <p:cNvSpPr/>
          <p:nvPr/>
        </p:nvSpPr>
        <p:spPr>
          <a:xfrm>
            <a:off x="5477256" y="1234440"/>
            <a:ext cx="1572768" cy="384048"/>
          </a:xfrm>
          <a:prstGeom prst="rect">
            <a:avLst/>
          </a:prstGeom>
          <a:solidFill>
            <a:srgbClr val="1B3A6B"/>
          </a:solidFill>
          <a:ln w="12700">
            <a:solidFill>
              <a:srgbClr val="1B3A6B"/>
            </a:solidFill>
            <a:prstDash val="solid"/>
          </a:ln>
        </p:spPr>
        <p:txBody>
          <a:bodyPr/>
          <a:lstStyle/>
          <a:p>
            <a:endParaRPr lang="fr-FR"/>
          </a:p>
        </p:txBody>
      </p:sp>
      <p:sp>
        <p:nvSpPr>
          <p:cNvPr id="29" name="Text 27"/>
          <p:cNvSpPr/>
          <p:nvPr/>
        </p:nvSpPr>
        <p:spPr>
          <a:xfrm>
            <a:off x="5477256" y="1234440"/>
            <a:ext cx="1572768" cy="384048"/>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Matching</a:t>
            </a:r>
            <a:endParaRPr lang="en-US" sz="1100" dirty="0"/>
          </a:p>
        </p:txBody>
      </p:sp>
      <p:sp>
        <p:nvSpPr>
          <p:cNvPr id="30" name="Text 28"/>
          <p:cNvSpPr/>
          <p:nvPr/>
        </p:nvSpPr>
        <p:spPr>
          <a:xfrm>
            <a:off x="5477256" y="1618488"/>
            <a:ext cx="1572768" cy="457200"/>
          </a:xfrm>
          <a:prstGeom prst="rect">
            <a:avLst/>
          </a:prstGeom>
          <a:noFill/>
          <a:ln/>
        </p:spPr>
        <p:txBody>
          <a:bodyPr wrap="square" rtlCol="0" anchor="ctr"/>
          <a:lstStyle/>
          <a:p>
            <a:pPr marL="0" indent="0" algn="ctr">
              <a:buNone/>
            </a:pPr>
            <a:endParaRPr lang="en-US" sz="2400" dirty="0"/>
          </a:p>
        </p:txBody>
      </p:sp>
      <p:sp>
        <p:nvSpPr>
          <p:cNvPr id="31" name="Text 29"/>
          <p:cNvSpPr/>
          <p:nvPr/>
        </p:nvSpPr>
        <p:spPr>
          <a:xfrm>
            <a:off x="5477256" y="2075688"/>
            <a:ext cx="1572768" cy="347472"/>
          </a:xfrm>
          <a:prstGeom prst="rect">
            <a:avLst/>
          </a:prstGeom>
          <a:noFill/>
          <a:ln/>
        </p:spPr>
        <p:txBody>
          <a:bodyPr wrap="square" rtlCol="0" anchor="ctr"/>
          <a:lstStyle/>
          <a:p>
            <a:pPr marL="0" indent="0" algn="ctr">
              <a:buNone/>
            </a:pPr>
            <a:r>
              <a:rPr lang="en-US" sz="850" b="1" dirty="0">
                <a:solidFill>
                  <a:srgbClr val="1B3A6B"/>
                </a:solidFill>
                <a:latin typeface="Courier New" pitchFamily="34" charset="0"/>
                <a:ea typeface="Courier New" pitchFamily="34" charset="-122"/>
                <a:cs typeface="Courier New" pitchFamily="34" charset="-120"/>
              </a:rPr>
              <a:t>authenticator.py</a:t>
            </a:r>
            <a:endParaRPr lang="en-US" sz="850" dirty="0"/>
          </a:p>
        </p:txBody>
      </p:sp>
      <p:sp>
        <p:nvSpPr>
          <p:cNvPr id="32" name="Text 30"/>
          <p:cNvSpPr/>
          <p:nvPr/>
        </p:nvSpPr>
        <p:spPr>
          <a:xfrm>
            <a:off x="5477256" y="2423160"/>
            <a:ext cx="1572768" cy="502920"/>
          </a:xfrm>
          <a:prstGeom prst="rect">
            <a:avLst/>
          </a:prstGeom>
          <a:noFill/>
          <a:ln/>
        </p:spPr>
        <p:txBody>
          <a:bodyPr wrap="square" rtlCol="0" anchor="ctr"/>
          <a:lstStyle/>
          <a:p>
            <a:pPr marL="0" indent="0" algn="ctr">
              <a:buNone/>
            </a:pPr>
            <a:r>
              <a:rPr lang="en-US" sz="1000" dirty="0">
                <a:solidFill>
                  <a:srgbClr val="5A6A7A"/>
                </a:solidFill>
                <a:latin typeface="Calibri" pitchFamily="34" charset="0"/>
                <a:ea typeface="Calibri" pitchFamily="34" charset="-122"/>
                <a:cs typeface="Calibri" pitchFamily="34" charset="-120"/>
              </a:rPr>
              <a:t>Cosinus similarité</a:t>
            </a:r>
            <a:endParaRPr lang="en-US" sz="1000" dirty="0"/>
          </a:p>
          <a:p>
            <a:pPr marL="0" indent="0" algn="ctr">
              <a:buNone/>
            </a:pPr>
            <a:r>
              <a:rPr lang="en-US" sz="1000" dirty="0">
                <a:solidFill>
                  <a:srgbClr val="5A6A7A"/>
                </a:solidFill>
                <a:latin typeface="Calibri" pitchFamily="34" charset="0"/>
                <a:ea typeface="Calibri" pitchFamily="34" charset="-122"/>
                <a:cs typeface="Calibri" pitchFamily="34" charset="-120"/>
              </a:rPr>
              <a:t>Seuil ≥ 0.40</a:t>
            </a:r>
            <a:endParaRPr lang="en-US" sz="1000" dirty="0"/>
          </a:p>
        </p:txBody>
      </p:sp>
      <p:sp>
        <p:nvSpPr>
          <p:cNvPr id="33" name="Text 31"/>
          <p:cNvSpPr/>
          <p:nvPr/>
        </p:nvSpPr>
        <p:spPr>
          <a:xfrm>
            <a:off x="7050024" y="1874520"/>
            <a:ext cx="146304" cy="457200"/>
          </a:xfrm>
          <a:prstGeom prst="rect">
            <a:avLst/>
          </a:prstGeom>
          <a:noFill/>
          <a:ln/>
        </p:spPr>
        <p:txBody>
          <a:bodyPr wrap="square" rtlCol="0" anchor="ctr"/>
          <a:lstStyle/>
          <a:p>
            <a:pPr marL="0" indent="0" algn="ctr">
              <a:buNone/>
            </a:pPr>
            <a:r>
              <a:rPr lang="en-US" sz="1800" b="1" dirty="0">
                <a:solidFill>
                  <a:srgbClr val="0A7EA4"/>
                </a:solidFill>
              </a:rPr>
              <a:t>→</a:t>
            </a:r>
            <a:endParaRPr lang="en-US" sz="1800" dirty="0"/>
          </a:p>
        </p:txBody>
      </p:sp>
      <p:sp>
        <p:nvSpPr>
          <p:cNvPr id="34" name="Shape 32"/>
          <p:cNvSpPr/>
          <p:nvPr/>
        </p:nvSpPr>
        <p:spPr>
          <a:xfrm>
            <a:off x="7196328" y="1234440"/>
            <a:ext cx="1572768" cy="1828800"/>
          </a:xfrm>
          <a:prstGeom prst="rect">
            <a:avLst/>
          </a:prstGeom>
          <a:solidFill>
            <a:srgbClr val="FFFFFF"/>
          </a:solidFill>
          <a:ln w="15240">
            <a:solidFill>
              <a:srgbClr val="1A7A4A"/>
            </a:solidFill>
            <a:prstDash val="solid"/>
          </a:ln>
          <a:effectLst>
            <a:outerShdw blurRad="63500" dist="25400" dir="8100000" algn="bl" rotWithShape="0">
              <a:srgbClr val="000000">
                <a:alpha val="10000"/>
              </a:srgbClr>
            </a:outerShdw>
          </a:effectLst>
        </p:spPr>
        <p:txBody>
          <a:bodyPr/>
          <a:lstStyle/>
          <a:p>
            <a:endParaRPr lang="fr-FR"/>
          </a:p>
        </p:txBody>
      </p:sp>
      <p:sp>
        <p:nvSpPr>
          <p:cNvPr id="35" name="Shape 33"/>
          <p:cNvSpPr/>
          <p:nvPr/>
        </p:nvSpPr>
        <p:spPr>
          <a:xfrm>
            <a:off x="7196328" y="1234440"/>
            <a:ext cx="1572768" cy="384048"/>
          </a:xfrm>
          <a:prstGeom prst="rect">
            <a:avLst/>
          </a:prstGeom>
          <a:solidFill>
            <a:srgbClr val="1A7A4A"/>
          </a:solidFill>
          <a:ln w="12700">
            <a:solidFill>
              <a:srgbClr val="1A7A4A"/>
            </a:solidFill>
            <a:prstDash val="solid"/>
          </a:ln>
        </p:spPr>
        <p:txBody>
          <a:bodyPr/>
          <a:lstStyle/>
          <a:p>
            <a:endParaRPr lang="fr-FR"/>
          </a:p>
        </p:txBody>
      </p:sp>
      <p:sp>
        <p:nvSpPr>
          <p:cNvPr id="36" name="Text 34"/>
          <p:cNvSpPr/>
          <p:nvPr/>
        </p:nvSpPr>
        <p:spPr>
          <a:xfrm>
            <a:off x="7196328" y="1234440"/>
            <a:ext cx="1572768" cy="384048"/>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Contrôle</a:t>
            </a:r>
            <a:endParaRPr lang="en-US" sz="1100" dirty="0"/>
          </a:p>
        </p:txBody>
      </p:sp>
      <p:sp>
        <p:nvSpPr>
          <p:cNvPr id="37" name="Text 35"/>
          <p:cNvSpPr/>
          <p:nvPr/>
        </p:nvSpPr>
        <p:spPr>
          <a:xfrm>
            <a:off x="7196328" y="1618488"/>
            <a:ext cx="1572768" cy="457200"/>
          </a:xfrm>
          <a:prstGeom prst="rect">
            <a:avLst/>
          </a:prstGeom>
          <a:noFill/>
          <a:ln/>
        </p:spPr>
        <p:txBody>
          <a:bodyPr wrap="square" rtlCol="0" anchor="ctr"/>
          <a:lstStyle/>
          <a:p>
            <a:pPr marL="0" indent="0" algn="ctr">
              <a:buNone/>
            </a:pPr>
            <a:endParaRPr lang="en-US" sz="2400" dirty="0"/>
          </a:p>
        </p:txBody>
      </p:sp>
      <p:sp>
        <p:nvSpPr>
          <p:cNvPr id="38" name="Text 36"/>
          <p:cNvSpPr/>
          <p:nvPr/>
        </p:nvSpPr>
        <p:spPr>
          <a:xfrm>
            <a:off x="7196328" y="2075688"/>
            <a:ext cx="1572768" cy="347472"/>
          </a:xfrm>
          <a:prstGeom prst="rect">
            <a:avLst/>
          </a:prstGeom>
          <a:noFill/>
          <a:ln/>
        </p:spPr>
        <p:txBody>
          <a:bodyPr wrap="square" rtlCol="0" anchor="ctr"/>
          <a:lstStyle/>
          <a:p>
            <a:pPr marL="0" indent="0" algn="ctr">
              <a:buNone/>
            </a:pPr>
            <a:r>
              <a:rPr lang="en-US" sz="850" b="1" dirty="0">
                <a:solidFill>
                  <a:srgbClr val="1A7A4A"/>
                </a:solidFill>
                <a:latin typeface="Courier New" pitchFamily="34" charset="0"/>
                <a:ea typeface="Courier New" pitchFamily="34" charset="-122"/>
                <a:cs typeface="Courier New" pitchFamily="34" charset="-120"/>
              </a:rPr>
              <a:t>system_controller.py</a:t>
            </a:r>
            <a:endParaRPr lang="en-US" sz="850" dirty="0"/>
          </a:p>
        </p:txBody>
      </p:sp>
      <p:sp>
        <p:nvSpPr>
          <p:cNvPr id="39" name="Text 37"/>
          <p:cNvSpPr/>
          <p:nvPr/>
        </p:nvSpPr>
        <p:spPr>
          <a:xfrm>
            <a:off x="7196328" y="2423160"/>
            <a:ext cx="1572768" cy="502920"/>
          </a:xfrm>
          <a:prstGeom prst="rect">
            <a:avLst/>
          </a:prstGeom>
          <a:noFill/>
          <a:ln/>
        </p:spPr>
        <p:txBody>
          <a:bodyPr wrap="square" rtlCol="0" anchor="ctr"/>
          <a:lstStyle/>
          <a:p>
            <a:pPr marL="0" indent="0" algn="ctr">
              <a:buNone/>
            </a:pPr>
            <a:r>
              <a:rPr lang="en-US" sz="1000" dirty="0">
                <a:solidFill>
                  <a:srgbClr val="5A6A7A"/>
                </a:solidFill>
                <a:latin typeface="Calibri" pitchFamily="34" charset="0"/>
                <a:ea typeface="Calibri" pitchFamily="34" charset="-122"/>
                <a:cs typeface="Calibri" pitchFamily="34" charset="-120"/>
              </a:rPr>
              <a:t>LockWorkStation()</a:t>
            </a:r>
            <a:endParaRPr lang="en-US" sz="1000" dirty="0"/>
          </a:p>
          <a:p>
            <a:pPr marL="0" indent="0" algn="ctr">
              <a:buNone/>
            </a:pPr>
            <a:r>
              <a:rPr lang="en-US" sz="1000" dirty="0">
                <a:solidFill>
                  <a:srgbClr val="5A6A7A"/>
                </a:solidFill>
                <a:latin typeface="Calibri" pitchFamily="34" charset="0"/>
                <a:ea typeface="Calibri" pitchFamily="34" charset="-122"/>
                <a:cs typeface="Calibri" pitchFamily="34" charset="-120"/>
              </a:rPr>
              <a:t>Win32 API</a:t>
            </a:r>
            <a:endParaRPr lang="en-US" sz="1000" dirty="0"/>
          </a:p>
        </p:txBody>
      </p:sp>
      <p:sp>
        <p:nvSpPr>
          <p:cNvPr id="40" name="Shape 38"/>
          <p:cNvSpPr/>
          <p:nvPr/>
        </p:nvSpPr>
        <p:spPr>
          <a:xfrm>
            <a:off x="320040" y="3246120"/>
            <a:ext cx="8503920" cy="0"/>
          </a:xfrm>
          <a:prstGeom prst="line">
            <a:avLst/>
          </a:prstGeom>
          <a:noFill/>
          <a:ln w="12700">
            <a:solidFill>
              <a:srgbClr val="C5D5E8"/>
            </a:solidFill>
            <a:prstDash val="solid"/>
          </a:ln>
        </p:spPr>
        <p:txBody>
          <a:bodyPr/>
          <a:lstStyle/>
          <a:p>
            <a:endParaRPr lang="fr-FR"/>
          </a:p>
        </p:txBody>
      </p:sp>
      <p:sp>
        <p:nvSpPr>
          <p:cNvPr id="41" name="Text 39"/>
          <p:cNvSpPr/>
          <p:nvPr/>
        </p:nvSpPr>
        <p:spPr>
          <a:xfrm>
            <a:off x="320040" y="3310128"/>
            <a:ext cx="2743200" cy="256032"/>
          </a:xfrm>
          <a:prstGeom prst="rect">
            <a:avLst/>
          </a:prstGeom>
          <a:noFill/>
          <a:ln/>
        </p:spPr>
        <p:txBody>
          <a:bodyPr wrap="square" rtlCol="0" anchor="ctr"/>
          <a:lstStyle/>
          <a:p>
            <a:pPr marL="0" indent="0">
              <a:buNone/>
            </a:pPr>
            <a:r>
              <a:rPr lang="en-US" sz="1200" b="1" dirty="0">
                <a:solidFill>
                  <a:srgbClr val="1B3A6B"/>
                </a:solidFill>
                <a:latin typeface="Calibri" pitchFamily="34" charset="0"/>
                <a:ea typeface="Calibri" pitchFamily="34" charset="-122"/>
                <a:cs typeface="Calibri" pitchFamily="34" charset="-120"/>
              </a:rPr>
              <a:t>Modules de Support</a:t>
            </a:r>
            <a:endParaRPr lang="en-US" sz="1200" dirty="0"/>
          </a:p>
        </p:txBody>
      </p:sp>
      <p:sp>
        <p:nvSpPr>
          <p:cNvPr id="42" name="Shape 40"/>
          <p:cNvSpPr/>
          <p:nvPr/>
        </p:nvSpPr>
        <p:spPr>
          <a:xfrm>
            <a:off x="320040" y="3611880"/>
            <a:ext cx="1965960" cy="822960"/>
          </a:xfrm>
          <a:prstGeom prst="rect">
            <a:avLst/>
          </a:prstGeom>
          <a:solidFill>
            <a:srgbClr val="ECF0F4"/>
          </a:solidFill>
          <a:ln w="15240">
            <a:solidFill>
              <a:srgbClr val="C5D5E8"/>
            </a:solidFill>
            <a:prstDash val="solid"/>
          </a:ln>
          <a:effectLst>
            <a:outerShdw blurRad="63500" dist="25400" dir="8100000" algn="bl" rotWithShape="0">
              <a:srgbClr val="000000">
                <a:alpha val="10000"/>
              </a:srgbClr>
            </a:outerShdw>
          </a:effectLst>
        </p:spPr>
        <p:txBody>
          <a:bodyPr/>
          <a:lstStyle/>
          <a:p>
            <a:endParaRPr lang="fr-FR"/>
          </a:p>
        </p:txBody>
      </p:sp>
      <p:sp>
        <p:nvSpPr>
          <p:cNvPr id="43" name="Text 41"/>
          <p:cNvSpPr/>
          <p:nvPr/>
        </p:nvSpPr>
        <p:spPr>
          <a:xfrm>
            <a:off x="411480" y="3657600"/>
            <a:ext cx="1828800" cy="274320"/>
          </a:xfrm>
          <a:prstGeom prst="rect">
            <a:avLst/>
          </a:prstGeom>
          <a:noFill/>
          <a:ln/>
        </p:spPr>
        <p:txBody>
          <a:bodyPr wrap="square" rtlCol="0" anchor="ctr"/>
          <a:lstStyle/>
          <a:p>
            <a:pPr marL="0" indent="0">
              <a:buNone/>
            </a:pPr>
            <a:r>
              <a:rPr lang="en-US" sz="1000" b="1" dirty="0">
                <a:solidFill>
                  <a:srgbClr val="0A7EA4"/>
                </a:solidFill>
                <a:latin typeface="Courier New" pitchFamily="34" charset="0"/>
                <a:ea typeface="Courier New" pitchFamily="34" charset="-122"/>
                <a:cs typeface="Courier New" pitchFamily="34" charset="-120"/>
              </a:rPr>
              <a:t>database.py</a:t>
            </a:r>
            <a:endParaRPr lang="en-US" sz="1000" dirty="0"/>
          </a:p>
        </p:txBody>
      </p:sp>
      <p:sp>
        <p:nvSpPr>
          <p:cNvPr id="44" name="Text 42"/>
          <p:cNvSpPr/>
          <p:nvPr/>
        </p:nvSpPr>
        <p:spPr>
          <a:xfrm>
            <a:off x="411480" y="3931920"/>
            <a:ext cx="1828800" cy="457200"/>
          </a:xfrm>
          <a:prstGeom prst="rect">
            <a:avLst/>
          </a:prstGeom>
          <a:noFill/>
          <a:ln/>
        </p:spPr>
        <p:txBody>
          <a:bodyPr wrap="square" rtlCol="0" anchor="ctr"/>
          <a:lstStyle/>
          <a:p>
            <a:pPr marL="0" indent="0">
              <a:buNone/>
            </a:pPr>
            <a:r>
              <a:rPr lang="en-US" sz="900" dirty="0">
                <a:solidFill>
                  <a:srgbClr val="5A6A7A"/>
                </a:solidFill>
                <a:latin typeface="Calibri" pitchFamily="34" charset="0"/>
                <a:ea typeface="Calibri" pitchFamily="34" charset="-122"/>
                <a:cs typeface="Calibri" pitchFamily="34" charset="-120"/>
              </a:rPr>
              <a:t>SQLite — 3 tables : users / embeddings / auth_log</a:t>
            </a:r>
            <a:endParaRPr lang="en-US" sz="900" dirty="0"/>
          </a:p>
        </p:txBody>
      </p:sp>
      <p:sp>
        <p:nvSpPr>
          <p:cNvPr id="45" name="Shape 43"/>
          <p:cNvSpPr/>
          <p:nvPr/>
        </p:nvSpPr>
        <p:spPr>
          <a:xfrm>
            <a:off x="2487168" y="3611880"/>
            <a:ext cx="1965960" cy="822960"/>
          </a:xfrm>
          <a:prstGeom prst="rect">
            <a:avLst/>
          </a:prstGeom>
          <a:solidFill>
            <a:srgbClr val="ECF0F4"/>
          </a:solidFill>
          <a:ln w="15240">
            <a:solidFill>
              <a:srgbClr val="C5D5E8"/>
            </a:solidFill>
            <a:prstDash val="solid"/>
          </a:ln>
          <a:effectLst>
            <a:outerShdw blurRad="63500" dist="25400" dir="8100000" algn="bl" rotWithShape="0">
              <a:srgbClr val="000000">
                <a:alpha val="10000"/>
              </a:srgbClr>
            </a:outerShdw>
          </a:effectLst>
        </p:spPr>
        <p:txBody>
          <a:bodyPr/>
          <a:lstStyle/>
          <a:p>
            <a:endParaRPr lang="fr-FR"/>
          </a:p>
        </p:txBody>
      </p:sp>
      <p:sp>
        <p:nvSpPr>
          <p:cNvPr id="46" name="Text 44"/>
          <p:cNvSpPr/>
          <p:nvPr/>
        </p:nvSpPr>
        <p:spPr>
          <a:xfrm>
            <a:off x="2578608" y="3657600"/>
            <a:ext cx="1828800" cy="274320"/>
          </a:xfrm>
          <a:prstGeom prst="rect">
            <a:avLst/>
          </a:prstGeom>
          <a:noFill/>
          <a:ln/>
        </p:spPr>
        <p:txBody>
          <a:bodyPr wrap="square" rtlCol="0" anchor="ctr"/>
          <a:lstStyle/>
          <a:p>
            <a:pPr marL="0" indent="0">
              <a:buNone/>
            </a:pPr>
            <a:r>
              <a:rPr lang="en-US" sz="1000" b="1" dirty="0">
                <a:solidFill>
                  <a:srgbClr val="0A7EA4"/>
                </a:solidFill>
                <a:latin typeface="Courier New" pitchFamily="34" charset="0"/>
                <a:ea typeface="Courier New" pitchFamily="34" charset="-122"/>
                <a:cs typeface="Courier New" pitchFamily="34" charset="-120"/>
              </a:rPr>
              <a:t>encryption.py</a:t>
            </a:r>
            <a:endParaRPr lang="en-US" sz="1000" dirty="0"/>
          </a:p>
        </p:txBody>
      </p:sp>
      <p:sp>
        <p:nvSpPr>
          <p:cNvPr id="47" name="Text 45"/>
          <p:cNvSpPr/>
          <p:nvPr/>
        </p:nvSpPr>
        <p:spPr>
          <a:xfrm>
            <a:off x="2578608" y="3931920"/>
            <a:ext cx="1828800" cy="457200"/>
          </a:xfrm>
          <a:prstGeom prst="rect">
            <a:avLst/>
          </a:prstGeom>
          <a:noFill/>
          <a:ln/>
        </p:spPr>
        <p:txBody>
          <a:bodyPr wrap="square" rtlCol="0" anchor="ctr"/>
          <a:lstStyle/>
          <a:p>
            <a:pPr marL="0" indent="0">
              <a:buNone/>
            </a:pPr>
            <a:r>
              <a:rPr lang="en-US" sz="900" dirty="0">
                <a:solidFill>
                  <a:srgbClr val="5A6A7A"/>
                </a:solidFill>
                <a:latin typeface="Calibri" pitchFamily="34" charset="0"/>
                <a:ea typeface="Calibri" pitchFamily="34" charset="-122"/>
                <a:cs typeface="Calibri" pitchFamily="34" charset="-120"/>
              </a:rPr>
              <a:t>Clé Fernet AES-256 — chiffrement de chaque embedding</a:t>
            </a:r>
            <a:endParaRPr lang="en-US" sz="900" dirty="0"/>
          </a:p>
        </p:txBody>
      </p:sp>
      <p:sp>
        <p:nvSpPr>
          <p:cNvPr id="48" name="Shape 46"/>
          <p:cNvSpPr/>
          <p:nvPr/>
        </p:nvSpPr>
        <p:spPr>
          <a:xfrm>
            <a:off x="4654296" y="3611880"/>
            <a:ext cx="1965960" cy="822960"/>
          </a:xfrm>
          <a:prstGeom prst="rect">
            <a:avLst/>
          </a:prstGeom>
          <a:solidFill>
            <a:srgbClr val="ECF0F4"/>
          </a:solidFill>
          <a:ln w="15240">
            <a:solidFill>
              <a:srgbClr val="C5D5E8"/>
            </a:solidFill>
            <a:prstDash val="solid"/>
          </a:ln>
          <a:effectLst>
            <a:outerShdw blurRad="63500" dist="25400" dir="8100000" algn="bl" rotWithShape="0">
              <a:srgbClr val="000000">
                <a:alpha val="10000"/>
              </a:srgbClr>
            </a:outerShdw>
          </a:effectLst>
        </p:spPr>
        <p:txBody>
          <a:bodyPr/>
          <a:lstStyle/>
          <a:p>
            <a:endParaRPr lang="fr-FR"/>
          </a:p>
        </p:txBody>
      </p:sp>
      <p:sp>
        <p:nvSpPr>
          <p:cNvPr id="49" name="Text 47"/>
          <p:cNvSpPr/>
          <p:nvPr/>
        </p:nvSpPr>
        <p:spPr>
          <a:xfrm>
            <a:off x="4745736" y="3657600"/>
            <a:ext cx="1828800" cy="274320"/>
          </a:xfrm>
          <a:prstGeom prst="rect">
            <a:avLst/>
          </a:prstGeom>
          <a:noFill/>
          <a:ln/>
        </p:spPr>
        <p:txBody>
          <a:bodyPr wrap="square" rtlCol="0" anchor="ctr"/>
          <a:lstStyle/>
          <a:p>
            <a:pPr marL="0" indent="0">
              <a:buNone/>
            </a:pPr>
            <a:r>
              <a:rPr lang="en-US" sz="1000" b="1" dirty="0">
                <a:solidFill>
                  <a:srgbClr val="0A7EA4"/>
                </a:solidFill>
                <a:latin typeface="Courier New" pitchFamily="34" charset="0"/>
                <a:ea typeface="Courier New" pitchFamily="34" charset="-122"/>
                <a:cs typeface="Courier New" pitchFamily="34" charset="-120"/>
              </a:rPr>
              <a:t>lock_overlay.py</a:t>
            </a:r>
            <a:endParaRPr lang="en-US" sz="1000" dirty="0"/>
          </a:p>
        </p:txBody>
      </p:sp>
      <p:sp>
        <p:nvSpPr>
          <p:cNvPr id="50" name="Text 48"/>
          <p:cNvSpPr/>
          <p:nvPr/>
        </p:nvSpPr>
        <p:spPr>
          <a:xfrm>
            <a:off x="4745736" y="3931920"/>
            <a:ext cx="1828800" cy="457200"/>
          </a:xfrm>
          <a:prstGeom prst="rect">
            <a:avLst/>
          </a:prstGeom>
          <a:noFill/>
          <a:ln/>
        </p:spPr>
        <p:txBody>
          <a:bodyPr wrap="square" rtlCol="0" anchor="ctr"/>
          <a:lstStyle/>
          <a:p>
            <a:pPr marL="0" indent="0">
              <a:buNone/>
            </a:pPr>
            <a:r>
              <a:rPr lang="en-US" sz="900" dirty="0">
                <a:solidFill>
                  <a:srgbClr val="5A6A7A"/>
                </a:solidFill>
                <a:latin typeface="Calibri" pitchFamily="34" charset="0"/>
                <a:ea typeface="Calibri" pitchFamily="34" charset="-122"/>
                <a:cs typeface="Calibri" pitchFamily="34" charset="-120"/>
              </a:rPr>
              <a:t>Écran de verrouillage Tkinter plein écran topmost</a:t>
            </a:r>
            <a:endParaRPr lang="en-US" sz="900" dirty="0"/>
          </a:p>
        </p:txBody>
      </p:sp>
      <p:sp>
        <p:nvSpPr>
          <p:cNvPr id="51" name="Shape 49"/>
          <p:cNvSpPr/>
          <p:nvPr/>
        </p:nvSpPr>
        <p:spPr>
          <a:xfrm>
            <a:off x="6821424" y="3611880"/>
            <a:ext cx="1965960" cy="822960"/>
          </a:xfrm>
          <a:prstGeom prst="rect">
            <a:avLst/>
          </a:prstGeom>
          <a:solidFill>
            <a:srgbClr val="ECF0F4"/>
          </a:solidFill>
          <a:ln w="15240">
            <a:solidFill>
              <a:srgbClr val="C5D5E8"/>
            </a:solidFill>
            <a:prstDash val="solid"/>
          </a:ln>
          <a:effectLst>
            <a:outerShdw blurRad="63500" dist="25400" dir="8100000" algn="bl" rotWithShape="0">
              <a:srgbClr val="000000">
                <a:alpha val="10000"/>
              </a:srgbClr>
            </a:outerShdw>
          </a:effectLst>
        </p:spPr>
        <p:txBody>
          <a:bodyPr/>
          <a:lstStyle/>
          <a:p>
            <a:endParaRPr lang="fr-FR"/>
          </a:p>
        </p:txBody>
      </p:sp>
      <p:sp>
        <p:nvSpPr>
          <p:cNvPr id="52" name="Text 50"/>
          <p:cNvSpPr/>
          <p:nvPr/>
        </p:nvSpPr>
        <p:spPr>
          <a:xfrm>
            <a:off x="6912864" y="3657600"/>
            <a:ext cx="1828800" cy="274320"/>
          </a:xfrm>
          <a:prstGeom prst="rect">
            <a:avLst/>
          </a:prstGeom>
          <a:noFill/>
          <a:ln/>
        </p:spPr>
        <p:txBody>
          <a:bodyPr wrap="square" rtlCol="0" anchor="ctr"/>
          <a:lstStyle/>
          <a:p>
            <a:pPr marL="0" indent="0">
              <a:buNone/>
            </a:pPr>
            <a:r>
              <a:rPr lang="en-US" sz="1000" b="1" dirty="0">
                <a:solidFill>
                  <a:srgbClr val="0A7EA4"/>
                </a:solidFill>
                <a:latin typeface="Courier New" pitchFamily="34" charset="0"/>
                <a:ea typeface="Courier New" pitchFamily="34" charset="-122"/>
                <a:cs typeface="Courier New" pitchFamily="34" charset="-120"/>
              </a:rPr>
              <a:t>main_window.py</a:t>
            </a:r>
            <a:endParaRPr lang="en-US" sz="1000" dirty="0"/>
          </a:p>
        </p:txBody>
      </p:sp>
      <p:sp>
        <p:nvSpPr>
          <p:cNvPr id="53" name="Text 51"/>
          <p:cNvSpPr/>
          <p:nvPr/>
        </p:nvSpPr>
        <p:spPr>
          <a:xfrm>
            <a:off x="6912864" y="3931920"/>
            <a:ext cx="1828800" cy="457200"/>
          </a:xfrm>
          <a:prstGeom prst="rect">
            <a:avLst/>
          </a:prstGeom>
          <a:noFill/>
          <a:ln/>
        </p:spPr>
        <p:txBody>
          <a:bodyPr wrap="square" rtlCol="0" anchor="ctr"/>
          <a:lstStyle/>
          <a:p>
            <a:pPr marL="0" indent="0">
              <a:buNone/>
            </a:pPr>
            <a:r>
              <a:rPr lang="en-US" sz="900" dirty="0">
                <a:solidFill>
                  <a:srgbClr val="5A6A7A"/>
                </a:solidFill>
                <a:latin typeface="Calibri" pitchFamily="34" charset="0"/>
                <a:ea typeface="Calibri" pitchFamily="34" charset="-122"/>
                <a:cs typeface="Calibri" pitchFamily="34" charset="-120"/>
              </a:rPr>
              <a:t>Interface CustomTkinter 4 onglets</a:t>
            </a:r>
            <a:endParaRPr lang="en-US" sz="900" dirty="0"/>
          </a:p>
        </p:txBody>
      </p:sp>
      <p:sp>
        <p:nvSpPr>
          <p:cNvPr id="56" name="Text 54"/>
          <p:cNvSpPr/>
          <p:nvPr/>
        </p:nvSpPr>
        <p:spPr>
          <a:xfrm>
            <a:off x="7772400" y="4974336"/>
            <a:ext cx="1097280" cy="164592"/>
          </a:xfrm>
          <a:prstGeom prst="rect">
            <a:avLst/>
          </a:prstGeom>
          <a:noFill/>
          <a:ln/>
        </p:spPr>
        <p:txBody>
          <a:bodyPr wrap="square" rtlCol="0" anchor="ctr"/>
          <a:lstStyle/>
          <a:p>
            <a:pPr marL="0" indent="0" algn="r">
              <a:buNone/>
            </a:pPr>
            <a:r>
              <a:rPr lang="en-US" sz="900" dirty="0">
                <a:solidFill>
                  <a:srgbClr val="5A6A7A"/>
                </a:solidFill>
                <a:latin typeface="Calibri" pitchFamily="34" charset="0"/>
                <a:ea typeface="Calibri" pitchFamily="34" charset="-122"/>
                <a:cs typeface="Calibri" pitchFamily="34" charset="-120"/>
              </a:rPr>
              <a:t>5 / 16</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1B3A6B"/>
          </a:solidFill>
          <a:ln w="12700">
            <a:solidFill>
              <a:srgbClr val="1B3A6B"/>
            </a:solidFill>
            <a:prstDash val="solid"/>
          </a:ln>
        </p:spPr>
        <p:txBody>
          <a:bodyPr/>
          <a:lstStyle/>
          <a:p>
            <a:endParaRPr lang="fr-FR"/>
          </a:p>
        </p:txBody>
      </p:sp>
      <p:sp>
        <p:nvSpPr>
          <p:cNvPr id="3" name="Text 1"/>
          <p:cNvSpPr/>
          <p:nvPr/>
        </p:nvSpPr>
        <p:spPr>
          <a:xfrm>
            <a:off x="365760" y="91440"/>
            <a:ext cx="8229600" cy="594360"/>
          </a:xfrm>
          <a:prstGeom prst="rect">
            <a:avLst/>
          </a:prstGeom>
          <a:noFill/>
          <a:ln/>
        </p:spPr>
        <p:txBody>
          <a:bodyPr wrap="square"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Diagramme de Flux — Phase d'Enrôlement</a:t>
            </a:r>
            <a:endParaRPr lang="en-US" sz="2800" dirty="0"/>
          </a:p>
        </p:txBody>
      </p:sp>
      <p:sp>
        <p:nvSpPr>
          <p:cNvPr id="5" name="Shape 3"/>
          <p:cNvSpPr/>
          <p:nvPr/>
        </p:nvSpPr>
        <p:spPr>
          <a:xfrm>
            <a:off x="0" y="1005840"/>
            <a:ext cx="9144000" cy="54864"/>
          </a:xfrm>
          <a:prstGeom prst="rect">
            <a:avLst/>
          </a:prstGeom>
          <a:solidFill>
            <a:srgbClr val="0A7EA4"/>
          </a:solidFill>
          <a:ln w="12700">
            <a:solidFill>
              <a:srgbClr val="0A7EA4"/>
            </a:solidFill>
            <a:prstDash val="solid"/>
          </a:ln>
        </p:spPr>
        <p:txBody>
          <a:bodyPr/>
          <a:lstStyle/>
          <a:p>
            <a:endParaRPr lang="fr-FR"/>
          </a:p>
        </p:txBody>
      </p:sp>
      <p:sp>
        <p:nvSpPr>
          <p:cNvPr id="6" name="Shape 4"/>
          <p:cNvSpPr/>
          <p:nvPr/>
        </p:nvSpPr>
        <p:spPr>
          <a:xfrm>
            <a:off x="274320" y="1371600"/>
            <a:ext cx="1115568" cy="1691640"/>
          </a:xfrm>
          <a:prstGeom prst="rect">
            <a:avLst/>
          </a:prstGeom>
          <a:solidFill>
            <a:srgbClr val="FFFFFF"/>
          </a:solidFill>
          <a:ln w="15240">
            <a:solidFill>
              <a:srgbClr val="0A7EA4"/>
            </a:solidFill>
            <a:prstDash val="solid"/>
          </a:ln>
          <a:effectLst>
            <a:outerShdw blurRad="63500" dist="25400" dir="8100000" algn="bl" rotWithShape="0">
              <a:srgbClr val="000000">
                <a:alpha val="10000"/>
              </a:srgbClr>
            </a:outerShdw>
          </a:effectLst>
        </p:spPr>
        <p:txBody>
          <a:bodyPr/>
          <a:lstStyle/>
          <a:p>
            <a:endParaRPr lang="fr-FR"/>
          </a:p>
        </p:txBody>
      </p:sp>
      <p:sp>
        <p:nvSpPr>
          <p:cNvPr id="7" name="Shape 5"/>
          <p:cNvSpPr/>
          <p:nvPr/>
        </p:nvSpPr>
        <p:spPr>
          <a:xfrm>
            <a:off x="274320" y="1371600"/>
            <a:ext cx="1115568" cy="347472"/>
          </a:xfrm>
          <a:prstGeom prst="rect">
            <a:avLst/>
          </a:prstGeom>
          <a:solidFill>
            <a:srgbClr val="0A7EA4"/>
          </a:solidFill>
          <a:ln w="12700">
            <a:solidFill>
              <a:srgbClr val="0A7EA4"/>
            </a:solidFill>
            <a:prstDash val="solid"/>
          </a:ln>
        </p:spPr>
        <p:txBody>
          <a:bodyPr/>
          <a:lstStyle/>
          <a:p>
            <a:endParaRPr lang="fr-FR"/>
          </a:p>
        </p:txBody>
      </p:sp>
      <p:sp>
        <p:nvSpPr>
          <p:cNvPr id="8" name="Text 6"/>
          <p:cNvSpPr/>
          <p:nvPr/>
        </p:nvSpPr>
        <p:spPr>
          <a:xfrm>
            <a:off x="274320" y="1371600"/>
            <a:ext cx="1115568" cy="347472"/>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1. Capture</a:t>
            </a:r>
            <a:endParaRPr lang="en-US" sz="1000" dirty="0"/>
          </a:p>
        </p:txBody>
      </p:sp>
      <p:sp>
        <p:nvSpPr>
          <p:cNvPr id="9" name="Text 7"/>
          <p:cNvSpPr/>
          <p:nvPr/>
        </p:nvSpPr>
        <p:spPr>
          <a:xfrm>
            <a:off x="274320" y="1719072"/>
            <a:ext cx="1115568" cy="411480"/>
          </a:xfrm>
          <a:prstGeom prst="rect">
            <a:avLst/>
          </a:prstGeom>
          <a:noFill/>
          <a:ln/>
        </p:spPr>
        <p:txBody>
          <a:bodyPr wrap="square" rtlCol="0" anchor="ctr"/>
          <a:lstStyle/>
          <a:p>
            <a:pPr marL="0" indent="0" algn="ctr">
              <a:buNone/>
            </a:pPr>
            <a:endParaRPr lang="en-US" sz="2200" dirty="0"/>
          </a:p>
        </p:txBody>
      </p:sp>
      <p:sp>
        <p:nvSpPr>
          <p:cNvPr id="10" name="Text 8"/>
          <p:cNvSpPr/>
          <p:nvPr/>
        </p:nvSpPr>
        <p:spPr>
          <a:xfrm>
            <a:off x="274320" y="2130552"/>
            <a:ext cx="1115568" cy="640080"/>
          </a:xfrm>
          <a:prstGeom prst="rect">
            <a:avLst/>
          </a:prstGeom>
          <a:noFill/>
          <a:ln/>
        </p:spPr>
        <p:txBody>
          <a:bodyPr wrap="square" rtlCol="0" anchor="ctr"/>
          <a:lstStyle/>
          <a:p>
            <a:pPr marL="0" indent="0" algn="ctr">
              <a:buNone/>
            </a:pPr>
            <a:r>
              <a:rPr lang="en-US" sz="950" dirty="0">
                <a:solidFill>
                  <a:srgbClr val="5A6A7A"/>
                </a:solidFill>
                <a:latin typeface="Calibri" pitchFamily="34" charset="0"/>
                <a:ea typeface="Calibri" pitchFamily="34" charset="-122"/>
                <a:cs typeface="Calibri" pitchFamily="34" charset="-120"/>
              </a:rPr>
              <a:t>10 frames</a:t>
            </a:r>
            <a:endParaRPr lang="en-US" sz="950" dirty="0"/>
          </a:p>
          <a:p>
            <a:pPr marL="0" indent="0" algn="ctr">
              <a:buNone/>
            </a:pPr>
            <a:r>
              <a:rPr lang="en-US" sz="950" dirty="0">
                <a:solidFill>
                  <a:srgbClr val="5A6A7A"/>
                </a:solidFill>
                <a:latin typeface="Calibri" pitchFamily="34" charset="0"/>
                <a:ea typeface="Calibri" pitchFamily="34" charset="-122"/>
                <a:cs typeface="Calibri" pitchFamily="34" charset="-120"/>
              </a:rPr>
              <a:t>webcam BGR</a:t>
            </a:r>
            <a:endParaRPr lang="en-US" sz="950" dirty="0"/>
          </a:p>
        </p:txBody>
      </p:sp>
      <p:sp>
        <p:nvSpPr>
          <p:cNvPr id="11" name="Text 9"/>
          <p:cNvSpPr/>
          <p:nvPr/>
        </p:nvSpPr>
        <p:spPr>
          <a:xfrm>
            <a:off x="1389888" y="1920240"/>
            <a:ext cx="118872" cy="365760"/>
          </a:xfrm>
          <a:prstGeom prst="rect">
            <a:avLst/>
          </a:prstGeom>
          <a:noFill/>
          <a:ln/>
        </p:spPr>
        <p:txBody>
          <a:bodyPr wrap="square" rtlCol="0" anchor="ctr"/>
          <a:lstStyle/>
          <a:p>
            <a:pPr marL="0" indent="0" algn="ctr">
              <a:buNone/>
            </a:pPr>
            <a:r>
              <a:rPr lang="en-US" sz="1600" b="1" dirty="0">
                <a:solidFill>
                  <a:srgbClr val="0A7EA4"/>
                </a:solidFill>
              </a:rPr>
              <a:t>→</a:t>
            </a:r>
            <a:endParaRPr lang="en-US" sz="1600" dirty="0"/>
          </a:p>
        </p:txBody>
      </p:sp>
      <p:sp>
        <p:nvSpPr>
          <p:cNvPr id="12" name="Shape 10"/>
          <p:cNvSpPr/>
          <p:nvPr/>
        </p:nvSpPr>
        <p:spPr>
          <a:xfrm>
            <a:off x="1508760" y="1371600"/>
            <a:ext cx="1115568" cy="1691640"/>
          </a:xfrm>
          <a:prstGeom prst="rect">
            <a:avLst/>
          </a:prstGeom>
          <a:solidFill>
            <a:srgbClr val="FFFFFF"/>
          </a:solidFill>
          <a:ln w="15240">
            <a:solidFill>
              <a:srgbClr val="0A7EA4"/>
            </a:solidFill>
            <a:prstDash val="solid"/>
          </a:ln>
          <a:effectLst>
            <a:outerShdw blurRad="63500" dist="25400" dir="8100000" algn="bl" rotWithShape="0">
              <a:srgbClr val="000000">
                <a:alpha val="10000"/>
              </a:srgbClr>
            </a:outerShdw>
          </a:effectLst>
        </p:spPr>
        <p:txBody>
          <a:bodyPr/>
          <a:lstStyle/>
          <a:p>
            <a:endParaRPr lang="fr-FR"/>
          </a:p>
        </p:txBody>
      </p:sp>
      <p:sp>
        <p:nvSpPr>
          <p:cNvPr id="13" name="Shape 11"/>
          <p:cNvSpPr/>
          <p:nvPr/>
        </p:nvSpPr>
        <p:spPr>
          <a:xfrm>
            <a:off x="1508760" y="1371600"/>
            <a:ext cx="1115568" cy="347472"/>
          </a:xfrm>
          <a:prstGeom prst="rect">
            <a:avLst/>
          </a:prstGeom>
          <a:solidFill>
            <a:srgbClr val="0A7EA4"/>
          </a:solidFill>
          <a:ln w="12700">
            <a:solidFill>
              <a:srgbClr val="0A7EA4"/>
            </a:solidFill>
            <a:prstDash val="solid"/>
          </a:ln>
        </p:spPr>
        <p:txBody>
          <a:bodyPr/>
          <a:lstStyle/>
          <a:p>
            <a:endParaRPr lang="fr-FR"/>
          </a:p>
        </p:txBody>
      </p:sp>
      <p:sp>
        <p:nvSpPr>
          <p:cNvPr id="14" name="Text 12"/>
          <p:cNvSpPr/>
          <p:nvPr/>
        </p:nvSpPr>
        <p:spPr>
          <a:xfrm>
            <a:off x="1508760" y="1371600"/>
            <a:ext cx="1115568" cy="347472"/>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2. Détection</a:t>
            </a:r>
            <a:endParaRPr lang="en-US" sz="1000" dirty="0"/>
          </a:p>
        </p:txBody>
      </p:sp>
      <p:sp>
        <p:nvSpPr>
          <p:cNvPr id="15" name="Text 13"/>
          <p:cNvSpPr/>
          <p:nvPr/>
        </p:nvSpPr>
        <p:spPr>
          <a:xfrm>
            <a:off x="1508760" y="1719072"/>
            <a:ext cx="1115568" cy="411480"/>
          </a:xfrm>
          <a:prstGeom prst="rect">
            <a:avLst/>
          </a:prstGeom>
          <a:noFill/>
          <a:ln/>
        </p:spPr>
        <p:txBody>
          <a:bodyPr wrap="square" rtlCol="0" anchor="ctr"/>
          <a:lstStyle/>
          <a:p>
            <a:pPr marL="0" indent="0" algn="ctr">
              <a:buNone/>
            </a:pPr>
            <a:endParaRPr lang="en-US" sz="2200" dirty="0"/>
          </a:p>
        </p:txBody>
      </p:sp>
      <p:sp>
        <p:nvSpPr>
          <p:cNvPr id="16" name="Text 14"/>
          <p:cNvSpPr/>
          <p:nvPr/>
        </p:nvSpPr>
        <p:spPr>
          <a:xfrm>
            <a:off x="1508760" y="2130552"/>
            <a:ext cx="1115568" cy="640080"/>
          </a:xfrm>
          <a:prstGeom prst="rect">
            <a:avLst/>
          </a:prstGeom>
          <a:noFill/>
          <a:ln/>
        </p:spPr>
        <p:txBody>
          <a:bodyPr wrap="square" rtlCol="0" anchor="ctr"/>
          <a:lstStyle/>
          <a:p>
            <a:pPr marL="0" indent="0" algn="ctr">
              <a:buNone/>
            </a:pPr>
            <a:r>
              <a:rPr lang="en-US" sz="950" dirty="0">
                <a:solidFill>
                  <a:srgbClr val="5A6A7A"/>
                </a:solidFill>
                <a:latin typeface="Calibri" pitchFamily="34" charset="0"/>
                <a:ea typeface="Calibri" pitchFamily="34" charset="-122"/>
                <a:cs typeface="Calibri" pitchFamily="34" charset="-120"/>
              </a:rPr>
              <a:t>Localiser</a:t>
            </a:r>
            <a:endParaRPr lang="en-US" sz="950" dirty="0"/>
          </a:p>
          <a:p>
            <a:pPr marL="0" indent="0" algn="ctr">
              <a:buNone/>
            </a:pPr>
            <a:r>
              <a:rPr lang="en-US" sz="950" dirty="0">
                <a:solidFill>
                  <a:srgbClr val="5A6A7A"/>
                </a:solidFill>
                <a:latin typeface="Calibri" pitchFamily="34" charset="0"/>
                <a:ea typeface="Calibri" pitchFamily="34" charset="-122"/>
                <a:cs typeface="Calibri" pitchFamily="34" charset="-120"/>
              </a:rPr>
              <a:t>le visage</a:t>
            </a:r>
            <a:endParaRPr lang="en-US" sz="950" dirty="0"/>
          </a:p>
        </p:txBody>
      </p:sp>
      <p:sp>
        <p:nvSpPr>
          <p:cNvPr id="17" name="Text 15"/>
          <p:cNvSpPr/>
          <p:nvPr/>
        </p:nvSpPr>
        <p:spPr>
          <a:xfrm>
            <a:off x="2624328" y="1920240"/>
            <a:ext cx="118872" cy="365760"/>
          </a:xfrm>
          <a:prstGeom prst="rect">
            <a:avLst/>
          </a:prstGeom>
          <a:noFill/>
          <a:ln/>
        </p:spPr>
        <p:txBody>
          <a:bodyPr wrap="square" rtlCol="0" anchor="ctr"/>
          <a:lstStyle/>
          <a:p>
            <a:pPr marL="0" indent="0" algn="ctr">
              <a:buNone/>
            </a:pPr>
            <a:r>
              <a:rPr lang="en-US" sz="1600" b="1" dirty="0">
                <a:solidFill>
                  <a:srgbClr val="0A7EA4"/>
                </a:solidFill>
              </a:rPr>
              <a:t>→</a:t>
            </a:r>
            <a:endParaRPr lang="en-US" sz="1600" dirty="0"/>
          </a:p>
        </p:txBody>
      </p:sp>
      <p:sp>
        <p:nvSpPr>
          <p:cNvPr id="18" name="Shape 16"/>
          <p:cNvSpPr/>
          <p:nvPr/>
        </p:nvSpPr>
        <p:spPr>
          <a:xfrm>
            <a:off x="2743200" y="1371600"/>
            <a:ext cx="1115568" cy="1691640"/>
          </a:xfrm>
          <a:prstGeom prst="rect">
            <a:avLst/>
          </a:prstGeom>
          <a:solidFill>
            <a:srgbClr val="FFFFFF"/>
          </a:solidFill>
          <a:ln w="15240">
            <a:solidFill>
              <a:srgbClr val="0A7EA4"/>
            </a:solidFill>
            <a:prstDash val="solid"/>
          </a:ln>
          <a:effectLst>
            <a:outerShdw blurRad="63500" dist="25400" dir="8100000" algn="bl" rotWithShape="0">
              <a:srgbClr val="000000">
                <a:alpha val="10000"/>
              </a:srgbClr>
            </a:outerShdw>
          </a:effectLst>
        </p:spPr>
        <p:txBody>
          <a:bodyPr/>
          <a:lstStyle/>
          <a:p>
            <a:endParaRPr lang="fr-FR"/>
          </a:p>
        </p:txBody>
      </p:sp>
      <p:sp>
        <p:nvSpPr>
          <p:cNvPr id="19" name="Shape 17"/>
          <p:cNvSpPr/>
          <p:nvPr/>
        </p:nvSpPr>
        <p:spPr>
          <a:xfrm>
            <a:off x="2743200" y="1371600"/>
            <a:ext cx="1115568" cy="347472"/>
          </a:xfrm>
          <a:prstGeom prst="rect">
            <a:avLst/>
          </a:prstGeom>
          <a:solidFill>
            <a:srgbClr val="0A7EA4"/>
          </a:solidFill>
          <a:ln w="12700">
            <a:solidFill>
              <a:srgbClr val="0A7EA4"/>
            </a:solidFill>
            <a:prstDash val="solid"/>
          </a:ln>
        </p:spPr>
        <p:txBody>
          <a:bodyPr/>
          <a:lstStyle/>
          <a:p>
            <a:endParaRPr lang="fr-FR"/>
          </a:p>
        </p:txBody>
      </p:sp>
      <p:sp>
        <p:nvSpPr>
          <p:cNvPr id="20" name="Text 18"/>
          <p:cNvSpPr/>
          <p:nvPr/>
        </p:nvSpPr>
        <p:spPr>
          <a:xfrm>
            <a:off x="2743200" y="1371600"/>
            <a:ext cx="1115568" cy="347472"/>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3. Alignement</a:t>
            </a:r>
            <a:endParaRPr lang="en-US" sz="1000" dirty="0"/>
          </a:p>
        </p:txBody>
      </p:sp>
      <p:sp>
        <p:nvSpPr>
          <p:cNvPr id="21" name="Text 19"/>
          <p:cNvSpPr/>
          <p:nvPr/>
        </p:nvSpPr>
        <p:spPr>
          <a:xfrm>
            <a:off x="2743200" y="1719072"/>
            <a:ext cx="1115568" cy="411480"/>
          </a:xfrm>
          <a:prstGeom prst="rect">
            <a:avLst/>
          </a:prstGeom>
          <a:noFill/>
          <a:ln/>
        </p:spPr>
        <p:txBody>
          <a:bodyPr wrap="square" rtlCol="0" anchor="ctr"/>
          <a:lstStyle/>
          <a:p>
            <a:pPr marL="0" indent="0" algn="ctr">
              <a:buNone/>
            </a:pPr>
            <a:endParaRPr lang="en-US" sz="2200" dirty="0"/>
          </a:p>
        </p:txBody>
      </p:sp>
      <p:sp>
        <p:nvSpPr>
          <p:cNvPr id="22" name="Text 20"/>
          <p:cNvSpPr/>
          <p:nvPr/>
        </p:nvSpPr>
        <p:spPr>
          <a:xfrm>
            <a:off x="2743200" y="2130552"/>
            <a:ext cx="1115568" cy="640080"/>
          </a:xfrm>
          <a:prstGeom prst="rect">
            <a:avLst/>
          </a:prstGeom>
          <a:noFill/>
          <a:ln/>
        </p:spPr>
        <p:txBody>
          <a:bodyPr wrap="square" rtlCol="0" anchor="ctr"/>
          <a:lstStyle/>
          <a:p>
            <a:pPr marL="0" indent="0" algn="ctr">
              <a:buNone/>
            </a:pPr>
            <a:r>
              <a:rPr lang="en-US" sz="950" dirty="0">
                <a:solidFill>
                  <a:srgbClr val="5A6A7A"/>
                </a:solidFill>
                <a:latin typeface="Calibri" pitchFamily="34" charset="0"/>
                <a:ea typeface="Calibri" pitchFamily="34" charset="-122"/>
                <a:cs typeface="Calibri" pitchFamily="34" charset="-120"/>
              </a:rPr>
              <a:t>Recadrer</a:t>
            </a:r>
            <a:endParaRPr lang="en-US" sz="950" dirty="0"/>
          </a:p>
          <a:p>
            <a:pPr marL="0" indent="0" algn="ctr">
              <a:buNone/>
            </a:pPr>
            <a:r>
              <a:rPr lang="en-US" sz="950" dirty="0">
                <a:solidFill>
                  <a:srgbClr val="5A6A7A"/>
                </a:solidFill>
                <a:latin typeface="Calibri" pitchFamily="34" charset="0"/>
                <a:ea typeface="Calibri" pitchFamily="34" charset="-122"/>
                <a:cs typeface="Calibri" pitchFamily="34" charset="-120"/>
              </a:rPr>
              <a:t>160×160px</a:t>
            </a:r>
            <a:endParaRPr lang="en-US" sz="950" dirty="0"/>
          </a:p>
        </p:txBody>
      </p:sp>
      <p:sp>
        <p:nvSpPr>
          <p:cNvPr id="23" name="Text 21"/>
          <p:cNvSpPr/>
          <p:nvPr/>
        </p:nvSpPr>
        <p:spPr>
          <a:xfrm>
            <a:off x="3858768" y="1920240"/>
            <a:ext cx="118872" cy="365760"/>
          </a:xfrm>
          <a:prstGeom prst="rect">
            <a:avLst/>
          </a:prstGeom>
          <a:noFill/>
          <a:ln/>
        </p:spPr>
        <p:txBody>
          <a:bodyPr wrap="square" rtlCol="0" anchor="ctr"/>
          <a:lstStyle/>
          <a:p>
            <a:pPr marL="0" indent="0" algn="ctr">
              <a:buNone/>
            </a:pPr>
            <a:r>
              <a:rPr lang="en-US" sz="1600" b="1" dirty="0">
                <a:solidFill>
                  <a:srgbClr val="0A7EA4"/>
                </a:solidFill>
              </a:rPr>
              <a:t>→</a:t>
            </a:r>
            <a:endParaRPr lang="en-US" sz="1600" dirty="0"/>
          </a:p>
        </p:txBody>
      </p:sp>
      <p:sp>
        <p:nvSpPr>
          <p:cNvPr id="24" name="Shape 22"/>
          <p:cNvSpPr/>
          <p:nvPr/>
        </p:nvSpPr>
        <p:spPr>
          <a:xfrm>
            <a:off x="3977640" y="1371600"/>
            <a:ext cx="1115568" cy="1691640"/>
          </a:xfrm>
          <a:prstGeom prst="rect">
            <a:avLst/>
          </a:prstGeom>
          <a:solidFill>
            <a:srgbClr val="FFFFFF"/>
          </a:solidFill>
          <a:ln w="15240">
            <a:solidFill>
              <a:srgbClr val="1B3A6B"/>
            </a:solidFill>
            <a:prstDash val="solid"/>
          </a:ln>
          <a:effectLst>
            <a:outerShdw blurRad="63500" dist="25400" dir="8100000" algn="bl" rotWithShape="0">
              <a:srgbClr val="000000">
                <a:alpha val="10000"/>
              </a:srgbClr>
            </a:outerShdw>
          </a:effectLst>
        </p:spPr>
        <p:txBody>
          <a:bodyPr/>
          <a:lstStyle/>
          <a:p>
            <a:endParaRPr lang="fr-FR"/>
          </a:p>
        </p:txBody>
      </p:sp>
      <p:sp>
        <p:nvSpPr>
          <p:cNvPr id="25" name="Shape 23"/>
          <p:cNvSpPr/>
          <p:nvPr/>
        </p:nvSpPr>
        <p:spPr>
          <a:xfrm>
            <a:off x="3977640" y="1371600"/>
            <a:ext cx="1115568" cy="347472"/>
          </a:xfrm>
          <a:prstGeom prst="rect">
            <a:avLst/>
          </a:prstGeom>
          <a:solidFill>
            <a:srgbClr val="1B3A6B"/>
          </a:solidFill>
          <a:ln w="12700">
            <a:solidFill>
              <a:srgbClr val="1B3A6B"/>
            </a:solidFill>
            <a:prstDash val="solid"/>
          </a:ln>
        </p:spPr>
        <p:txBody>
          <a:bodyPr/>
          <a:lstStyle/>
          <a:p>
            <a:endParaRPr lang="fr-FR"/>
          </a:p>
        </p:txBody>
      </p:sp>
      <p:sp>
        <p:nvSpPr>
          <p:cNvPr id="26" name="Text 24"/>
          <p:cNvSpPr/>
          <p:nvPr/>
        </p:nvSpPr>
        <p:spPr>
          <a:xfrm>
            <a:off x="3977640" y="1371600"/>
            <a:ext cx="1115568" cy="347472"/>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4. Encodage</a:t>
            </a:r>
            <a:endParaRPr lang="en-US" sz="1000" dirty="0"/>
          </a:p>
        </p:txBody>
      </p:sp>
      <p:sp>
        <p:nvSpPr>
          <p:cNvPr id="27" name="Text 25"/>
          <p:cNvSpPr/>
          <p:nvPr/>
        </p:nvSpPr>
        <p:spPr>
          <a:xfrm>
            <a:off x="3977640" y="1719072"/>
            <a:ext cx="1115568" cy="411480"/>
          </a:xfrm>
          <a:prstGeom prst="rect">
            <a:avLst/>
          </a:prstGeom>
          <a:noFill/>
          <a:ln/>
        </p:spPr>
        <p:txBody>
          <a:bodyPr wrap="square" rtlCol="0" anchor="ctr"/>
          <a:lstStyle/>
          <a:p>
            <a:pPr marL="0" indent="0" algn="ctr">
              <a:buNone/>
            </a:pPr>
            <a:endParaRPr lang="en-US" sz="2200" dirty="0"/>
          </a:p>
        </p:txBody>
      </p:sp>
      <p:sp>
        <p:nvSpPr>
          <p:cNvPr id="28" name="Text 26"/>
          <p:cNvSpPr/>
          <p:nvPr/>
        </p:nvSpPr>
        <p:spPr>
          <a:xfrm>
            <a:off x="3977640" y="2130552"/>
            <a:ext cx="1115568" cy="640080"/>
          </a:xfrm>
          <a:prstGeom prst="rect">
            <a:avLst/>
          </a:prstGeom>
          <a:noFill/>
          <a:ln/>
        </p:spPr>
        <p:txBody>
          <a:bodyPr wrap="square" rtlCol="0" anchor="ctr"/>
          <a:lstStyle/>
          <a:p>
            <a:pPr marL="0" indent="0" algn="ctr">
              <a:buNone/>
            </a:pPr>
            <a:r>
              <a:rPr lang="en-US" sz="950" dirty="0">
                <a:solidFill>
                  <a:srgbClr val="5A6A7A"/>
                </a:solidFill>
                <a:latin typeface="Calibri" pitchFamily="34" charset="0"/>
                <a:ea typeface="Calibri" pitchFamily="34" charset="-122"/>
                <a:cs typeface="Calibri" pitchFamily="34" charset="-120"/>
              </a:rPr>
              <a:t>ArcFace →</a:t>
            </a:r>
            <a:endParaRPr lang="en-US" sz="950" dirty="0"/>
          </a:p>
          <a:p>
            <a:pPr marL="0" indent="0" algn="ctr">
              <a:buNone/>
            </a:pPr>
            <a:r>
              <a:rPr lang="en-US" sz="950" dirty="0">
                <a:solidFill>
                  <a:srgbClr val="5A6A7A"/>
                </a:solidFill>
                <a:latin typeface="Calibri" pitchFamily="34" charset="0"/>
                <a:ea typeface="Calibri" pitchFamily="34" charset="-122"/>
                <a:cs typeface="Calibri" pitchFamily="34" charset="-120"/>
              </a:rPr>
              <a:t>512 nombres</a:t>
            </a:r>
            <a:endParaRPr lang="en-US" sz="950" dirty="0"/>
          </a:p>
        </p:txBody>
      </p:sp>
      <p:sp>
        <p:nvSpPr>
          <p:cNvPr id="29" name="Text 27"/>
          <p:cNvSpPr/>
          <p:nvPr/>
        </p:nvSpPr>
        <p:spPr>
          <a:xfrm>
            <a:off x="5093208" y="1920240"/>
            <a:ext cx="118872" cy="365760"/>
          </a:xfrm>
          <a:prstGeom prst="rect">
            <a:avLst/>
          </a:prstGeom>
          <a:noFill/>
          <a:ln/>
        </p:spPr>
        <p:txBody>
          <a:bodyPr wrap="square" rtlCol="0" anchor="ctr"/>
          <a:lstStyle/>
          <a:p>
            <a:pPr marL="0" indent="0" algn="ctr">
              <a:buNone/>
            </a:pPr>
            <a:r>
              <a:rPr lang="en-US" sz="1600" b="1" dirty="0">
                <a:solidFill>
                  <a:srgbClr val="0A7EA4"/>
                </a:solidFill>
              </a:rPr>
              <a:t>→</a:t>
            </a:r>
            <a:endParaRPr lang="en-US" sz="1600" dirty="0"/>
          </a:p>
        </p:txBody>
      </p:sp>
      <p:sp>
        <p:nvSpPr>
          <p:cNvPr id="30" name="Shape 28"/>
          <p:cNvSpPr/>
          <p:nvPr/>
        </p:nvSpPr>
        <p:spPr>
          <a:xfrm>
            <a:off x="5212080" y="1371600"/>
            <a:ext cx="1115568" cy="1691640"/>
          </a:xfrm>
          <a:prstGeom prst="rect">
            <a:avLst/>
          </a:prstGeom>
          <a:solidFill>
            <a:srgbClr val="FFFFFF"/>
          </a:solidFill>
          <a:ln w="15240">
            <a:solidFill>
              <a:srgbClr val="1B3A6B"/>
            </a:solidFill>
            <a:prstDash val="solid"/>
          </a:ln>
          <a:effectLst>
            <a:outerShdw blurRad="63500" dist="25400" dir="8100000" algn="bl" rotWithShape="0">
              <a:srgbClr val="000000">
                <a:alpha val="10000"/>
              </a:srgbClr>
            </a:outerShdw>
          </a:effectLst>
        </p:spPr>
        <p:txBody>
          <a:bodyPr/>
          <a:lstStyle/>
          <a:p>
            <a:endParaRPr lang="fr-FR"/>
          </a:p>
        </p:txBody>
      </p:sp>
      <p:sp>
        <p:nvSpPr>
          <p:cNvPr id="31" name="Shape 29"/>
          <p:cNvSpPr/>
          <p:nvPr/>
        </p:nvSpPr>
        <p:spPr>
          <a:xfrm>
            <a:off x="5212080" y="1371600"/>
            <a:ext cx="1115568" cy="347472"/>
          </a:xfrm>
          <a:prstGeom prst="rect">
            <a:avLst/>
          </a:prstGeom>
          <a:solidFill>
            <a:srgbClr val="1B3A6B"/>
          </a:solidFill>
          <a:ln w="12700">
            <a:solidFill>
              <a:srgbClr val="1B3A6B"/>
            </a:solidFill>
            <a:prstDash val="solid"/>
          </a:ln>
        </p:spPr>
        <p:txBody>
          <a:bodyPr/>
          <a:lstStyle/>
          <a:p>
            <a:endParaRPr lang="fr-FR"/>
          </a:p>
        </p:txBody>
      </p:sp>
      <p:sp>
        <p:nvSpPr>
          <p:cNvPr id="32" name="Text 30"/>
          <p:cNvSpPr/>
          <p:nvPr/>
        </p:nvSpPr>
        <p:spPr>
          <a:xfrm>
            <a:off x="5212080" y="1371600"/>
            <a:ext cx="1115568" cy="347472"/>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5. Moyenne</a:t>
            </a:r>
            <a:endParaRPr lang="en-US" sz="1000" dirty="0"/>
          </a:p>
        </p:txBody>
      </p:sp>
      <p:sp>
        <p:nvSpPr>
          <p:cNvPr id="33" name="Text 31"/>
          <p:cNvSpPr/>
          <p:nvPr/>
        </p:nvSpPr>
        <p:spPr>
          <a:xfrm>
            <a:off x="5212080" y="1719072"/>
            <a:ext cx="1115568" cy="411480"/>
          </a:xfrm>
          <a:prstGeom prst="rect">
            <a:avLst/>
          </a:prstGeom>
          <a:noFill/>
          <a:ln/>
        </p:spPr>
        <p:txBody>
          <a:bodyPr wrap="square" rtlCol="0" anchor="ctr"/>
          <a:lstStyle/>
          <a:p>
            <a:pPr marL="0" indent="0" algn="ctr">
              <a:buNone/>
            </a:pPr>
            <a:endParaRPr lang="en-US" sz="2200" dirty="0"/>
          </a:p>
        </p:txBody>
      </p:sp>
      <p:sp>
        <p:nvSpPr>
          <p:cNvPr id="34" name="Text 32"/>
          <p:cNvSpPr/>
          <p:nvPr/>
        </p:nvSpPr>
        <p:spPr>
          <a:xfrm>
            <a:off x="5212080" y="2130552"/>
            <a:ext cx="1115568" cy="640080"/>
          </a:xfrm>
          <a:prstGeom prst="rect">
            <a:avLst/>
          </a:prstGeom>
          <a:noFill/>
          <a:ln/>
        </p:spPr>
        <p:txBody>
          <a:bodyPr wrap="square" rtlCol="0" anchor="ctr"/>
          <a:lstStyle/>
          <a:p>
            <a:pPr marL="0" indent="0" algn="ctr">
              <a:buNone/>
            </a:pPr>
            <a:r>
              <a:rPr lang="en-US" sz="950" dirty="0">
                <a:solidFill>
                  <a:srgbClr val="5A6A7A"/>
                </a:solidFill>
                <a:latin typeface="Calibri" pitchFamily="34" charset="0"/>
                <a:ea typeface="Calibri" pitchFamily="34" charset="-122"/>
                <a:cs typeface="Calibri" pitchFamily="34" charset="-120"/>
              </a:rPr>
              <a:t>10 embeddings</a:t>
            </a:r>
            <a:endParaRPr lang="en-US" sz="950" dirty="0"/>
          </a:p>
          <a:p>
            <a:pPr marL="0" indent="0" algn="ctr">
              <a:buNone/>
            </a:pPr>
            <a:r>
              <a:rPr lang="en-US" sz="950" dirty="0">
                <a:solidFill>
                  <a:srgbClr val="5A6A7A"/>
                </a:solidFill>
                <a:latin typeface="Calibri" pitchFamily="34" charset="0"/>
                <a:ea typeface="Calibri" pitchFamily="34" charset="-122"/>
                <a:cs typeface="Calibri" pitchFamily="34" charset="-120"/>
              </a:rPr>
              <a:t>→ 1 template</a:t>
            </a:r>
            <a:endParaRPr lang="en-US" sz="950" dirty="0"/>
          </a:p>
        </p:txBody>
      </p:sp>
      <p:sp>
        <p:nvSpPr>
          <p:cNvPr id="35" name="Text 33"/>
          <p:cNvSpPr/>
          <p:nvPr/>
        </p:nvSpPr>
        <p:spPr>
          <a:xfrm>
            <a:off x="6327648" y="1920240"/>
            <a:ext cx="118872" cy="365760"/>
          </a:xfrm>
          <a:prstGeom prst="rect">
            <a:avLst/>
          </a:prstGeom>
          <a:noFill/>
          <a:ln/>
        </p:spPr>
        <p:txBody>
          <a:bodyPr wrap="square" rtlCol="0" anchor="ctr"/>
          <a:lstStyle/>
          <a:p>
            <a:pPr marL="0" indent="0" algn="ctr">
              <a:buNone/>
            </a:pPr>
            <a:r>
              <a:rPr lang="en-US" sz="1600" b="1" dirty="0">
                <a:solidFill>
                  <a:srgbClr val="0A7EA4"/>
                </a:solidFill>
              </a:rPr>
              <a:t>→</a:t>
            </a:r>
            <a:endParaRPr lang="en-US" sz="1600" dirty="0"/>
          </a:p>
        </p:txBody>
      </p:sp>
      <p:sp>
        <p:nvSpPr>
          <p:cNvPr id="36" name="Shape 34"/>
          <p:cNvSpPr/>
          <p:nvPr/>
        </p:nvSpPr>
        <p:spPr>
          <a:xfrm>
            <a:off x="6446520" y="1371600"/>
            <a:ext cx="1115568" cy="1691640"/>
          </a:xfrm>
          <a:prstGeom prst="rect">
            <a:avLst/>
          </a:prstGeom>
          <a:solidFill>
            <a:srgbClr val="FFFFFF"/>
          </a:solidFill>
          <a:ln w="15240">
            <a:solidFill>
              <a:srgbClr val="E07B00"/>
            </a:solidFill>
            <a:prstDash val="solid"/>
          </a:ln>
          <a:effectLst>
            <a:outerShdw blurRad="63500" dist="25400" dir="8100000" algn="bl" rotWithShape="0">
              <a:srgbClr val="000000">
                <a:alpha val="10000"/>
              </a:srgbClr>
            </a:outerShdw>
          </a:effectLst>
        </p:spPr>
        <p:txBody>
          <a:bodyPr/>
          <a:lstStyle/>
          <a:p>
            <a:endParaRPr lang="fr-FR"/>
          </a:p>
        </p:txBody>
      </p:sp>
      <p:sp>
        <p:nvSpPr>
          <p:cNvPr id="37" name="Shape 35"/>
          <p:cNvSpPr/>
          <p:nvPr/>
        </p:nvSpPr>
        <p:spPr>
          <a:xfrm>
            <a:off x="6446520" y="1371600"/>
            <a:ext cx="1115568" cy="347472"/>
          </a:xfrm>
          <a:prstGeom prst="rect">
            <a:avLst/>
          </a:prstGeom>
          <a:solidFill>
            <a:srgbClr val="E07B00"/>
          </a:solidFill>
          <a:ln w="12700">
            <a:solidFill>
              <a:srgbClr val="E07B00"/>
            </a:solidFill>
            <a:prstDash val="solid"/>
          </a:ln>
        </p:spPr>
        <p:txBody>
          <a:bodyPr/>
          <a:lstStyle/>
          <a:p>
            <a:endParaRPr lang="fr-FR"/>
          </a:p>
        </p:txBody>
      </p:sp>
      <p:sp>
        <p:nvSpPr>
          <p:cNvPr id="38" name="Text 36"/>
          <p:cNvSpPr/>
          <p:nvPr/>
        </p:nvSpPr>
        <p:spPr>
          <a:xfrm>
            <a:off x="6446520" y="1371600"/>
            <a:ext cx="1115568" cy="347472"/>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6. Chiffrement</a:t>
            </a:r>
            <a:endParaRPr lang="en-US" sz="1000" dirty="0"/>
          </a:p>
        </p:txBody>
      </p:sp>
      <p:sp>
        <p:nvSpPr>
          <p:cNvPr id="39" name="Text 37"/>
          <p:cNvSpPr/>
          <p:nvPr/>
        </p:nvSpPr>
        <p:spPr>
          <a:xfrm>
            <a:off x="6446520" y="1719072"/>
            <a:ext cx="1115568" cy="411480"/>
          </a:xfrm>
          <a:prstGeom prst="rect">
            <a:avLst/>
          </a:prstGeom>
          <a:noFill/>
          <a:ln/>
        </p:spPr>
        <p:txBody>
          <a:bodyPr wrap="square" rtlCol="0" anchor="ctr"/>
          <a:lstStyle/>
          <a:p>
            <a:pPr marL="0" indent="0" algn="ctr">
              <a:buNone/>
            </a:pPr>
            <a:endParaRPr lang="en-US" sz="2200" dirty="0"/>
          </a:p>
        </p:txBody>
      </p:sp>
      <p:sp>
        <p:nvSpPr>
          <p:cNvPr id="40" name="Text 38"/>
          <p:cNvSpPr/>
          <p:nvPr/>
        </p:nvSpPr>
        <p:spPr>
          <a:xfrm>
            <a:off x="6446520" y="2130552"/>
            <a:ext cx="1115568" cy="640080"/>
          </a:xfrm>
          <a:prstGeom prst="rect">
            <a:avLst/>
          </a:prstGeom>
          <a:noFill/>
          <a:ln/>
        </p:spPr>
        <p:txBody>
          <a:bodyPr wrap="square" rtlCol="0" anchor="ctr"/>
          <a:lstStyle/>
          <a:p>
            <a:pPr marL="0" indent="0" algn="ctr">
              <a:buNone/>
            </a:pPr>
            <a:r>
              <a:rPr lang="en-US" sz="950" dirty="0">
                <a:solidFill>
                  <a:srgbClr val="5A6A7A"/>
                </a:solidFill>
                <a:latin typeface="Calibri" pitchFamily="34" charset="0"/>
                <a:ea typeface="Calibri" pitchFamily="34" charset="-122"/>
                <a:cs typeface="Calibri" pitchFamily="34" charset="-120"/>
              </a:rPr>
              <a:t>Fernet</a:t>
            </a:r>
            <a:endParaRPr lang="en-US" sz="950" dirty="0"/>
          </a:p>
          <a:p>
            <a:pPr marL="0" indent="0" algn="ctr">
              <a:buNone/>
            </a:pPr>
            <a:r>
              <a:rPr lang="en-US" sz="950" dirty="0">
                <a:solidFill>
                  <a:srgbClr val="5A6A7A"/>
                </a:solidFill>
                <a:latin typeface="Calibri" pitchFamily="34" charset="0"/>
                <a:ea typeface="Calibri" pitchFamily="34" charset="-122"/>
                <a:cs typeface="Calibri" pitchFamily="34" charset="-120"/>
              </a:rPr>
              <a:t>AES-256</a:t>
            </a:r>
            <a:endParaRPr lang="en-US" sz="950" dirty="0"/>
          </a:p>
        </p:txBody>
      </p:sp>
      <p:sp>
        <p:nvSpPr>
          <p:cNvPr id="41" name="Text 39"/>
          <p:cNvSpPr/>
          <p:nvPr/>
        </p:nvSpPr>
        <p:spPr>
          <a:xfrm>
            <a:off x="7562088" y="1920240"/>
            <a:ext cx="118872" cy="365760"/>
          </a:xfrm>
          <a:prstGeom prst="rect">
            <a:avLst/>
          </a:prstGeom>
          <a:noFill/>
          <a:ln/>
        </p:spPr>
        <p:txBody>
          <a:bodyPr wrap="square" rtlCol="0" anchor="ctr"/>
          <a:lstStyle/>
          <a:p>
            <a:pPr marL="0" indent="0" algn="ctr">
              <a:buNone/>
            </a:pPr>
            <a:r>
              <a:rPr lang="en-US" sz="1600" b="1" dirty="0">
                <a:solidFill>
                  <a:srgbClr val="0A7EA4"/>
                </a:solidFill>
              </a:rPr>
              <a:t>→</a:t>
            </a:r>
            <a:endParaRPr lang="en-US" sz="1600" dirty="0"/>
          </a:p>
        </p:txBody>
      </p:sp>
      <p:sp>
        <p:nvSpPr>
          <p:cNvPr id="42" name="Shape 40"/>
          <p:cNvSpPr/>
          <p:nvPr/>
        </p:nvSpPr>
        <p:spPr>
          <a:xfrm>
            <a:off x="7680960" y="1371600"/>
            <a:ext cx="1115568" cy="1691640"/>
          </a:xfrm>
          <a:prstGeom prst="rect">
            <a:avLst/>
          </a:prstGeom>
          <a:solidFill>
            <a:srgbClr val="FFFFFF"/>
          </a:solidFill>
          <a:ln w="15240">
            <a:solidFill>
              <a:srgbClr val="1A7A4A"/>
            </a:solidFill>
            <a:prstDash val="solid"/>
          </a:ln>
          <a:effectLst>
            <a:outerShdw blurRad="63500" dist="25400" dir="8100000" algn="bl" rotWithShape="0">
              <a:srgbClr val="000000">
                <a:alpha val="10000"/>
              </a:srgbClr>
            </a:outerShdw>
          </a:effectLst>
        </p:spPr>
        <p:txBody>
          <a:bodyPr/>
          <a:lstStyle/>
          <a:p>
            <a:endParaRPr lang="fr-FR"/>
          </a:p>
        </p:txBody>
      </p:sp>
      <p:sp>
        <p:nvSpPr>
          <p:cNvPr id="43" name="Shape 41"/>
          <p:cNvSpPr/>
          <p:nvPr/>
        </p:nvSpPr>
        <p:spPr>
          <a:xfrm>
            <a:off x="7680960" y="1371600"/>
            <a:ext cx="1115568" cy="347472"/>
          </a:xfrm>
          <a:prstGeom prst="rect">
            <a:avLst/>
          </a:prstGeom>
          <a:solidFill>
            <a:srgbClr val="1A7A4A"/>
          </a:solidFill>
          <a:ln w="12700">
            <a:solidFill>
              <a:srgbClr val="1A7A4A"/>
            </a:solidFill>
            <a:prstDash val="solid"/>
          </a:ln>
        </p:spPr>
        <p:txBody>
          <a:bodyPr/>
          <a:lstStyle/>
          <a:p>
            <a:endParaRPr lang="fr-FR"/>
          </a:p>
        </p:txBody>
      </p:sp>
      <p:sp>
        <p:nvSpPr>
          <p:cNvPr id="44" name="Text 42"/>
          <p:cNvSpPr/>
          <p:nvPr/>
        </p:nvSpPr>
        <p:spPr>
          <a:xfrm>
            <a:off x="7680960" y="1371600"/>
            <a:ext cx="1115568" cy="347472"/>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7. Stockage</a:t>
            </a:r>
            <a:endParaRPr lang="en-US" sz="1000" dirty="0"/>
          </a:p>
        </p:txBody>
      </p:sp>
      <p:sp>
        <p:nvSpPr>
          <p:cNvPr id="45" name="Text 43"/>
          <p:cNvSpPr/>
          <p:nvPr/>
        </p:nvSpPr>
        <p:spPr>
          <a:xfrm>
            <a:off x="7680960" y="1719072"/>
            <a:ext cx="1115568" cy="411480"/>
          </a:xfrm>
          <a:prstGeom prst="rect">
            <a:avLst/>
          </a:prstGeom>
          <a:noFill/>
          <a:ln/>
        </p:spPr>
        <p:txBody>
          <a:bodyPr wrap="square" rtlCol="0" anchor="ctr"/>
          <a:lstStyle/>
          <a:p>
            <a:pPr marL="0" indent="0" algn="ctr">
              <a:buNone/>
            </a:pPr>
            <a:endParaRPr lang="en-US" sz="2200" dirty="0"/>
          </a:p>
        </p:txBody>
      </p:sp>
      <p:sp>
        <p:nvSpPr>
          <p:cNvPr id="46" name="Text 44"/>
          <p:cNvSpPr/>
          <p:nvPr/>
        </p:nvSpPr>
        <p:spPr>
          <a:xfrm>
            <a:off x="7680960" y="2130552"/>
            <a:ext cx="1115568" cy="640080"/>
          </a:xfrm>
          <a:prstGeom prst="rect">
            <a:avLst/>
          </a:prstGeom>
          <a:noFill/>
          <a:ln/>
        </p:spPr>
        <p:txBody>
          <a:bodyPr wrap="square" rtlCol="0" anchor="ctr"/>
          <a:lstStyle/>
          <a:p>
            <a:pPr marL="0" indent="0" algn="ctr">
              <a:buNone/>
            </a:pPr>
            <a:r>
              <a:rPr lang="en-US" sz="950" dirty="0">
                <a:solidFill>
                  <a:srgbClr val="5A6A7A"/>
                </a:solidFill>
                <a:latin typeface="Calibri" pitchFamily="34" charset="0"/>
                <a:ea typeface="Calibri" pitchFamily="34" charset="-122"/>
                <a:cs typeface="Calibri" pitchFamily="34" charset="-120"/>
              </a:rPr>
              <a:t>SQLite</a:t>
            </a:r>
            <a:endParaRPr lang="en-US" sz="950" dirty="0"/>
          </a:p>
          <a:p>
            <a:pPr marL="0" indent="0" algn="ctr">
              <a:buNone/>
            </a:pPr>
            <a:r>
              <a:rPr lang="en-US" sz="950" dirty="0">
                <a:solidFill>
                  <a:srgbClr val="5A6A7A"/>
                </a:solidFill>
                <a:latin typeface="Calibri" pitchFamily="34" charset="0"/>
                <a:ea typeface="Calibri" pitchFamily="34" charset="-122"/>
                <a:cs typeface="Calibri" pitchFamily="34" charset="-120"/>
              </a:rPr>
              <a:t>local</a:t>
            </a:r>
            <a:endParaRPr lang="en-US" sz="950" dirty="0"/>
          </a:p>
        </p:txBody>
      </p:sp>
      <p:sp>
        <p:nvSpPr>
          <p:cNvPr id="48" name="Text 46"/>
          <p:cNvSpPr/>
          <p:nvPr/>
        </p:nvSpPr>
        <p:spPr>
          <a:xfrm>
            <a:off x="502920" y="3337560"/>
            <a:ext cx="8229600" cy="256032"/>
          </a:xfrm>
          <a:prstGeom prst="rect">
            <a:avLst/>
          </a:prstGeom>
          <a:noFill/>
          <a:ln/>
        </p:spPr>
        <p:txBody>
          <a:bodyPr wrap="square" rtlCol="0" anchor="ctr"/>
          <a:lstStyle/>
          <a:p>
            <a:pPr marL="0" indent="0">
              <a:buNone/>
            </a:pPr>
            <a:r>
              <a:rPr lang="en-US" sz="1200" b="1" dirty="0">
                <a:latin typeface="Calibri" pitchFamily="34" charset="0"/>
                <a:ea typeface="Calibri" pitchFamily="34" charset="-122"/>
                <a:cs typeface="Calibri" pitchFamily="34" charset="-120"/>
              </a:rPr>
              <a:t>  Garantie RGPD Art. 5(1)(c) — Minimisation des données</a:t>
            </a:r>
            <a:endParaRPr lang="en-US" sz="1200" dirty="0"/>
          </a:p>
        </p:txBody>
      </p:sp>
      <p:sp>
        <p:nvSpPr>
          <p:cNvPr id="49" name="Text 47"/>
          <p:cNvSpPr/>
          <p:nvPr/>
        </p:nvSpPr>
        <p:spPr>
          <a:xfrm>
            <a:off x="502920" y="3593592"/>
            <a:ext cx="8229600" cy="411480"/>
          </a:xfrm>
          <a:prstGeom prst="rect">
            <a:avLst/>
          </a:prstGeom>
          <a:noFill/>
          <a:ln/>
        </p:spPr>
        <p:txBody>
          <a:bodyPr wrap="square" rtlCol="0" anchor="ctr"/>
          <a:lstStyle/>
          <a:p>
            <a:pPr marL="0" indent="0">
              <a:buNone/>
            </a:pPr>
            <a:r>
              <a:rPr lang="en-US" sz="1000" dirty="0">
                <a:latin typeface="Calibri" pitchFamily="34" charset="0"/>
                <a:ea typeface="Calibri" pitchFamily="34" charset="-122"/>
                <a:cs typeface="Calibri" pitchFamily="34" charset="-120"/>
              </a:rPr>
              <a:t>Les 10 frames brutes ne sont JAMAIS sauvegardées sur disque. Elles restent en mémoire RAM pendant l'encodage puis sont libérées automatiquement par le garbage collector Python. Seul le template chiffré de 512 dimensions est persisté dans la base de données.</a:t>
            </a:r>
            <a:endParaRPr lang="en-US" sz="1000" dirty="0"/>
          </a:p>
        </p:txBody>
      </p:sp>
      <p:sp>
        <p:nvSpPr>
          <p:cNvPr id="52" name="Text 50"/>
          <p:cNvSpPr/>
          <p:nvPr/>
        </p:nvSpPr>
        <p:spPr>
          <a:xfrm>
            <a:off x="7772400" y="4974336"/>
            <a:ext cx="1097280" cy="164592"/>
          </a:xfrm>
          <a:prstGeom prst="rect">
            <a:avLst/>
          </a:prstGeom>
          <a:noFill/>
          <a:ln/>
        </p:spPr>
        <p:txBody>
          <a:bodyPr wrap="square" rtlCol="0" anchor="ctr"/>
          <a:lstStyle/>
          <a:p>
            <a:pPr marL="0" indent="0" algn="r">
              <a:buNone/>
            </a:pPr>
            <a:r>
              <a:rPr lang="en-US" sz="900" dirty="0">
                <a:solidFill>
                  <a:srgbClr val="5A6A7A"/>
                </a:solidFill>
                <a:latin typeface="Calibri" pitchFamily="34" charset="0"/>
                <a:ea typeface="Calibri" pitchFamily="34" charset="-122"/>
                <a:cs typeface="Calibri" pitchFamily="34" charset="-120"/>
              </a:rPr>
              <a:t>6 / 16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1B3A6B"/>
          </a:solidFill>
          <a:ln w="12700">
            <a:solidFill>
              <a:srgbClr val="1B3A6B"/>
            </a:solidFill>
            <a:prstDash val="solid"/>
          </a:ln>
        </p:spPr>
        <p:txBody>
          <a:bodyPr/>
          <a:lstStyle/>
          <a:p>
            <a:endParaRPr lang="fr-FR"/>
          </a:p>
        </p:txBody>
      </p:sp>
      <p:sp>
        <p:nvSpPr>
          <p:cNvPr id="3" name="Text 1"/>
          <p:cNvSpPr/>
          <p:nvPr/>
        </p:nvSpPr>
        <p:spPr>
          <a:xfrm>
            <a:off x="365760" y="91440"/>
            <a:ext cx="8229600" cy="594360"/>
          </a:xfrm>
          <a:prstGeom prst="rect">
            <a:avLst/>
          </a:prstGeom>
          <a:noFill/>
          <a:ln/>
        </p:spPr>
        <p:txBody>
          <a:bodyPr wrap="square"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Diagramme de Flux — Phase d'Authentification</a:t>
            </a:r>
            <a:endParaRPr lang="en-US" sz="2800" dirty="0"/>
          </a:p>
        </p:txBody>
      </p:sp>
      <p:sp>
        <p:nvSpPr>
          <p:cNvPr id="5" name="Shape 3"/>
          <p:cNvSpPr/>
          <p:nvPr/>
        </p:nvSpPr>
        <p:spPr>
          <a:xfrm>
            <a:off x="0" y="1005840"/>
            <a:ext cx="9144000" cy="54864"/>
          </a:xfrm>
          <a:prstGeom prst="rect">
            <a:avLst/>
          </a:prstGeom>
          <a:solidFill>
            <a:srgbClr val="0A7EA4"/>
          </a:solidFill>
          <a:ln w="12700">
            <a:solidFill>
              <a:srgbClr val="0A7EA4"/>
            </a:solidFill>
            <a:prstDash val="solid"/>
          </a:ln>
        </p:spPr>
        <p:txBody>
          <a:bodyPr/>
          <a:lstStyle/>
          <a:p>
            <a:endParaRPr lang="fr-FR"/>
          </a:p>
        </p:txBody>
      </p:sp>
      <p:sp>
        <p:nvSpPr>
          <p:cNvPr id="6" name="Shape 4"/>
          <p:cNvSpPr/>
          <p:nvPr/>
        </p:nvSpPr>
        <p:spPr>
          <a:xfrm>
            <a:off x="274320" y="1280160"/>
            <a:ext cx="1417320" cy="1554480"/>
          </a:xfrm>
          <a:prstGeom prst="rect">
            <a:avLst/>
          </a:prstGeom>
          <a:solidFill>
            <a:srgbClr val="FFFFFF"/>
          </a:solidFill>
          <a:ln w="15240">
            <a:solidFill>
              <a:srgbClr val="0A7EA4"/>
            </a:solidFill>
            <a:prstDash val="solid"/>
          </a:ln>
          <a:effectLst>
            <a:outerShdw blurRad="63500" dist="25400" dir="8100000" algn="bl" rotWithShape="0">
              <a:srgbClr val="000000">
                <a:alpha val="10000"/>
              </a:srgbClr>
            </a:outerShdw>
          </a:effectLst>
        </p:spPr>
        <p:txBody>
          <a:bodyPr/>
          <a:lstStyle/>
          <a:p>
            <a:endParaRPr lang="fr-FR"/>
          </a:p>
        </p:txBody>
      </p:sp>
      <p:sp>
        <p:nvSpPr>
          <p:cNvPr id="7" name="Shape 5"/>
          <p:cNvSpPr/>
          <p:nvPr/>
        </p:nvSpPr>
        <p:spPr>
          <a:xfrm>
            <a:off x="274320" y="1280160"/>
            <a:ext cx="1417320" cy="347472"/>
          </a:xfrm>
          <a:prstGeom prst="rect">
            <a:avLst/>
          </a:prstGeom>
          <a:solidFill>
            <a:srgbClr val="0A7EA4"/>
          </a:solidFill>
          <a:ln w="12700">
            <a:solidFill>
              <a:srgbClr val="0A7EA4"/>
            </a:solidFill>
            <a:prstDash val="solid"/>
          </a:ln>
        </p:spPr>
        <p:txBody>
          <a:bodyPr/>
          <a:lstStyle/>
          <a:p>
            <a:endParaRPr lang="fr-FR"/>
          </a:p>
        </p:txBody>
      </p:sp>
      <p:sp>
        <p:nvSpPr>
          <p:cNvPr id="8" name="Text 6"/>
          <p:cNvSpPr/>
          <p:nvPr/>
        </p:nvSpPr>
        <p:spPr>
          <a:xfrm>
            <a:off x="274320" y="1280160"/>
            <a:ext cx="1417320" cy="347472"/>
          </a:xfrm>
          <a:prstGeom prst="rect">
            <a:avLst/>
          </a:prstGeom>
          <a:noFill/>
          <a:ln/>
        </p:spPr>
        <p:txBody>
          <a:bodyPr wrap="square"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Scan Webcam</a:t>
            </a:r>
            <a:endParaRPr lang="en-US" sz="950" dirty="0"/>
          </a:p>
        </p:txBody>
      </p:sp>
      <p:sp>
        <p:nvSpPr>
          <p:cNvPr id="9" name="Text 7"/>
          <p:cNvSpPr/>
          <p:nvPr/>
        </p:nvSpPr>
        <p:spPr>
          <a:xfrm>
            <a:off x="274320" y="1627632"/>
            <a:ext cx="1417320" cy="411480"/>
          </a:xfrm>
          <a:prstGeom prst="rect">
            <a:avLst/>
          </a:prstGeom>
          <a:noFill/>
          <a:ln/>
        </p:spPr>
        <p:txBody>
          <a:bodyPr wrap="square" rtlCol="0" anchor="ctr"/>
          <a:lstStyle/>
          <a:p>
            <a:pPr marL="0" indent="0" algn="ctr">
              <a:buNone/>
            </a:pPr>
            <a:endParaRPr lang="en-US" sz="2200" dirty="0"/>
          </a:p>
        </p:txBody>
      </p:sp>
      <p:sp>
        <p:nvSpPr>
          <p:cNvPr id="10" name="Text 8"/>
          <p:cNvSpPr/>
          <p:nvPr/>
        </p:nvSpPr>
        <p:spPr>
          <a:xfrm>
            <a:off x="274320" y="2039112"/>
            <a:ext cx="1417320" cy="594360"/>
          </a:xfrm>
          <a:prstGeom prst="rect">
            <a:avLst/>
          </a:prstGeom>
          <a:noFill/>
          <a:ln/>
        </p:spPr>
        <p:txBody>
          <a:bodyPr wrap="square" rtlCol="0" anchor="ctr"/>
          <a:lstStyle/>
          <a:p>
            <a:pPr marL="0" indent="0" algn="ctr">
              <a:buNone/>
            </a:pPr>
            <a:r>
              <a:rPr lang="en-US" sz="950" dirty="0">
                <a:solidFill>
                  <a:srgbClr val="5A6A7A"/>
                </a:solidFill>
                <a:latin typeface="Calibri" pitchFamily="34" charset="0"/>
                <a:ea typeface="Calibri" pitchFamily="34" charset="-122"/>
                <a:cs typeface="Calibri" pitchFamily="34" charset="-120"/>
              </a:rPr>
              <a:t>Toutes les</a:t>
            </a:r>
            <a:endParaRPr lang="en-US" sz="950" dirty="0"/>
          </a:p>
          <a:p>
            <a:pPr marL="0" indent="0" algn="ctr">
              <a:buNone/>
            </a:pPr>
            <a:r>
              <a:rPr lang="en-US" sz="950" dirty="0">
                <a:solidFill>
                  <a:srgbClr val="5A6A7A"/>
                </a:solidFill>
                <a:latin typeface="Calibri" pitchFamily="34" charset="0"/>
                <a:ea typeface="Calibri" pitchFamily="34" charset="-122"/>
                <a:cs typeface="Calibri" pitchFamily="34" charset="-120"/>
              </a:rPr>
              <a:t>0.5 secondes</a:t>
            </a:r>
            <a:endParaRPr lang="en-US" sz="950" dirty="0"/>
          </a:p>
        </p:txBody>
      </p:sp>
      <p:sp>
        <p:nvSpPr>
          <p:cNvPr id="11" name="Text 9"/>
          <p:cNvSpPr/>
          <p:nvPr/>
        </p:nvSpPr>
        <p:spPr>
          <a:xfrm>
            <a:off x="1691640" y="1920240"/>
            <a:ext cx="137160" cy="365760"/>
          </a:xfrm>
          <a:prstGeom prst="rect">
            <a:avLst/>
          </a:prstGeom>
          <a:noFill/>
          <a:ln/>
        </p:spPr>
        <p:txBody>
          <a:bodyPr wrap="square" rtlCol="0" anchor="ctr"/>
          <a:lstStyle/>
          <a:p>
            <a:pPr marL="0" indent="0" algn="ctr">
              <a:buNone/>
            </a:pPr>
            <a:r>
              <a:rPr lang="en-US" sz="1600" b="1" dirty="0">
                <a:solidFill>
                  <a:srgbClr val="0A7EA4"/>
                </a:solidFill>
              </a:rPr>
              <a:t>→</a:t>
            </a:r>
            <a:endParaRPr lang="en-US" sz="1600" dirty="0"/>
          </a:p>
        </p:txBody>
      </p:sp>
      <p:sp>
        <p:nvSpPr>
          <p:cNvPr id="12" name="Shape 10"/>
          <p:cNvSpPr/>
          <p:nvPr/>
        </p:nvSpPr>
        <p:spPr>
          <a:xfrm>
            <a:off x="1828800" y="1280160"/>
            <a:ext cx="1417320" cy="1554480"/>
          </a:xfrm>
          <a:prstGeom prst="rect">
            <a:avLst/>
          </a:prstGeom>
          <a:solidFill>
            <a:srgbClr val="FFFFFF"/>
          </a:solidFill>
          <a:ln w="15240">
            <a:solidFill>
              <a:srgbClr val="0A7EA4"/>
            </a:solidFill>
            <a:prstDash val="solid"/>
          </a:ln>
          <a:effectLst>
            <a:outerShdw blurRad="63500" dist="25400" dir="8100000" algn="bl" rotWithShape="0">
              <a:srgbClr val="000000">
                <a:alpha val="10000"/>
              </a:srgbClr>
            </a:outerShdw>
          </a:effectLst>
        </p:spPr>
        <p:txBody>
          <a:bodyPr/>
          <a:lstStyle/>
          <a:p>
            <a:endParaRPr lang="fr-FR"/>
          </a:p>
        </p:txBody>
      </p:sp>
      <p:sp>
        <p:nvSpPr>
          <p:cNvPr id="13" name="Shape 11"/>
          <p:cNvSpPr/>
          <p:nvPr/>
        </p:nvSpPr>
        <p:spPr>
          <a:xfrm>
            <a:off x="1828800" y="1280160"/>
            <a:ext cx="1417320" cy="347472"/>
          </a:xfrm>
          <a:prstGeom prst="rect">
            <a:avLst/>
          </a:prstGeom>
          <a:solidFill>
            <a:srgbClr val="0A7EA4"/>
          </a:solidFill>
          <a:ln w="12700">
            <a:solidFill>
              <a:srgbClr val="0A7EA4"/>
            </a:solidFill>
            <a:prstDash val="solid"/>
          </a:ln>
        </p:spPr>
        <p:txBody>
          <a:bodyPr/>
          <a:lstStyle/>
          <a:p>
            <a:endParaRPr lang="fr-FR"/>
          </a:p>
        </p:txBody>
      </p:sp>
      <p:sp>
        <p:nvSpPr>
          <p:cNvPr id="14" name="Text 12"/>
          <p:cNvSpPr/>
          <p:nvPr/>
        </p:nvSpPr>
        <p:spPr>
          <a:xfrm>
            <a:off x="1828800" y="1280160"/>
            <a:ext cx="1417320" cy="347472"/>
          </a:xfrm>
          <a:prstGeom prst="rect">
            <a:avLst/>
          </a:prstGeom>
          <a:noFill/>
          <a:ln/>
        </p:spPr>
        <p:txBody>
          <a:bodyPr wrap="square"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Visage ?</a:t>
            </a:r>
            <a:endParaRPr lang="en-US" sz="950" dirty="0"/>
          </a:p>
          <a:p>
            <a:pPr marL="0" indent="0" algn="ctr">
              <a:buNone/>
            </a:pPr>
            <a:r>
              <a:rPr lang="en-US" sz="950" b="1" dirty="0">
                <a:solidFill>
                  <a:srgbClr val="FFFFFF"/>
                </a:solidFill>
                <a:latin typeface="Calibri" pitchFamily="34" charset="0"/>
                <a:ea typeface="Calibri" pitchFamily="34" charset="-122"/>
                <a:cs typeface="Calibri" pitchFamily="34" charset="-120"/>
              </a:rPr>
              <a:t>(Haar Cascade)</a:t>
            </a:r>
            <a:endParaRPr lang="en-US" sz="950" dirty="0"/>
          </a:p>
        </p:txBody>
      </p:sp>
      <p:sp>
        <p:nvSpPr>
          <p:cNvPr id="15" name="Text 13"/>
          <p:cNvSpPr/>
          <p:nvPr/>
        </p:nvSpPr>
        <p:spPr>
          <a:xfrm>
            <a:off x="1828800" y="1627632"/>
            <a:ext cx="1417320" cy="411480"/>
          </a:xfrm>
          <a:prstGeom prst="rect">
            <a:avLst/>
          </a:prstGeom>
          <a:noFill/>
          <a:ln/>
        </p:spPr>
        <p:txBody>
          <a:bodyPr wrap="square" rtlCol="0" anchor="ctr"/>
          <a:lstStyle/>
          <a:p>
            <a:pPr marL="0" indent="0" algn="ctr">
              <a:buNone/>
            </a:pPr>
            <a:endParaRPr lang="en-US" sz="2200" dirty="0"/>
          </a:p>
        </p:txBody>
      </p:sp>
      <p:sp>
        <p:nvSpPr>
          <p:cNvPr id="16" name="Text 14"/>
          <p:cNvSpPr/>
          <p:nvPr/>
        </p:nvSpPr>
        <p:spPr>
          <a:xfrm>
            <a:off x="1828800" y="2039112"/>
            <a:ext cx="1417320" cy="594360"/>
          </a:xfrm>
          <a:prstGeom prst="rect">
            <a:avLst/>
          </a:prstGeom>
          <a:noFill/>
          <a:ln/>
        </p:spPr>
        <p:txBody>
          <a:bodyPr wrap="square" rtlCol="0" anchor="ctr"/>
          <a:lstStyle/>
          <a:p>
            <a:pPr marL="0" indent="0" algn="ctr">
              <a:buNone/>
            </a:pPr>
            <a:r>
              <a:rPr lang="en-US" sz="950" dirty="0">
                <a:solidFill>
                  <a:srgbClr val="5A6A7A"/>
                </a:solidFill>
                <a:latin typeface="Calibri" pitchFamily="34" charset="0"/>
                <a:ea typeface="Calibri" pitchFamily="34" charset="-122"/>
                <a:cs typeface="Calibri" pitchFamily="34" charset="-120"/>
              </a:rPr>
              <a:t>Détection</a:t>
            </a:r>
            <a:endParaRPr lang="en-US" sz="950" dirty="0"/>
          </a:p>
          <a:p>
            <a:pPr marL="0" indent="0" algn="ctr">
              <a:buNone/>
            </a:pPr>
            <a:r>
              <a:rPr lang="en-US" sz="950" dirty="0">
                <a:solidFill>
                  <a:srgbClr val="5A6A7A"/>
                </a:solidFill>
                <a:latin typeface="Calibri" pitchFamily="34" charset="0"/>
                <a:ea typeface="Calibri" pitchFamily="34" charset="-122"/>
                <a:cs typeface="Calibri" pitchFamily="34" charset="-120"/>
              </a:rPr>
              <a:t>rapide</a:t>
            </a:r>
            <a:endParaRPr lang="en-US" sz="950" dirty="0"/>
          </a:p>
        </p:txBody>
      </p:sp>
      <p:sp>
        <p:nvSpPr>
          <p:cNvPr id="17" name="Text 15"/>
          <p:cNvSpPr/>
          <p:nvPr/>
        </p:nvSpPr>
        <p:spPr>
          <a:xfrm>
            <a:off x="3246120" y="1920240"/>
            <a:ext cx="137160" cy="365760"/>
          </a:xfrm>
          <a:prstGeom prst="rect">
            <a:avLst/>
          </a:prstGeom>
          <a:noFill/>
          <a:ln/>
        </p:spPr>
        <p:txBody>
          <a:bodyPr wrap="square" rtlCol="0" anchor="ctr"/>
          <a:lstStyle/>
          <a:p>
            <a:pPr marL="0" indent="0" algn="ctr">
              <a:buNone/>
            </a:pPr>
            <a:r>
              <a:rPr lang="en-US" sz="1600" b="1" dirty="0">
                <a:solidFill>
                  <a:srgbClr val="0A7EA4"/>
                </a:solidFill>
              </a:rPr>
              <a:t>→</a:t>
            </a:r>
            <a:endParaRPr lang="en-US" sz="1600" dirty="0"/>
          </a:p>
        </p:txBody>
      </p:sp>
      <p:sp>
        <p:nvSpPr>
          <p:cNvPr id="18" name="Shape 16"/>
          <p:cNvSpPr/>
          <p:nvPr/>
        </p:nvSpPr>
        <p:spPr>
          <a:xfrm>
            <a:off x="3383280" y="1280160"/>
            <a:ext cx="1417320" cy="1554480"/>
          </a:xfrm>
          <a:prstGeom prst="rect">
            <a:avLst/>
          </a:prstGeom>
          <a:solidFill>
            <a:srgbClr val="FFFFFF"/>
          </a:solidFill>
          <a:ln w="15240">
            <a:solidFill>
              <a:srgbClr val="1B3A6B"/>
            </a:solidFill>
            <a:prstDash val="solid"/>
          </a:ln>
          <a:effectLst>
            <a:outerShdw blurRad="63500" dist="25400" dir="8100000" algn="bl" rotWithShape="0">
              <a:srgbClr val="000000">
                <a:alpha val="10000"/>
              </a:srgbClr>
            </a:outerShdw>
          </a:effectLst>
        </p:spPr>
        <p:txBody>
          <a:bodyPr/>
          <a:lstStyle/>
          <a:p>
            <a:endParaRPr lang="fr-FR"/>
          </a:p>
        </p:txBody>
      </p:sp>
      <p:sp>
        <p:nvSpPr>
          <p:cNvPr id="19" name="Shape 17"/>
          <p:cNvSpPr/>
          <p:nvPr/>
        </p:nvSpPr>
        <p:spPr>
          <a:xfrm>
            <a:off x="3383280" y="1280160"/>
            <a:ext cx="1417320" cy="347472"/>
          </a:xfrm>
          <a:prstGeom prst="rect">
            <a:avLst/>
          </a:prstGeom>
          <a:solidFill>
            <a:srgbClr val="1B3A6B"/>
          </a:solidFill>
          <a:ln w="12700">
            <a:solidFill>
              <a:srgbClr val="1B3A6B"/>
            </a:solidFill>
            <a:prstDash val="solid"/>
          </a:ln>
        </p:spPr>
        <p:txBody>
          <a:bodyPr/>
          <a:lstStyle/>
          <a:p>
            <a:endParaRPr lang="fr-FR"/>
          </a:p>
        </p:txBody>
      </p:sp>
      <p:sp>
        <p:nvSpPr>
          <p:cNvPr id="20" name="Text 18"/>
          <p:cNvSpPr/>
          <p:nvPr/>
        </p:nvSpPr>
        <p:spPr>
          <a:xfrm>
            <a:off x="3383280" y="1280160"/>
            <a:ext cx="1417320" cy="347472"/>
          </a:xfrm>
          <a:prstGeom prst="rect">
            <a:avLst/>
          </a:prstGeom>
          <a:noFill/>
          <a:ln/>
        </p:spPr>
        <p:txBody>
          <a:bodyPr wrap="square"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Encode</a:t>
            </a:r>
            <a:endParaRPr lang="en-US" sz="950" dirty="0"/>
          </a:p>
          <a:p>
            <a:pPr marL="0" indent="0" algn="ctr">
              <a:buNone/>
            </a:pPr>
            <a:r>
              <a:rPr lang="en-US" sz="950" b="1" dirty="0">
                <a:solidFill>
                  <a:srgbClr val="FFFFFF"/>
                </a:solidFill>
                <a:latin typeface="Calibri" pitchFamily="34" charset="0"/>
                <a:ea typeface="Calibri" pitchFamily="34" charset="-122"/>
                <a:cs typeface="Calibri" pitchFamily="34" charset="-120"/>
              </a:rPr>
              <a:t>(ArcFace)</a:t>
            </a:r>
            <a:endParaRPr lang="en-US" sz="950" dirty="0"/>
          </a:p>
        </p:txBody>
      </p:sp>
      <p:sp>
        <p:nvSpPr>
          <p:cNvPr id="21" name="Text 19"/>
          <p:cNvSpPr/>
          <p:nvPr/>
        </p:nvSpPr>
        <p:spPr>
          <a:xfrm>
            <a:off x="3383280" y="1627632"/>
            <a:ext cx="1417320" cy="411480"/>
          </a:xfrm>
          <a:prstGeom prst="rect">
            <a:avLst/>
          </a:prstGeom>
          <a:noFill/>
          <a:ln/>
        </p:spPr>
        <p:txBody>
          <a:bodyPr wrap="square" rtlCol="0" anchor="ctr"/>
          <a:lstStyle/>
          <a:p>
            <a:pPr marL="0" indent="0" algn="ctr">
              <a:buNone/>
            </a:pPr>
            <a:endParaRPr lang="en-US" sz="2200" dirty="0"/>
          </a:p>
        </p:txBody>
      </p:sp>
      <p:sp>
        <p:nvSpPr>
          <p:cNvPr id="22" name="Text 20"/>
          <p:cNvSpPr/>
          <p:nvPr/>
        </p:nvSpPr>
        <p:spPr>
          <a:xfrm>
            <a:off x="3383280" y="2039112"/>
            <a:ext cx="1417320" cy="594360"/>
          </a:xfrm>
          <a:prstGeom prst="rect">
            <a:avLst/>
          </a:prstGeom>
          <a:noFill/>
          <a:ln/>
        </p:spPr>
        <p:txBody>
          <a:bodyPr wrap="square" rtlCol="0" anchor="ctr"/>
          <a:lstStyle/>
          <a:p>
            <a:pPr marL="0" indent="0" algn="ctr">
              <a:buNone/>
            </a:pPr>
            <a:r>
              <a:rPr lang="en-US" sz="950" dirty="0">
                <a:solidFill>
                  <a:srgbClr val="5A6A7A"/>
                </a:solidFill>
                <a:latin typeface="Calibri" pitchFamily="34" charset="0"/>
                <a:ea typeface="Calibri" pitchFamily="34" charset="-122"/>
                <a:cs typeface="Calibri" pitchFamily="34" charset="-120"/>
              </a:rPr>
              <a:t>Embedding</a:t>
            </a:r>
            <a:endParaRPr lang="en-US" sz="950" dirty="0"/>
          </a:p>
          <a:p>
            <a:pPr marL="0" indent="0" algn="ctr">
              <a:buNone/>
            </a:pPr>
            <a:r>
              <a:rPr lang="en-US" sz="950" dirty="0">
                <a:solidFill>
                  <a:srgbClr val="5A6A7A"/>
                </a:solidFill>
                <a:latin typeface="Calibri" pitchFamily="34" charset="0"/>
                <a:ea typeface="Calibri" pitchFamily="34" charset="-122"/>
                <a:cs typeface="Calibri" pitchFamily="34" charset="-120"/>
              </a:rPr>
              <a:t>512D</a:t>
            </a:r>
            <a:endParaRPr lang="en-US" sz="950" dirty="0"/>
          </a:p>
        </p:txBody>
      </p:sp>
      <p:sp>
        <p:nvSpPr>
          <p:cNvPr id="23" name="Text 21"/>
          <p:cNvSpPr/>
          <p:nvPr/>
        </p:nvSpPr>
        <p:spPr>
          <a:xfrm>
            <a:off x="4800600" y="1920240"/>
            <a:ext cx="137160" cy="365760"/>
          </a:xfrm>
          <a:prstGeom prst="rect">
            <a:avLst/>
          </a:prstGeom>
          <a:noFill/>
          <a:ln/>
        </p:spPr>
        <p:txBody>
          <a:bodyPr wrap="square" rtlCol="0" anchor="ctr"/>
          <a:lstStyle/>
          <a:p>
            <a:pPr marL="0" indent="0" algn="ctr">
              <a:buNone/>
            </a:pPr>
            <a:r>
              <a:rPr lang="en-US" sz="1600" b="1" dirty="0">
                <a:solidFill>
                  <a:srgbClr val="0A7EA4"/>
                </a:solidFill>
              </a:rPr>
              <a:t>→</a:t>
            </a:r>
            <a:endParaRPr lang="en-US" sz="1600" dirty="0"/>
          </a:p>
        </p:txBody>
      </p:sp>
      <p:sp>
        <p:nvSpPr>
          <p:cNvPr id="24" name="Shape 22"/>
          <p:cNvSpPr/>
          <p:nvPr/>
        </p:nvSpPr>
        <p:spPr>
          <a:xfrm>
            <a:off x="4937760" y="1280160"/>
            <a:ext cx="1417320" cy="1554480"/>
          </a:xfrm>
          <a:prstGeom prst="rect">
            <a:avLst/>
          </a:prstGeom>
          <a:solidFill>
            <a:srgbClr val="FFFFFF"/>
          </a:solidFill>
          <a:ln w="15240">
            <a:solidFill>
              <a:srgbClr val="1B3A6B"/>
            </a:solidFill>
            <a:prstDash val="solid"/>
          </a:ln>
          <a:effectLst>
            <a:outerShdw blurRad="63500" dist="25400" dir="8100000" algn="bl" rotWithShape="0">
              <a:srgbClr val="000000">
                <a:alpha val="10000"/>
              </a:srgbClr>
            </a:outerShdw>
          </a:effectLst>
        </p:spPr>
        <p:txBody>
          <a:bodyPr/>
          <a:lstStyle/>
          <a:p>
            <a:endParaRPr lang="fr-FR"/>
          </a:p>
        </p:txBody>
      </p:sp>
      <p:sp>
        <p:nvSpPr>
          <p:cNvPr id="25" name="Shape 23"/>
          <p:cNvSpPr/>
          <p:nvPr/>
        </p:nvSpPr>
        <p:spPr>
          <a:xfrm>
            <a:off x="4937760" y="1280160"/>
            <a:ext cx="1417320" cy="347472"/>
          </a:xfrm>
          <a:prstGeom prst="rect">
            <a:avLst/>
          </a:prstGeom>
          <a:solidFill>
            <a:srgbClr val="1B3A6B"/>
          </a:solidFill>
          <a:ln w="12700">
            <a:solidFill>
              <a:srgbClr val="1B3A6B"/>
            </a:solidFill>
            <a:prstDash val="solid"/>
          </a:ln>
        </p:spPr>
        <p:txBody>
          <a:bodyPr/>
          <a:lstStyle/>
          <a:p>
            <a:endParaRPr lang="fr-FR"/>
          </a:p>
        </p:txBody>
      </p:sp>
      <p:sp>
        <p:nvSpPr>
          <p:cNvPr id="26" name="Text 24"/>
          <p:cNvSpPr/>
          <p:nvPr/>
        </p:nvSpPr>
        <p:spPr>
          <a:xfrm>
            <a:off x="4937760" y="1280160"/>
            <a:ext cx="1417320" cy="347472"/>
          </a:xfrm>
          <a:prstGeom prst="rect">
            <a:avLst/>
          </a:prstGeom>
          <a:noFill/>
          <a:ln/>
        </p:spPr>
        <p:txBody>
          <a:bodyPr wrap="square"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Comparer DB</a:t>
            </a:r>
            <a:endParaRPr lang="en-US" sz="950" dirty="0"/>
          </a:p>
        </p:txBody>
      </p:sp>
      <p:sp>
        <p:nvSpPr>
          <p:cNvPr id="27" name="Text 25"/>
          <p:cNvSpPr/>
          <p:nvPr/>
        </p:nvSpPr>
        <p:spPr>
          <a:xfrm>
            <a:off x="4937760" y="1627632"/>
            <a:ext cx="1417320" cy="411480"/>
          </a:xfrm>
          <a:prstGeom prst="rect">
            <a:avLst/>
          </a:prstGeom>
          <a:noFill/>
          <a:ln/>
        </p:spPr>
        <p:txBody>
          <a:bodyPr wrap="square" rtlCol="0" anchor="ctr"/>
          <a:lstStyle/>
          <a:p>
            <a:pPr marL="0" indent="0" algn="ctr">
              <a:buNone/>
            </a:pPr>
            <a:endParaRPr lang="en-US" sz="2200" dirty="0"/>
          </a:p>
        </p:txBody>
      </p:sp>
      <p:sp>
        <p:nvSpPr>
          <p:cNvPr id="28" name="Text 26"/>
          <p:cNvSpPr/>
          <p:nvPr/>
        </p:nvSpPr>
        <p:spPr>
          <a:xfrm>
            <a:off x="4937760" y="2039112"/>
            <a:ext cx="1417320" cy="594360"/>
          </a:xfrm>
          <a:prstGeom prst="rect">
            <a:avLst/>
          </a:prstGeom>
          <a:noFill/>
          <a:ln/>
        </p:spPr>
        <p:txBody>
          <a:bodyPr wrap="square" rtlCol="0" anchor="ctr"/>
          <a:lstStyle/>
          <a:p>
            <a:pPr marL="0" indent="0" algn="ctr">
              <a:buNone/>
            </a:pPr>
            <a:r>
              <a:rPr lang="en-US" sz="950" dirty="0">
                <a:solidFill>
                  <a:srgbClr val="5A6A7A"/>
                </a:solidFill>
                <a:latin typeface="Calibri" pitchFamily="34" charset="0"/>
                <a:ea typeface="Calibri" pitchFamily="34" charset="-122"/>
                <a:cs typeface="Calibri" pitchFamily="34" charset="-120"/>
              </a:rPr>
              <a:t>Similarité</a:t>
            </a:r>
            <a:endParaRPr lang="en-US" sz="950" dirty="0"/>
          </a:p>
          <a:p>
            <a:pPr marL="0" indent="0" algn="ctr">
              <a:buNone/>
            </a:pPr>
            <a:r>
              <a:rPr lang="en-US" sz="950" dirty="0">
                <a:solidFill>
                  <a:srgbClr val="5A6A7A"/>
                </a:solidFill>
                <a:latin typeface="Calibri" pitchFamily="34" charset="0"/>
                <a:ea typeface="Calibri" pitchFamily="34" charset="-122"/>
                <a:cs typeface="Calibri" pitchFamily="34" charset="-120"/>
              </a:rPr>
              <a:t>cosinus</a:t>
            </a:r>
            <a:endParaRPr lang="en-US" sz="950" dirty="0"/>
          </a:p>
        </p:txBody>
      </p:sp>
      <p:sp>
        <p:nvSpPr>
          <p:cNvPr id="29" name="Text 27"/>
          <p:cNvSpPr/>
          <p:nvPr/>
        </p:nvSpPr>
        <p:spPr>
          <a:xfrm>
            <a:off x="6355080" y="1920240"/>
            <a:ext cx="137160" cy="365760"/>
          </a:xfrm>
          <a:prstGeom prst="rect">
            <a:avLst/>
          </a:prstGeom>
          <a:noFill/>
          <a:ln/>
        </p:spPr>
        <p:txBody>
          <a:bodyPr wrap="square" rtlCol="0" anchor="ctr"/>
          <a:lstStyle/>
          <a:p>
            <a:pPr marL="0" indent="0" algn="ctr">
              <a:buNone/>
            </a:pPr>
            <a:r>
              <a:rPr lang="en-US" sz="1600" b="1" dirty="0">
                <a:solidFill>
                  <a:srgbClr val="0A7EA4"/>
                </a:solidFill>
              </a:rPr>
              <a:t>→</a:t>
            </a:r>
            <a:endParaRPr lang="en-US" sz="1600" dirty="0"/>
          </a:p>
        </p:txBody>
      </p:sp>
      <p:sp>
        <p:nvSpPr>
          <p:cNvPr id="30" name="Shape 28"/>
          <p:cNvSpPr/>
          <p:nvPr/>
        </p:nvSpPr>
        <p:spPr>
          <a:xfrm>
            <a:off x="6492240" y="1280160"/>
            <a:ext cx="1417320" cy="1554480"/>
          </a:xfrm>
          <a:prstGeom prst="rect">
            <a:avLst/>
          </a:prstGeom>
          <a:solidFill>
            <a:srgbClr val="FFFFFF"/>
          </a:solidFill>
          <a:ln w="15240">
            <a:solidFill>
              <a:srgbClr val="E07B00"/>
            </a:solidFill>
            <a:prstDash val="solid"/>
          </a:ln>
          <a:effectLst>
            <a:outerShdw blurRad="63500" dist="25400" dir="8100000" algn="bl" rotWithShape="0">
              <a:srgbClr val="000000">
                <a:alpha val="10000"/>
              </a:srgbClr>
            </a:outerShdw>
          </a:effectLst>
        </p:spPr>
        <p:txBody>
          <a:bodyPr/>
          <a:lstStyle/>
          <a:p>
            <a:endParaRPr lang="fr-FR"/>
          </a:p>
        </p:txBody>
      </p:sp>
      <p:sp>
        <p:nvSpPr>
          <p:cNvPr id="31" name="Shape 29"/>
          <p:cNvSpPr/>
          <p:nvPr/>
        </p:nvSpPr>
        <p:spPr>
          <a:xfrm>
            <a:off x="6492240" y="1280160"/>
            <a:ext cx="1417320" cy="347472"/>
          </a:xfrm>
          <a:prstGeom prst="rect">
            <a:avLst/>
          </a:prstGeom>
          <a:solidFill>
            <a:srgbClr val="E07B00"/>
          </a:solidFill>
          <a:ln w="12700">
            <a:solidFill>
              <a:srgbClr val="E07B00"/>
            </a:solidFill>
            <a:prstDash val="solid"/>
          </a:ln>
        </p:spPr>
        <p:txBody>
          <a:bodyPr/>
          <a:lstStyle/>
          <a:p>
            <a:endParaRPr lang="fr-FR"/>
          </a:p>
        </p:txBody>
      </p:sp>
      <p:sp>
        <p:nvSpPr>
          <p:cNvPr id="32" name="Text 30"/>
          <p:cNvSpPr/>
          <p:nvPr/>
        </p:nvSpPr>
        <p:spPr>
          <a:xfrm>
            <a:off x="6492240" y="1280160"/>
            <a:ext cx="1417320" cy="347472"/>
          </a:xfrm>
          <a:prstGeom prst="rect">
            <a:avLst/>
          </a:prstGeom>
          <a:noFill/>
          <a:ln/>
        </p:spPr>
        <p:txBody>
          <a:bodyPr wrap="square"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Score ≥ 0.40 ?</a:t>
            </a:r>
            <a:endParaRPr lang="en-US" sz="950" dirty="0"/>
          </a:p>
        </p:txBody>
      </p:sp>
      <p:sp>
        <p:nvSpPr>
          <p:cNvPr id="33" name="Text 31"/>
          <p:cNvSpPr/>
          <p:nvPr/>
        </p:nvSpPr>
        <p:spPr>
          <a:xfrm>
            <a:off x="6492240" y="1627632"/>
            <a:ext cx="1417320" cy="411480"/>
          </a:xfrm>
          <a:prstGeom prst="rect">
            <a:avLst/>
          </a:prstGeom>
          <a:noFill/>
          <a:ln/>
        </p:spPr>
        <p:txBody>
          <a:bodyPr wrap="square" rtlCol="0" anchor="ctr"/>
          <a:lstStyle/>
          <a:p>
            <a:pPr marL="0" indent="0" algn="ctr">
              <a:buNone/>
            </a:pPr>
            <a:endParaRPr lang="en-US" sz="2200" dirty="0"/>
          </a:p>
        </p:txBody>
      </p:sp>
      <p:sp>
        <p:nvSpPr>
          <p:cNvPr id="34" name="Text 32"/>
          <p:cNvSpPr/>
          <p:nvPr/>
        </p:nvSpPr>
        <p:spPr>
          <a:xfrm>
            <a:off x="6492240" y="2039112"/>
            <a:ext cx="1417320" cy="594360"/>
          </a:xfrm>
          <a:prstGeom prst="rect">
            <a:avLst/>
          </a:prstGeom>
          <a:noFill/>
          <a:ln/>
        </p:spPr>
        <p:txBody>
          <a:bodyPr wrap="square" rtlCol="0" anchor="ctr"/>
          <a:lstStyle/>
          <a:p>
            <a:pPr marL="0" indent="0" algn="ctr">
              <a:buNone/>
            </a:pPr>
            <a:r>
              <a:rPr lang="en-US" sz="950" dirty="0">
                <a:solidFill>
                  <a:srgbClr val="5A6A7A"/>
                </a:solidFill>
                <a:latin typeface="Calibri" pitchFamily="34" charset="0"/>
                <a:ea typeface="Calibri" pitchFamily="34" charset="-122"/>
                <a:cs typeface="Calibri" pitchFamily="34" charset="-120"/>
              </a:rPr>
              <a:t>Seuil de</a:t>
            </a:r>
            <a:endParaRPr lang="en-US" sz="950" dirty="0"/>
          </a:p>
          <a:p>
            <a:pPr marL="0" indent="0" algn="ctr">
              <a:buNone/>
            </a:pPr>
            <a:r>
              <a:rPr lang="en-US" sz="950" dirty="0">
                <a:solidFill>
                  <a:srgbClr val="5A6A7A"/>
                </a:solidFill>
                <a:latin typeface="Calibri" pitchFamily="34" charset="0"/>
                <a:ea typeface="Calibri" pitchFamily="34" charset="-122"/>
                <a:cs typeface="Calibri" pitchFamily="34" charset="-120"/>
              </a:rPr>
              <a:t>décision</a:t>
            </a:r>
            <a:endParaRPr lang="en-US" sz="950" dirty="0"/>
          </a:p>
        </p:txBody>
      </p:sp>
      <p:sp>
        <p:nvSpPr>
          <p:cNvPr id="35" name="Shape 33"/>
          <p:cNvSpPr/>
          <p:nvPr/>
        </p:nvSpPr>
        <p:spPr>
          <a:xfrm>
            <a:off x="6492240" y="3063240"/>
            <a:ext cx="2331720" cy="640080"/>
          </a:xfrm>
          <a:prstGeom prst="rect">
            <a:avLst/>
          </a:prstGeom>
          <a:solidFill>
            <a:srgbClr val="E8F5EE"/>
          </a:solidFill>
          <a:ln w="15240">
            <a:solidFill>
              <a:srgbClr val="1A7A4A"/>
            </a:solidFill>
            <a:prstDash val="solid"/>
          </a:ln>
          <a:effectLst>
            <a:outerShdw blurRad="63500" dist="25400" dir="8100000" algn="bl" rotWithShape="0">
              <a:srgbClr val="000000">
                <a:alpha val="10000"/>
              </a:srgbClr>
            </a:outerShdw>
          </a:effectLst>
        </p:spPr>
        <p:txBody>
          <a:bodyPr/>
          <a:lstStyle/>
          <a:p>
            <a:endParaRPr lang="fr-FR"/>
          </a:p>
        </p:txBody>
      </p:sp>
      <p:sp>
        <p:nvSpPr>
          <p:cNvPr id="36" name="Text 34"/>
          <p:cNvSpPr/>
          <p:nvPr/>
        </p:nvSpPr>
        <p:spPr>
          <a:xfrm>
            <a:off x="6492240" y="3063240"/>
            <a:ext cx="2331720" cy="640080"/>
          </a:xfrm>
          <a:prstGeom prst="rect">
            <a:avLst/>
          </a:prstGeom>
          <a:noFill/>
          <a:ln/>
        </p:spPr>
        <p:txBody>
          <a:bodyPr wrap="square" rtlCol="0" anchor="ctr"/>
          <a:lstStyle/>
          <a:p>
            <a:pPr marL="0" indent="0" algn="ctr">
              <a:buNone/>
            </a:pPr>
            <a:r>
              <a:rPr lang="en-US" sz="1200" b="1" dirty="0">
                <a:latin typeface="Calibri" pitchFamily="34" charset="0"/>
                <a:ea typeface="Calibri" pitchFamily="34" charset="-122"/>
                <a:cs typeface="Calibri" pitchFamily="34" charset="-120"/>
              </a:rPr>
              <a:t>  OUI → Déverrouillage</a:t>
            </a:r>
            <a:endParaRPr lang="en-US" sz="1200" dirty="0"/>
          </a:p>
        </p:txBody>
      </p:sp>
      <p:sp>
        <p:nvSpPr>
          <p:cNvPr id="37" name="Text 35"/>
          <p:cNvSpPr/>
          <p:nvPr/>
        </p:nvSpPr>
        <p:spPr>
          <a:xfrm>
            <a:off x="7269480" y="2834640"/>
            <a:ext cx="457200" cy="274320"/>
          </a:xfrm>
          <a:prstGeom prst="rect">
            <a:avLst/>
          </a:prstGeom>
          <a:noFill/>
          <a:ln/>
        </p:spPr>
        <p:txBody>
          <a:bodyPr wrap="square" rtlCol="0" anchor="ctr"/>
          <a:lstStyle/>
          <a:p>
            <a:pPr marL="0" indent="0" algn="ctr">
              <a:buNone/>
            </a:pPr>
            <a:r>
              <a:rPr lang="en-US" sz="1800" b="1" dirty="0">
                <a:solidFill>
                  <a:srgbClr val="1A7A4A"/>
                </a:solidFill>
              </a:rPr>
              <a:t>↑</a:t>
            </a:r>
            <a:endParaRPr lang="en-US" sz="1800" dirty="0"/>
          </a:p>
        </p:txBody>
      </p:sp>
      <p:sp>
        <p:nvSpPr>
          <p:cNvPr id="38" name="Shape 36"/>
          <p:cNvSpPr/>
          <p:nvPr/>
        </p:nvSpPr>
        <p:spPr>
          <a:xfrm>
            <a:off x="274320" y="3063240"/>
            <a:ext cx="2331720" cy="640080"/>
          </a:xfrm>
          <a:prstGeom prst="rect">
            <a:avLst/>
          </a:prstGeom>
          <a:solidFill>
            <a:srgbClr val="FDECEA"/>
          </a:solidFill>
          <a:ln w="15240">
            <a:solidFill>
              <a:srgbClr val="C0392B"/>
            </a:solidFill>
            <a:prstDash val="solid"/>
          </a:ln>
          <a:effectLst>
            <a:outerShdw blurRad="63500" dist="25400" dir="8100000" algn="bl" rotWithShape="0">
              <a:srgbClr val="000000">
                <a:alpha val="10000"/>
              </a:srgbClr>
            </a:outerShdw>
          </a:effectLst>
        </p:spPr>
        <p:txBody>
          <a:bodyPr/>
          <a:lstStyle/>
          <a:p>
            <a:endParaRPr lang="fr-FR"/>
          </a:p>
        </p:txBody>
      </p:sp>
      <p:sp>
        <p:nvSpPr>
          <p:cNvPr id="39" name="Text 37"/>
          <p:cNvSpPr/>
          <p:nvPr/>
        </p:nvSpPr>
        <p:spPr>
          <a:xfrm>
            <a:off x="274320" y="3063240"/>
            <a:ext cx="2331720" cy="640080"/>
          </a:xfrm>
          <a:prstGeom prst="rect">
            <a:avLst/>
          </a:prstGeom>
          <a:noFill/>
          <a:ln/>
        </p:spPr>
        <p:txBody>
          <a:bodyPr wrap="square" rtlCol="0" anchor="ctr"/>
          <a:lstStyle/>
          <a:p>
            <a:pPr marL="0" indent="0" algn="ctr">
              <a:buNone/>
            </a:pPr>
            <a:r>
              <a:rPr lang="en-US" sz="1200" b="1" dirty="0">
                <a:latin typeface="Calibri" pitchFamily="34" charset="0"/>
                <a:ea typeface="Calibri" pitchFamily="34" charset="-122"/>
                <a:cs typeface="Calibri" pitchFamily="34" charset="-120"/>
              </a:rPr>
              <a:t>NON → Reste verrouillé</a:t>
            </a:r>
            <a:endParaRPr lang="en-US" sz="1200" dirty="0"/>
          </a:p>
        </p:txBody>
      </p:sp>
      <p:sp>
        <p:nvSpPr>
          <p:cNvPr id="41" name="Text 39"/>
          <p:cNvSpPr/>
          <p:nvPr/>
        </p:nvSpPr>
        <p:spPr>
          <a:xfrm>
            <a:off x="457200" y="3977640"/>
            <a:ext cx="8229600" cy="566928"/>
          </a:xfrm>
          <a:prstGeom prst="rect">
            <a:avLst/>
          </a:prstGeom>
          <a:noFill/>
          <a:ln/>
        </p:spPr>
        <p:txBody>
          <a:bodyPr wrap="square" rtlCol="0" anchor="ctr"/>
          <a:lstStyle/>
          <a:p>
            <a:pPr marL="0" indent="0" algn="ctr">
              <a:buNone/>
            </a:pPr>
            <a:r>
              <a:rPr lang="en-US" sz="1100" b="1" dirty="0">
                <a:latin typeface="Calibri" pitchFamily="34" charset="0"/>
                <a:ea typeface="Calibri" pitchFamily="34" charset="-122"/>
                <a:cs typeface="Calibri" pitchFamily="34" charset="-120"/>
              </a:rPr>
              <a:t>Si aucun visage détecté pendant 60 secondes  →  LockOverlay s'affiche automatiquement  →  Boucle redémarre depuis le scan webcam</a:t>
            </a:r>
            <a:endParaRPr lang="en-US" sz="1100" dirty="0"/>
          </a:p>
        </p:txBody>
      </p:sp>
      <p:sp>
        <p:nvSpPr>
          <p:cNvPr id="44" name="Text 42"/>
          <p:cNvSpPr/>
          <p:nvPr/>
        </p:nvSpPr>
        <p:spPr>
          <a:xfrm>
            <a:off x="7772400" y="4974336"/>
            <a:ext cx="1097280" cy="164592"/>
          </a:xfrm>
          <a:prstGeom prst="rect">
            <a:avLst/>
          </a:prstGeom>
          <a:noFill/>
          <a:ln/>
        </p:spPr>
        <p:txBody>
          <a:bodyPr wrap="square" rtlCol="0" anchor="ctr"/>
          <a:lstStyle/>
          <a:p>
            <a:pPr marL="0" indent="0" algn="r">
              <a:buNone/>
            </a:pPr>
            <a:r>
              <a:rPr lang="en-US" sz="900" dirty="0">
                <a:solidFill>
                  <a:srgbClr val="5A6A7A"/>
                </a:solidFill>
                <a:latin typeface="Calibri" pitchFamily="34" charset="0"/>
                <a:ea typeface="Calibri" pitchFamily="34" charset="-122"/>
                <a:cs typeface="Calibri" pitchFamily="34" charset="-120"/>
              </a:rPr>
              <a:t>7 / 16</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1B3A6B"/>
          </a:solidFill>
          <a:ln w="12700">
            <a:solidFill>
              <a:srgbClr val="1B3A6B"/>
            </a:solidFill>
            <a:prstDash val="solid"/>
          </a:ln>
        </p:spPr>
        <p:txBody>
          <a:bodyPr/>
          <a:lstStyle/>
          <a:p>
            <a:endParaRPr lang="fr-FR"/>
          </a:p>
        </p:txBody>
      </p:sp>
      <p:sp>
        <p:nvSpPr>
          <p:cNvPr id="3" name="Text 1"/>
          <p:cNvSpPr/>
          <p:nvPr/>
        </p:nvSpPr>
        <p:spPr>
          <a:xfrm>
            <a:off x="365760" y="91440"/>
            <a:ext cx="8229600" cy="594360"/>
          </a:xfrm>
          <a:prstGeom prst="rect">
            <a:avLst/>
          </a:prstGeom>
          <a:noFill/>
          <a:ln/>
        </p:spPr>
        <p:txBody>
          <a:bodyPr wrap="square"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Outils et Technologies Utilisés</a:t>
            </a:r>
            <a:endParaRPr lang="en-US" sz="2800" dirty="0"/>
          </a:p>
        </p:txBody>
      </p:sp>
      <p:sp>
        <p:nvSpPr>
          <p:cNvPr id="5" name="Shape 3"/>
          <p:cNvSpPr/>
          <p:nvPr/>
        </p:nvSpPr>
        <p:spPr>
          <a:xfrm>
            <a:off x="0" y="1005840"/>
            <a:ext cx="9144000" cy="54864"/>
          </a:xfrm>
          <a:prstGeom prst="rect">
            <a:avLst/>
          </a:prstGeom>
          <a:solidFill>
            <a:srgbClr val="0A7EA4"/>
          </a:solidFill>
          <a:ln w="12700">
            <a:solidFill>
              <a:srgbClr val="0A7EA4"/>
            </a:solidFill>
            <a:prstDash val="solid"/>
          </a:ln>
        </p:spPr>
        <p:txBody>
          <a:bodyPr/>
          <a:lstStyle/>
          <a:p>
            <a:endParaRPr lang="fr-FR"/>
          </a:p>
        </p:txBody>
      </p:sp>
      <p:sp>
        <p:nvSpPr>
          <p:cNvPr id="6" name="Shape 4"/>
          <p:cNvSpPr/>
          <p:nvPr/>
        </p:nvSpPr>
        <p:spPr>
          <a:xfrm>
            <a:off x="320040" y="1234440"/>
            <a:ext cx="4206240" cy="658368"/>
          </a:xfrm>
          <a:prstGeom prst="rect">
            <a:avLst/>
          </a:prstGeom>
          <a:solidFill>
            <a:srgbClr val="FFFFFF"/>
          </a:solidFill>
          <a:ln w="15240">
            <a:solidFill>
              <a:srgbClr val="C5D5E8"/>
            </a:solidFill>
            <a:prstDash val="solid"/>
          </a:ln>
          <a:effectLst>
            <a:outerShdw blurRad="63500" dist="25400" dir="8100000" algn="bl" rotWithShape="0">
              <a:srgbClr val="000000">
                <a:alpha val="10000"/>
              </a:srgbClr>
            </a:outerShdw>
          </a:effectLst>
        </p:spPr>
        <p:txBody>
          <a:bodyPr/>
          <a:lstStyle/>
          <a:p>
            <a:endParaRPr lang="fr-FR"/>
          </a:p>
        </p:txBody>
      </p:sp>
      <p:sp>
        <p:nvSpPr>
          <p:cNvPr id="8" name="Text 6"/>
          <p:cNvSpPr/>
          <p:nvPr/>
        </p:nvSpPr>
        <p:spPr>
          <a:xfrm>
            <a:off x="320040" y="1234440"/>
            <a:ext cx="502920" cy="658368"/>
          </a:xfrm>
          <a:prstGeom prst="rect">
            <a:avLst/>
          </a:prstGeom>
          <a:noFill/>
          <a:ln/>
        </p:spPr>
        <p:txBody>
          <a:bodyPr wrap="square" rtlCol="0" anchor="ctr"/>
          <a:lstStyle/>
          <a:p>
            <a:pPr marL="0" indent="0" algn="ctr">
              <a:buNone/>
            </a:pPr>
            <a:endParaRPr lang="en-US" sz="1800" dirty="0"/>
          </a:p>
        </p:txBody>
      </p:sp>
      <p:sp>
        <p:nvSpPr>
          <p:cNvPr id="9" name="Shape 7"/>
          <p:cNvSpPr/>
          <p:nvPr/>
        </p:nvSpPr>
        <p:spPr>
          <a:xfrm>
            <a:off x="914400" y="1307592"/>
            <a:ext cx="1371600" cy="237744"/>
          </a:xfrm>
          <a:prstGeom prst="roundRect">
            <a:avLst>
              <a:gd name="adj" fmla="val 11538"/>
            </a:avLst>
          </a:prstGeom>
          <a:solidFill>
            <a:srgbClr val="ECF0F4"/>
          </a:solidFill>
          <a:ln w="12700">
            <a:solidFill>
              <a:srgbClr val="C5D5E8"/>
            </a:solidFill>
            <a:prstDash val="solid"/>
          </a:ln>
        </p:spPr>
        <p:txBody>
          <a:bodyPr/>
          <a:lstStyle/>
          <a:p>
            <a:endParaRPr lang="fr-FR"/>
          </a:p>
        </p:txBody>
      </p:sp>
      <p:sp>
        <p:nvSpPr>
          <p:cNvPr id="10" name="Text 8"/>
          <p:cNvSpPr/>
          <p:nvPr/>
        </p:nvSpPr>
        <p:spPr>
          <a:xfrm>
            <a:off x="914400" y="1307592"/>
            <a:ext cx="1371600" cy="237744"/>
          </a:xfrm>
          <a:prstGeom prst="rect">
            <a:avLst/>
          </a:prstGeom>
          <a:noFill/>
          <a:ln/>
        </p:spPr>
        <p:txBody>
          <a:bodyPr wrap="square" rtlCol="0" anchor="ctr"/>
          <a:lstStyle/>
          <a:p>
            <a:pPr marL="0" indent="0" algn="ctr">
              <a:buNone/>
            </a:pPr>
            <a:r>
              <a:rPr lang="en-US" sz="850" b="1" dirty="0">
                <a:solidFill>
                  <a:srgbClr val="0A7EA4"/>
                </a:solidFill>
                <a:latin typeface="Calibri" pitchFamily="34" charset="0"/>
                <a:ea typeface="Calibri" pitchFamily="34" charset="-122"/>
                <a:cs typeface="Calibri" pitchFamily="34" charset="-120"/>
              </a:rPr>
              <a:t>Langage</a:t>
            </a:r>
            <a:endParaRPr lang="en-US" sz="850" dirty="0"/>
          </a:p>
        </p:txBody>
      </p:sp>
      <p:sp>
        <p:nvSpPr>
          <p:cNvPr id="11" name="Text 9"/>
          <p:cNvSpPr/>
          <p:nvPr/>
        </p:nvSpPr>
        <p:spPr>
          <a:xfrm>
            <a:off x="914400" y="1563624"/>
            <a:ext cx="1371600" cy="256032"/>
          </a:xfrm>
          <a:prstGeom prst="rect">
            <a:avLst/>
          </a:prstGeom>
          <a:noFill/>
          <a:ln/>
        </p:spPr>
        <p:txBody>
          <a:bodyPr wrap="square" rtlCol="0" anchor="ctr"/>
          <a:lstStyle/>
          <a:p>
            <a:pPr marL="0" indent="0">
              <a:buNone/>
            </a:pPr>
            <a:r>
              <a:rPr lang="en-US" sz="1050" b="1" dirty="0">
                <a:solidFill>
                  <a:srgbClr val="1B3A6B"/>
                </a:solidFill>
                <a:latin typeface="Calibri" pitchFamily="34" charset="0"/>
                <a:ea typeface="Calibri" pitchFamily="34" charset="-122"/>
                <a:cs typeface="Calibri" pitchFamily="34" charset="-120"/>
              </a:rPr>
              <a:t>Python 3.11</a:t>
            </a:r>
            <a:endParaRPr lang="en-US" sz="1050" dirty="0"/>
          </a:p>
        </p:txBody>
      </p:sp>
      <p:sp>
        <p:nvSpPr>
          <p:cNvPr id="12" name="Text 10"/>
          <p:cNvSpPr/>
          <p:nvPr/>
        </p:nvSpPr>
        <p:spPr>
          <a:xfrm>
            <a:off x="2377440" y="1307592"/>
            <a:ext cx="2011680" cy="530352"/>
          </a:xfrm>
          <a:prstGeom prst="rect">
            <a:avLst/>
          </a:prstGeom>
          <a:noFill/>
          <a:ln/>
        </p:spPr>
        <p:txBody>
          <a:bodyPr wrap="square" rtlCol="0" anchor="ctr"/>
          <a:lstStyle/>
          <a:p>
            <a:pPr marL="0" indent="0">
              <a:buNone/>
            </a:pPr>
            <a:r>
              <a:rPr lang="en-US" sz="950" dirty="0">
                <a:solidFill>
                  <a:srgbClr val="5A6A7A"/>
                </a:solidFill>
                <a:latin typeface="Calibri" pitchFamily="34" charset="0"/>
                <a:ea typeface="Calibri" pitchFamily="34" charset="-122"/>
                <a:cs typeface="Calibri" pitchFamily="34" charset="-120"/>
              </a:rPr>
              <a:t>Wheels pré-compilées, écosystème riche</a:t>
            </a:r>
            <a:endParaRPr lang="en-US" sz="950" dirty="0"/>
          </a:p>
        </p:txBody>
      </p:sp>
      <p:sp>
        <p:nvSpPr>
          <p:cNvPr id="13" name="Shape 11"/>
          <p:cNvSpPr/>
          <p:nvPr/>
        </p:nvSpPr>
        <p:spPr>
          <a:xfrm>
            <a:off x="4736592" y="1234440"/>
            <a:ext cx="4206240" cy="658368"/>
          </a:xfrm>
          <a:prstGeom prst="rect">
            <a:avLst/>
          </a:prstGeom>
          <a:solidFill>
            <a:srgbClr val="FFFFFF"/>
          </a:solidFill>
          <a:ln w="15240">
            <a:solidFill>
              <a:srgbClr val="C5D5E8"/>
            </a:solidFill>
            <a:prstDash val="solid"/>
          </a:ln>
          <a:effectLst>
            <a:outerShdw blurRad="63500" dist="25400" dir="8100000" algn="bl" rotWithShape="0">
              <a:srgbClr val="000000">
                <a:alpha val="10000"/>
              </a:srgbClr>
            </a:outerShdw>
          </a:effectLst>
        </p:spPr>
        <p:txBody>
          <a:bodyPr/>
          <a:lstStyle/>
          <a:p>
            <a:endParaRPr lang="fr-FR"/>
          </a:p>
        </p:txBody>
      </p:sp>
      <p:sp>
        <p:nvSpPr>
          <p:cNvPr id="15" name="Text 13"/>
          <p:cNvSpPr/>
          <p:nvPr/>
        </p:nvSpPr>
        <p:spPr>
          <a:xfrm>
            <a:off x="4736592" y="1234440"/>
            <a:ext cx="502920" cy="658368"/>
          </a:xfrm>
          <a:prstGeom prst="rect">
            <a:avLst/>
          </a:prstGeom>
          <a:noFill/>
          <a:ln/>
        </p:spPr>
        <p:txBody>
          <a:bodyPr wrap="square" rtlCol="0" anchor="ctr"/>
          <a:lstStyle/>
          <a:p>
            <a:pPr marL="0" indent="0" algn="ctr">
              <a:buNone/>
            </a:pPr>
            <a:endParaRPr lang="en-US" sz="1800" dirty="0"/>
          </a:p>
        </p:txBody>
      </p:sp>
      <p:sp>
        <p:nvSpPr>
          <p:cNvPr id="16" name="Shape 14"/>
          <p:cNvSpPr/>
          <p:nvPr/>
        </p:nvSpPr>
        <p:spPr>
          <a:xfrm>
            <a:off x="5330952" y="1307592"/>
            <a:ext cx="1371600" cy="237744"/>
          </a:xfrm>
          <a:prstGeom prst="roundRect">
            <a:avLst>
              <a:gd name="adj" fmla="val 11538"/>
            </a:avLst>
          </a:prstGeom>
          <a:solidFill>
            <a:srgbClr val="ECF0F4"/>
          </a:solidFill>
          <a:ln w="12700">
            <a:solidFill>
              <a:srgbClr val="C5D5E8"/>
            </a:solidFill>
            <a:prstDash val="solid"/>
          </a:ln>
        </p:spPr>
        <p:txBody>
          <a:bodyPr/>
          <a:lstStyle/>
          <a:p>
            <a:endParaRPr lang="fr-FR"/>
          </a:p>
        </p:txBody>
      </p:sp>
      <p:sp>
        <p:nvSpPr>
          <p:cNvPr id="17" name="Text 15"/>
          <p:cNvSpPr/>
          <p:nvPr/>
        </p:nvSpPr>
        <p:spPr>
          <a:xfrm>
            <a:off x="5330952" y="1307592"/>
            <a:ext cx="1371600" cy="237744"/>
          </a:xfrm>
          <a:prstGeom prst="rect">
            <a:avLst/>
          </a:prstGeom>
          <a:noFill/>
          <a:ln/>
        </p:spPr>
        <p:txBody>
          <a:bodyPr wrap="square" rtlCol="0" anchor="ctr"/>
          <a:lstStyle/>
          <a:p>
            <a:pPr marL="0" indent="0" algn="ctr">
              <a:buNone/>
            </a:pPr>
            <a:r>
              <a:rPr lang="en-US" sz="850" b="1" dirty="0">
                <a:solidFill>
                  <a:srgbClr val="0A7EA4"/>
                </a:solidFill>
                <a:latin typeface="Calibri" pitchFamily="34" charset="0"/>
                <a:ea typeface="Calibri" pitchFamily="34" charset="-122"/>
                <a:cs typeface="Calibri" pitchFamily="34" charset="-120"/>
              </a:rPr>
              <a:t>Vision</a:t>
            </a:r>
            <a:endParaRPr lang="en-US" sz="850" dirty="0"/>
          </a:p>
        </p:txBody>
      </p:sp>
      <p:sp>
        <p:nvSpPr>
          <p:cNvPr id="18" name="Text 16"/>
          <p:cNvSpPr/>
          <p:nvPr/>
        </p:nvSpPr>
        <p:spPr>
          <a:xfrm>
            <a:off x="5330952" y="1563624"/>
            <a:ext cx="1371600" cy="256032"/>
          </a:xfrm>
          <a:prstGeom prst="rect">
            <a:avLst/>
          </a:prstGeom>
          <a:noFill/>
          <a:ln/>
        </p:spPr>
        <p:txBody>
          <a:bodyPr wrap="square" rtlCol="0" anchor="ctr"/>
          <a:lstStyle/>
          <a:p>
            <a:pPr marL="0" indent="0">
              <a:buNone/>
            </a:pPr>
            <a:r>
              <a:rPr lang="en-US" sz="1050" b="1" dirty="0">
                <a:solidFill>
                  <a:srgbClr val="1B3A6B"/>
                </a:solidFill>
                <a:latin typeface="Calibri" pitchFamily="34" charset="0"/>
                <a:ea typeface="Calibri" pitchFamily="34" charset="-122"/>
                <a:cs typeface="Calibri" pitchFamily="34" charset="-120"/>
              </a:rPr>
              <a:t>OpenCV 4.x</a:t>
            </a:r>
            <a:endParaRPr lang="en-US" sz="1050" dirty="0"/>
          </a:p>
        </p:txBody>
      </p:sp>
      <p:sp>
        <p:nvSpPr>
          <p:cNvPr id="19" name="Text 17"/>
          <p:cNvSpPr/>
          <p:nvPr/>
        </p:nvSpPr>
        <p:spPr>
          <a:xfrm>
            <a:off x="6793992" y="1307592"/>
            <a:ext cx="2011680" cy="530352"/>
          </a:xfrm>
          <a:prstGeom prst="rect">
            <a:avLst/>
          </a:prstGeom>
          <a:noFill/>
          <a:ln/>
        </p:spPr>
        <p:txBody>
          <a:bodyPr wrap="square" rtlCol="0" anchor="ctr"/>
          <a:lstStyle/>
          <a:p>
            <a:pPr marL="0" indent="0">
              <a:buNone/>
            </a:pPr>
            <a:r>
              <a:rPr lang="en-US" sz="950" dirty="0">
                <a:solidFill>
                  <a:srgbClr val="5A6A7A"/>
                </a:solidFill>
                <a:latin typeface="Calibri" pitchFamily="34" charset="0"/>
                <a:ea typeface="Calibri" pitchFamily="34" charset="-122"/>
                <a:cs typeface="Calibri" pitchFamily="34" charset="-120"/>
              </a:rPr>
              <a:t>Capture webcam + Haar Cascade fallback détection</a:t>
            </a:r>
            <a:endParaRPr lang="en-US" sz="950" dirty="0"/>
          </a:p>
        </p:txBody>
      </p:sp>
      <p:sp>
        <p:nvSpPr>
          <p:cNvPr id="20" name="Shape 18"/>
          <p:cNvSpPr/>
          <p:nvPr/>
        </p:nvSpPr>
        <p:spPr>
          <a:xfrm>
            <a:off x="320040" y="1984248"/>
            <a:ext cx="4206240" cy="658368"/>
          </a:xfrm>
          <a:prstGeom prst="rect">
            <a:avLst/>
          </a:prstGeom>
          <a:solidFill>
            <a:srgbClr val="FFFFFF"/>
          </a:solidFill>
          <a:ln w="15240">
            <a:solidFill>
              <a:srgbClr val="C5D5E8"/>
            </a:solidFill>
            <a:prstDash val="solid"/>
          </a:ln>
          <a:effectLst>
            <a:outerShdw blurRad="63500" dist="25400" dir="8100000" algn="bl" rotWithShape="0">
              <a:srgbClr val="000000">
                <a:alpha val="10000"/>
              </a:srgbClr>
            </a:outerShdw>
          </a:effectLst>
        </p:spPr>
        <p:txBody>
          <a:bodyPr/>
          <a:lstStyle/>
          <a:p>
            <a:endParaRPr lang="fr-FR"/>
          </a:p>
        </p:txBody>
      </p:sp>
      <p:sp>
        <p:nvSpPr>
          <p:cNvPr id="22" name="Text 20"/>
          <p:cNvSpPr/>
          <p:nvPr/>
        </p:nvSpPr>
        <p:spPr>
          <a:xfrm>
            <a:off x="320040" y="1984248"/>
            <a:ext cx="502920" cy="658368"/>
          </a:xfrm>
          <a:prstGeom prst="rect">
            <a:avLst/>
          </a:prstGeom>
          <a:noFill/>
          <a:ln/>
        </p:spPr>
        <p:txBody>
          <a:bodyPr wrap="square" rtlCol="0" anchor="ctr"/>
          <a:lstStyle/>
          <a:p>
            <a:pPr marL="0" indent="0" algn="ctr">
              <a:buNone/>
            </a:pPr>
            <a:endParaRPr lang="en-US" sz="1800" dirty="0"/>
          </a:p>
        </p:txBody>
      </p:sp>
      <p:sp>
        <p:nvSpPr>
          <p:cNvPr id="23" name="Shape 21"/>
          <p:cNvSpPr/>
          <p:nvPr/>
        </p:nvSpPr>
        <p:spPr>
          <a:xfrm>
            <a:off x="914400" y="2057400"/>
            <a:ext cx="1371600" cy="237744"/>
          </a:xfrm>
          <a:prstGeom prst="roundRect">
            <a:avLst>
              <a:gd name="adj" fmla="val 11538"/>
            </a:avLst>
          </a:prstGeom>
          <a:solidFill>
            <a:srgbClr val="ECF0F4"/>
          </a:solidFill>
          <a:ln w="12700">
            <a:solidFill>
              <a:srgbClr val="C5D5E8"/>
            </a:solidFill>
            <a:prstDash val="solid"/>
          </a:ln>
        </p:spPr>
        <p:txBody>
          <a:bodyPr/>
          <a:lstStyle/>
          <a:p>
            <a:endParaRPr lang="fr-FR"/>
          </a:p>
        </p:txBody>
      </p:sp>
      <p:sp>
        <p:nvSpPr>
          <p:cNvPr id="24" name="Text 22"/>
          <p:cNvSpPr/>
          <p:nvPr/>
        </p:nvSpPr>
        <p:spPr>
          <a:xfrm>
            <a:off x="914400" y="2057400"/>
            <a:ext cx="1371600" cy="237744"/>
          </a:xfrm>
          <a:prstGeom prst="rect">
            <a:avLst/>
          </a:prstGeom>
          <a:noFill/>
          <a:ln/>
        </p:spPr>
        <p:txBody>
          <a:bodyPr wrap="square" rtlCol="0" anchor="ctr"/>
          <a:lstStyle/>
          <a:p>
            <a:pPr marL="0" indent="0" algn="ctr">
              <a:buNone/>
            </a:pPr>
            <a:r>
              <a:rPr lang="en-US" sz="850" b="1" dirty="0">
                <a:solidFill>
                  <a:srgbClr val="0A7EA4"/>
                </a:solidFill>
                <a:latin typeface="Calibri" pitchFamily="34" charset="0"/>
                <a:ea typeface="Calibri" pitchFamily="34" charset="-122"/>
                <a:cs typeface="Calibri" pitchFamily="34" charset="-120"/>
              </a:rPr>
              <a:t>Détection</a:t>
            </a:r>
            <a:endParaRPr lang="en-US" sz="850" dirty="0"/>
          </a:p>
        </p:txBody>
      </p:sp>
      <p:sp>
        <p:nvSpPr>
          <p:cNvPr id="25" name="Text 23"/>
          <p:cNvSpPr/>
          <p:nvPr/>
        </p:nvSpPr>
        <p:spPr>
          <a:xfrm>
            <a:off x="914400" y="2313432"/>
            <a:ext cx="1371600" cy="256032"/>
          </a:xfrm>
          <a:prstGeom prst="rect">
            <a:avLst/>
          </a:prstGeom>
          <a:noFill/>
          <a:ln/>
        </p:spPr>
        <p:txBody>
          <a:bodyPr wrap="square" rtlCol="0" anchor="ctr"/>
          <a:lstStyle/>
          <a:p>
            <a:pPr marL="0" indent="0">
              <a:buNone/>
            </a:pPr>
            <a:r>
              <a:rPr lang="en-US" sz="1050" b="1" dirty="0">
                <a:solidFill>
                  <a:srgbClr val="1B3A6B"/>
                </a:solidFill>
                <a:latin typeface="Calibri" pitchFamily="34" charset="0"/>
                <a:ea typeface="Calibri" pitchFamily="34" charset="-122"/>
                <a:cs typeface="Calibri" pitchFamily="34" charset="-120"/>
              </a:rPr>
              <a:t>MediaPipe 0.10</a:t>
            </a:r>
            <a:endParaRPr lang="en-US" sz="1050" dirty="0"/>
          </a:p>
        </p:txBody>
      </p:sp>
      <p:sp>
        <p:nvSpPr>
          <p:cNvPr id="26" name="Text 24"/>
          <p:cNvSpPr/>
          <p:nvPr/>
        </p:nvSpPr>
        <p:spPr>
          <a:xfrm>
            <a:off x="2377440" y="2057400"/>
            <a:ext cx="2011680" cy="530352"/>
          </a:xfrm>
          <a:prstGeom prst="rect">
            <a:avLst/>
          </a:prstGeom>
          <a:noFill/>
          <a:ln/>
        </p:spPr>
        <p:txBody>
          <a:bodyPr wrap="square" rtlCol="0" anchor="ctr"/>
          <a:lstStyle/>
          <a:p>
            <a:pPr marL="0" indent="0">
              <a:buNone/>
            </a:pPr>
            <a:r>
              <a:rPr lang="en-US" sz="950" dirty="0">
                <a:solidFill>
                  <a:srgbClr val="5A6A7A"/>
                </a:solidFill>
                <a:latin typeface="Calibri" pitchFamily="34" charset="0"/>
                <a:ea typeface="Calibri" pitchFamily="34" charset="-122"/>
                <a:cs typeface="Calibri" pitchFamily="34" charset="-120"/>
              </a:rPr>
              <a:t>Détection visage rapide optimisée CPU Google</a:t>
            </a:r>
            <a:endParaRPr lang="en-US" sz="950" dirty="0"/>
          </a:p>
        </p:txBody>
      </p:sp>
      <p:sp>
        <p:nvSpPr>
          <p:cNvPr id="27" name="Shape 25"/>
          <p:cNvSpPr/>
          <p:nvPr/>
        </p:nvSpPr>
        <p:spPr>
          <a:xfrm>
            <a:off x="4736592" y="1984248"/>
            <a:ext cx="4206240" cy="658368"/>
          </a:xfrm>
          <a:prstGeom prst="rect">
            <a:avLst/>
          </a:prstGeom>
          <a:solidFill>
            <a:srgbClr val="FFFFFF"/>
          </a:solidFill>
          <a:ln w="15240">
            <a:solidFill>
              <a:srgbClr val="C5D5E8"/>
            </a:solidFill>
            <a:prstDash val="solid"/>
          </a:ln>
          <a:effectLst>
            <a:outerShdw blurRad="63500" dist="25400" dir="8100000" algn="bl" rotWithShape="0">
              <a:srgbClr val="000000">
                <a:alpha val="10000"/>
              </a:srgbClr>
            </a:outerShdw>
          </a:effectLst>
        </p:spPr>
        <p:txBody>
          <a:bodyPr/>
          <a:lstStyle/>
          <a:p>
            <a:endParaRPr lang="fr-FR"/>
          </a:p>
        </p:txBody>
      </p:sp>
      <p:sp>
        <p:nvSpPr>
          <p:cNvPr id="29" name="Text 27"/>
          <p:cNvSpPr/>
          <p:nvPr/>
        </p:nvSpPr>
        <p:spPr>
          <a:xfrm>
            <a:off x="4736592" y="1984248"/>
            <a:ext cx="502920" cy="658368"/>
          </a:xfrm>
          <a:prstGeom prst="rect">
            <a:avLst/>
          </a:prstGeom>
          <a:noFill/>
          <a:ln/>
        </p:spPr>
        <p:txBody>
          <a:bodyPr wrap="square" rtlCol="0" anchor="ctr"/>
          <a:lstStyle/>
          <a:p>
            <a:pPr marL="0" indent="0" algn="ctr">
              <a:buNone/>
            </a:pPr>
            <a:endParaRPr lang="en-US" sz="1800" dirty="0"/>
          </a:p>
        </p:txBody>
      </p:sp>
      <p:sp>
        <p:nvSpPr>
          <p:cNvPr id="30" name="Shape 28"/>
          <p:cNvSpPr/>
          <p:nvPr/>
        </p:nvSpPr>
        <p:spPr>
          <a:xfrm>
            <a:off x="5330952" y="2057400"/>
            <a:ext cx="1371600" cy="237744"/>
          </a:xfrm>
          <a:prstGeom prst="roundRect">
            <a:avLst>
              <a:gd name="adj" fmla="val 11538"/>
            </a:avLst>
          </a:prstGeom>
          <a:solidFill>
            <a:srgbClr val="ECF0F4"/>
          </a:solidFill>
          <a:ln w="12700">
            <a:solidFill>
              <a:srgbClr val="C5D5E8"/>
            </a:solidFill>
            <a:prstDash val="solid"/>
          </a:ln>
        </p:spPr>
        <p:txBody>
          <a:bodyPr/>
          <a:lstStyle/>
          <a:p>
            <a:endParaRPr lang="fr-FR"/>
          </a:p>
        </p:txBody>
      </p:sp>
      <p:sp>
        <p:nvSpPr>
          <p:cNvPr id="31" name="Text 29"/>
          <p:cNvSpPr/>
          <p:nvPr/>
        </p:nvSpPr>
        <p:spPr>
          <a:xfrm>
            <a:off x="5330952" y="2057400"/>
            <a:ext cx="1371600" cy="237744"/>
          </a:xfrm>
          <a:prstGeom prst="rect">
            <a:avLst/>
          </a:prstGeom>
          <a:noFill/>
          <a:ln/>
        </p:spPr>
        <p:txBody>
          <a:bodyPr wrap="square" rtlCol="0" anchor="ctr"/>
          <a:lstStyle/>
          <a:p>
            <a:pPr marL="0" indent="0" algn="ctr">
              <a:buNone/>
            </a:pPr>
            <a:r>
              <a:rPr lang="en-US" sz="850" b="1" dirty="0">
                <a:solidFill>
                  <a:srgbClr val="1B3A6B"/>
                </a:solidFill>
                <a:latin typeface="Calibri" pitchFamily="34" charset="0"/>
                <a:ea typeface="Calibri" pitchFamily="34" charset="-122"/>
                <a:cs typeface="Calibri" pitchFamily="34" charset="-120"/>
              </a:rPr>
              <a:t>Deep Learning</a:t>
            </a:r>
            <a:endParaRPr lang="en-US" sz="850" dirty="0"/>
          </a:p>
        </p:txBody>
      </p:sp>
      <p:sp>
        <p:nvSpPr>
          <p:cNvPr id="32" name="Text 30"/>
          <p:cNvSpPr/>
          <p:nvPr/>
        </p:nvSpPr>
        <p:spPr>
          <a:xfrm>
            <a:off x="5330952" y="2313432"/>
            <a:ext cx="1371600" cy="256032"/>
          </a:xfrm>
          <a:prstGeom prst="rect">
            <a:avLst/>
          </a:prstGeom>
          <a:noFill/>
          <a:ln/>
        </p:spPr>
        <p:txBody>
          <a:bodyPr wrap="square" rtlCol="0" anchor="ctr"/>
          <a:lstStyle/>
          <a:p>
            <a:pPr marL="0" indent="0">
              <a:buNone/>
            </a:pPr>
            <a:r>
              <a:rPr lang="en-US" sz="1050" b="1" dirty="0">
                <a:solidFill>
                  <a:srgbClr val="1B3A6B"/>
                </a:solidFill>
                <a:latin typeface="Calibri" pitchFamily="34" charset="0"/>
                <a:ea typeface="Calibri" pitchFamily="34" charset="-122"/>
                <a:cs typeface="Calibri" pitchFamily="34" charset="-120"/>
              </a:rPr>
              <a:t>InsightFace ArcFace</a:t>
            </a:r>
            <a:endParaRPr lang="en-US" sz="1050" dirty="0"/>
          </a:p>
        </p:txBody>
      </p:sp>
      <p:sp>
        <p:nvSpPr>
          <p:cNvPr id="33" name="Text 31"/>
          <p:cNvSpPr/>
          <p:nvPr/>
        </p:nvSpPr>
        <p:spPr>
          <a:xfrm>
            <a:off x="6793992" y="2057400"/>
            <a:ext cx="2011680" cy="530352"/>
          </a:xfrm>
          <a:prstGeom prst="rect">
            <a:avLst/>
          </a:prstGeom>
          <a:noFill/>
          <a:ln/>
        </p:spPr>
        <p:txBody>
          <a:bodyPr wrap="square" rtlCol="0" anchor="ctr"/>
          <a:lstStyle/>
          <a:p>
            <a:pPr marL="0" indent="0">
              <a:buNone/>
            </a:pPr>
            <a:r>
              <a:rPr lang="en-US" sz="950" dirty="0">
                <a:solidFill>
                  <a:srgbClr val="5A6A7A"/>
                </a:solidFill>
                <a:latin typeface="Calibri" pitchFamily="34" charset="0"/>
                <a:ea typeface="Calibri" pitchFamily="34" charset="-122"/>
                <a:cs typeface="Calibri" pitchFamily="34" charset="-120"/>
              </a:rPr>
              <a:t>Modèle SOTA, embeddings 512D, pas de dlib/cmake</a:t>
            </a:r>
            <a:endParaRPr lang="en-US" sz="950" dirty="0"/>
          </a:p>
        </p:txBody>
      </p:sp>
      <p:sp>
        <p:nvSpPr>
          <p:cNvPr id="34" name="Shape 32"/>
          <p:cNvSpPr/>
          <p:nvPr/>
        </p:nvSpPr>
        <p:spPr>
          <a:xfrm>
            <a:off x="320040" y="2734056"/>
            <a:ext cx="4206240" cy="658368"/>
          </a:xfrm>
          <a:prstGeom prst="rect">
            <a:avLst/>
          </a:prstGeom>
          <a:solidFill>
            <a:srgbClr val="FFFFFF"/>
          </a:solidFill>
          <a:ln w="15240">
            <a:solidFill>
              <a:srgbClr val="C5D5E8"/>
            </a:solidFill>
            <a:prstDash val="solid"/>
          </a:ln>
          <a:effectLst>
            <a:outerShdw blurRad="63500" dist="25400" dir="8100000" algn="bl" rotWithShape="0">
              <a:srgbClr val="000000">
                <a:alpha val="10000"/>
              </a:srgbClr>
            </a:outerShdw>
          </a:effectLst>
        </p:spPr>
        <p:txBody>
          <a:bodyPr/>
          <a:lstStyle/>
          <a:p>
            <a:endParaRPr lang="fr-FR"/>
          </a:p>
        </p:txBody>
      </p:sp>
      <p:sp>
        <p:nvSpPr>
          <p:cNvPr id="36" name="Text 34"/>
          <p:cNvSpPr/>
          <p:nvPr/>
        </p:nvSpPr>
        <p:spPr>
          <a:xfrm>
            <a:off x="320040" y="2734056"/>
            <a:ext cx="502920" cy="658368"/>
          </a:xfrm>
          <a:prstGeom prst="rect">
            <a:avLst/>
          </a:prstGeom>
          <a:noFill/>
          <a:ln/>
        </p:spPr>
        <p:txBody>
          <a:bodyPr wrap="square" rtlCol="0" anchor="ctr"/>
          <a:lstStyle/>
          <a:p>
            <a:pPr marL="0" indent="0" algn="ctr">
              <a:buNone/>
            </a:pPr>
            <a:endParaRPr lang="en-US" sz="1800" dirty="0"/>
          </a:p>
        </p:txBody>
      </p:sp>
      <p:sp>
        <p:nvSpPr>
          <p:cNvPr id="37" name="Shape 35"/>
          <p:cNvSpPr/>
          <p:nvPr/>
        </p:nvSpPr>
        <p:spPr>
          <a:xfrm>
            <a:off x="914400" y="2807208"/>
            <a:ext cx="1371600" cy="237744"/>
          </a:xfrm>
          <a:prstGeom prst="roundRect">
            <a:avLst>
              <a:gd name="adj" fmla="val 11538"/>
            </a:avLst>
          </a:prstGeom>
          <a:solidFill>
            <a:srgbClr val="ECF0F4"/>
          </a:solidFill>
          <a:ln w="12700">
            <a:solidFill>
              <a:srgbClr val="C5D5E8"/>
            </a:solidFill>
            <a:prstDash val="solid"/>
          </a:ln>
        </p:spPr>
        <p:txBody>
          <a:bodyPr/>
          <a:lstStyle/>
          <a:p>
            <a:endParaRPr lang="fr-FR"/>
          </a:p>
        </p:txBody>
      </p:sp>
      <p:sp>
        <p:nvSpPr>
          <p:cNvPr id="38" name="Text 36"/>
          <p:cNvSpPr/>
          <p:nvPr/>
        </p:nvSpPr>
        <p:spPr>
          <a:xfrm>
            <a:off x="914400" y="2807208"/>
            <a:ext cx="1371600" cy="237744"/>
          </a:xfrm>
          <a:prstGeom prst="rect">
            <a:avLst/>
          </a:prstGeom>
          <a:noFill/>
          <a:ln/>
        </p:spPr>
        <p:txBody>
          <a:bodyPr wrap="square" rtlCol="0" anchor="ctr"/>
          <a:lstStyle/>
          <a:p>
            <a:pPr marL="0" indent="0" algn="ctr">
              <a:buNone/>
            </a:pPr>
            <a:r>
              <a:rPr lang="en-US" sz="850" b="1" dirty="0">
                <a:solidFill>
                  <a:srgbClr val="1B3A6B"/>
                </a:solidFill>
                <a:latin typeface="Calibri" pitchFamily="34" charset="0"/>
                <a:ea typeface="Calibri" pitchFamily="34" charset="-122"/>
                <a:cs typeface="Calibri" pitchFamily="34" charset="-120"/>
              </a:rPr>
              <a:t>Inférence IA</a:t>
            </a:r>
            <a:endParaRPr lang="en-US" sz="850" dirty="0"/>
          </a:p>
        </p:txBody>
      </p:sp>
      <p:sp>
        <p:nvSpPr>
          <p:cNvPr id="39" name="Text 37"/>
          <p:cNvSpPr/>
          <p:nvPr/>
        </p:nvSpPr>
        <p:spPr>
          <a:xfrm>
            <a:off x="914400" y="3063240"/>
            <a:ext cx="1371600" cy="256032"/>
          </a:xfrm>
          <a:prstGeom prst="rect">
            <a:avLst/>
          </a:prstGeom>
          <a:noFill/>
          <a:ln/>
        </p:spPr>
        <p:txBody>
          <a:bodyPr wrap="square" rtlCol="0" anchor="ctr"/>
          <a:lstStyle/>
          <a:p>
            <a:pPr marL="0" indent="0">
              <a:buNone/>
            </a:pPr>
            <a:r>
              <a:rPr lang="en-US" sz="1050" b="1" dirty="0">
                <a:solidFill>
                  <a:srgbClr val="1B3A6B"/>
                </a:solidFill>
                <a:latin typeface="Calibri" pitchFamily="34" charset="0"/>
                <a:ea typeface="Calibri" pitchFamily="34" charset="-122"/>
                <a:cs typeface="Calibri" pitchFamily="34" charset="-120"/>
              </a:rPr>
              <a:t>ONNX Runtime</a:t>
            </a:r>
            <a:endParaRPr lang="en-US" sz="1050" dirty="0"/>
          </a:p>
        </p:txBody>
      </p:sp>
      <p:sp>
        <p:nvSpPr>
          <p:cNvPr id="40" name="Text 38"/>
          <p:cNvSpPr/>
          <p:nvPr/>
        </p:nvSpPr>
        <p:spPr>
          <a:xfrm>
            <a:off x="2377440" y="2807208"/>
            <a:ext cx="2011680" cy="530352"/>
          </a:xfrm>
          <a:prstGeom prst="rect">
            <a:avLst/>
          </a:prstGeom>
          <a:noFill/>
          <a:ln/>
        </p:spPr>
        <p:txBody>
          <a:bodyPr wrap="square" rtlCol="0" anchor="ctr"/>
          <a:lstStyle/>
          <a:p>
            <a:pPr marL="0" indent="0">
              <a:buNone/>
            </a:pPr>
            <a:r>
              <a:rPr lang="en-US" sz="950" dirty="0">
                <a:solidFill>
                  <a:srgbClr val="5A6A7A"/>
                </a:solidFill>
                <a:latin typeface="Calibri" pitchFamily="34" charset="0"/>
                <a:ea typeface="Calibri" pitchFamily="34" charset="-122"/>
                <a:cs typeface="Calibri" pitchFamily="34" charset="-120"/>
              </a:rPr>
              <a:t>Exécution rapide CPU, wheels pré-compilées Python 3.11</a:t>
            </a:r>
            <a:endParaRPr lang="en-US" sz="950" dirty="0"/>
          </a:p>
        </p:txBody>
      </p:sp>
      <p:sp>
        <p:nvSpPr>
          <p:cNvPr id="41" name="Shape 39"/>
          <p:cNvSpPr/>
          <p:nvPr/>
        </p:nvSpPr>
        <p:spPr>
          <a:xfrm>
            <a:off x="4736592" y="2734056"/>
            <a:ext cx="4206240" cy="658368"/>
          </a:xfrm>
          <a:prstGeom prst="rect">
            <a:avLst/>
          </a:prstGeom>
          <a:solidFill>
            <a:srgbClr val="FFFFFF"/>
          </a:solidFill>
          <a:ln w="15240">
            <a:solidFill>
              <a:srgbClr val="C5D5E8"/>
            </a:solidFill>
            <a:prstDash val="solid"/>
          </a:ln>
          <a:effectLst>
            <a:outerShdw blurRad="63500" dist="25400" dir="8100000" algn="bl" rotWithShape="0">
              <a:srgbClr val="000000">
                <a:alpha val="10000"/>
              </a:srgbClr>
            </a:outerShdw>
          </a:effectLst>
        </p:spPr>
        <p:txBody>
          <a:bodyPr/>
          <a:lstStyle/>
          <a:p>
            <a:endParaRPr lang="fr-FR"/>
          </a:p>
        </p:txBody>
      </p:sp>
      <p:sp>
        <p:nvSpPr>
          <p:cNvPr id="43" name="Text 41"/>
          <p:cNvSpPr/>
          <p:nvPr/>
        </p:nvSpPr>
        <p:spPr>
          <a:xfrm>
            <a:off x="4736592" y="2734056"/>
            <a:ext cx="502920" cy="658368"/>
          </a:xfrm>
          <a:prstGeom prst="rect">
            <a:avLst/>
          </a:prstGeom>
          <a:noFill/>
          <a:ln/>
        </p:spPr>
        <p:txBody>
          <a:bodyPr wrap="square" rtlCol="0" anchor="ctr"/>
          <a:lstStyle/>
          <a:p>
            <a:pPr marL="0" indent="0" algn="ctr">
              <a:buNone/>
            </a:pPr>
            <a:endParaRPr lang="en-US" sz="1800" dirty="0"/>
          </a:p>
        </p:txBody>
      </p:sp>
      <p:sp>
        <p:nvSpPr>
          <p:cNvPr id="44" name="Shape 42"/>
          <p:cNvSpPr/>
          <p:nvPr/>
        </p:nvSpPr>
        <p:spPr>
          <a:xfrm>
            <a:off x="5330952" y="2807208"/>
            <a:ext cx="1371600" cy="237744"/>
          </a:xfrm>
          <a:prstGeom prst="roundRect">
            <a:avLst>
              <a:gd name="adj" fmla="val 11538"/>
            </a:avLst>
          </a:prstGeom>
          <a:solidFill>
            <a:srgbClr val="ECF0F4"/>
          </a:solidFill>
          <a:ln w="12700">
            <a:solidFill>
              <a:srgbClr val="C5D5E8"/>
            </a:solidFill>
            <a:prstDash val="solid"/>
          </a:ln>
        </p:spPr>
        <p:txBody>
          <a:bodyPr/>
          <a:lstStyle/>
          <a:p>
            <a:endParaRPr lang="fr-FR"/>
          </a:p>
        </p:txBody>
      </p:sp>
      <p:sp>
        <p:nvSpPr>
          <p:cNvPr id="45" name="Text 43"/>
          <p:cNvSpPr/>
          <p:nvPr/>
        </p:nvSpPr>
        <p:spPr>
          <a:xfrm>
            <a:off x="5330952" y="2807208"/>
            <a:ext cx="1371600" cy="237744"/>
          </a:xfrm>
          <a:prstGeom prst="rect">
            <a:avLst/>
          </a:prstGeom>
          <a:noFill/>
          <a:ln/>
        </p:spPr>
        <p:txBody>
          <a:bodyPr wrap="square" rtlCol="0" anchor="ctr"/>
          <a:lstStyle/>
          <a:p>
            <a:pPr marL="0" indent="0" algn="ctr">
              <a:buNone/>
            </a:pPr>
            <a:r>
              <a:rPr lang="en-US" sz="850" b="1" dirty="0">
                <a:solidFill>
                  <a:srgbClr val="E07B00"/>
                </a:solidFill>
                <a:latin typeface="Calibri" pitchFamily="34" charset="0"/>
                <a:ea typeface="Calibri" pitchFamily="34" charset="-122"/>
                <a:cs typeface="Calibri" pitchFamily="34" charset="-120"/>
              </a:rPr>
              <a:t>Chiffrement</a:t>
            </a:r>
            <a:endParaRPr lang="en-US" sz="850" dirty="0"/>
          </a:p>
        </p:txBody>
      </p:sp>
      <p:sp>
        <p:nvSpPr>
          <p:cNvPr id="46" name="Text 44"/>
          <p:cNvSpPr/>
          <p:nvPr/>
        </p:nvSpPr>
        <p:spPr>
          <a:xfrm>
            <a:off x="5330952" y="3063240"/>
            <a:ext cx="1371600" cy="256032"/>
          </a:xfrm>
          <a:prstGeom prst="rect">
            <a:avLst/>
          </a:prstGeom>
          <a:noFill/>
          <a:ln/>
        </p:spPr>
        <p:txBody>
          <a:bodyPr wrap="square" rtlCol="0" anchor="ctr"/>
          <a:lstStyle/>
          <a:p>
            <a:pPr marL="0" indent="0">
              <a:buNone/>
            </a:pPr>
            <a:r>
              <a:rPr lang="en-US" sz="1050" b="1" dirty="0">
                <a:solidFill>
                  <a:srgbClr val="1B3A6B"/>
                </a:solidFill>
                <a:latin typeface="Calibri" pitchFamily="34" charset="0"/>
                <a:ea typeface="Calibri" pitchFamily="34" charset="-122"/>
                <a:cs typeface="Calibri" pitchFamily="34" charset="-120"/>
              </a:rPr>
              <a:t>cryptography.Fernet</a:t>
            </a:r>
            <a:endParaRPr lang="en-US" sz="1050" dirty="0"/>
          </a:p>
        </p:txBody>
      </p:sp>
      <p:sp>
        <p:nvSpPr>
          <p:cNvPr id="47" name="Text 45"/>
          <p:cNvSpPr/>
          <p:nvPr/>
        </p:nvSpPr>
        <p:spPr>
          <a:xfrm>
            <a:off x="6793992" y="2807208"/>
            <a:ext cx="2011680" cy="530352"/>
          </a:xfrm>
          <a:prstGeom prst="rect">
            <a:avLst/>
          </a:prstGeom>
          <a:noFill/>
          <a:ln/>
        </p:spPr>
        <p:txBody>
          <a:bodyPr wrap="square" rtlCol="0" anchor="ctr"/>
          <a:lstStyle/>
          <a:p>
            <a:pPr marL="0" indent="0">
              <a:buNone/>
            </a:pPr>
            <a:r>
              <a:rPr lang="en-US" sz="950" dirty="0">
                <a:solidFill>
                  <a:srgbClr val="5A6A7A"/>
                </a:solidFill>
                <a:latin typeface="Calibri" pitchFamily="34" charset="0"/>
                <a:ea typeface="Calibri" pitchFamily="34" charset="-122"/>
                <a:cs typeface="Calibri" pitchFamily="34" charset="-120"/>
              </a:rPr>
              <a:t>AES-256-CBC + HMAC-SHA256, API simple et sécurisée</a:t>
            </a:r>
            <a:endParaRPr lang="en-US" sz="950" dirty="0"/>
          </a:p>
        </p:txBody>
      </p:sp>
      <p:sp>
        <p:nvSpPr>
          <p:cNvPr id="48" name="Shape 46"/>
          <p:cNvSpPr/>
          <p:nvPr/>
        </p:nvSpPr>
        <p:spPr>
          <a:xfrm>
            <a:off x="320040" y="3483864"/>
            <a:ext cx="4206240" cy="658368"/>
          </a:xfrm>
          <a:prstGeom prst="rect">
            <a:avLst/>
          </a:prstGeom>
          <a:solidFill>
            <a:srgbClr val="FFFFFF"/>
          </a:solidFill>
          <a:ln w="15240">
            <a:solidFill>
              <a:srgbClr val="C5D5E8"/>
            </a:solidFill>
            <a:prstDash val="solid"/>
          </a:ln>
          <a:effectLst>
            <a:outerShdw blurRad="63500" dist="25400" dir="8100000" algn="bl" rotWithShape="0">
              <a:srgbClr val="000000">
                <a:alpha val="10000"/>
              </a:srgbClr>
            </a:outerShdw>
          </a:effectLst>
        </p:spPr>
        <p:txBody>
          <a:bodyPr/>
          <a:lstStyle/>
          <a:p>
            <a:endParaRPr lang="fr-FR"/>
          </a:p>
        </p:txBody>
      </p:sp>
      <p:sp>
        <p:nvSpPr>
          <p:cNvPr id="50" name="Text 48"/>
          <p:cNvSpPr/>
          <p:nvPr/>
        </p:nvSpPr>
        <p:spPr>
          <a:xfrm>
            <a:off x="320040" y="3483864"/>
            <a:ext cx="502920" cy="658368"/>
          </a:xfrm>
          <a:prstGeom prst="rect">
            <a:avLst/>
          </a:prstGeom>
          <a:noFill/>
          <a:ln/>
        </p:spPr>
        <p:txBody>
          <a:bodyPr wrap="square" rtlCol="0" anchor="ctr"/>
          <a:lstStyle/>
          <a:p>
            <a:pPr marL="0" indent="0" algn="ctr">
              <a:buNone/>
            </a:pPr>
            <a:endParaRPr lang="en-US" sz="1800" dirty="0"/>
          </a:p>
        </p:txBody>
      </p:sp>
      <p:sp>
        <p:nvSpPr>
          <p:cNvPr id="51" name="Shape 49"/>
          <p:cNvSpPr/>
          <p:nvPr/>
        </p:nvSpPr>
        <p:spPr>
          <a:xfrm>
            <a:off x="914400" y="3557016"/>
            <a:ext cx="1371600" cy="237744"/>
          </a:xfrm>
          <a:prstGeom prst="roundRect">
            <a:avLst>
              <a:gd name="adj" fmla="val 11538"/>
            </a:avLst>
          </a:prstGeom>
          <a:solidFill>
            <a:srgbClr val="ECF0F4"/>
          </a:solidFill>
          <a:ln w="12700">
            <a:solidFill>
              <a:srgbClr val="C5D5E8"/>
            </a:solidFill>
            <a:prstDash val="solid"/>
          </a:ln>
        </p:spPr>
        <p:txBody>
          <a:bodyPr/>
          <a:lstStyle/>
          <a:p>
            <a:endParaRPr lang="fr-FR"/>
          </a:p>
        </p:txBody>
      </p:sp>
      <p:sp>
        <p:nvSpPr>
          <p:cNvPr id="52" name="Text 50"/>
          <p:cNvSpPr/>
          <p:nvPr/>
        </p:nvSpPr>
        <p:spPr>
          <a:xfrm>
            <a:off x="914400" y="3557016"/>
            <a:ext cx="1371600" cy="237744"/>
          </a:xfrm>
          <a:prstGeom prst="rect">
            <a:avLst/>
          </a:prstGeom>
          <a:noFill/>
          <a:ln/>
        </p:spPr>
        <p:txBody>
          <a:bodyPr wrap="square" rtlCol="0" anchor="ctr"/>
          <a:lstStyle/>
          <a:p>
            <a:pPr marL="0" indent="0" algn="ctr">
              <a:buNone/>
            </a:pPr>
            <a:r>
              <a:rPr lang="en-US" sz="850" b="1" dirty="0">
                <a:solidFill>
                  <a:srgbClr val="1A7A4A"/>
                </a:solidFill>
                <a:latin typeface="Calibri" pitchFamily="34" charset="0"/>
                <a:ea typeface="Calibri" pitchFamily="34" charset="-122"/>
                <a:cs typeface="Calibri" pitchFamily="34" charset="-120"/>
              </a:rPr>
              <a:t>Base de données</a:t>
            </a:r>
            <a:endParaRPr lang="en-US" sz="850" dirty="0"/>
          </a:p>
        </p:txBody>
      </p:sp>
      <p:sp>
        <p:nvSpPr>
          <p:cNvPr id="53" name="Text 51"/>
          <p:cNvSpPr/>
          <p:nvPr/>
        </p:nvSpPr>
        <p:spPr>
          <a:xfrm>
            <a:off x="914400" y="3813048"/>
            <a:ext cx="1371600" cy="256032"/>
          </a:xfrm>
          <a:prstGeom prst="rect">
            <a:avLst/>
          </a:prstGeom>
          <a:noFill/>
          <a:ln/>
        </p:spPr>
        <p:txBody>
          <a:bodyPr wrap="square" rtlCol="0" anchor="ctr"/>
          <a:lstStyle/>
          <a:p>
            <a:pPr marL="0" indent="0">
              <a:buNone/>
            </a:pPr>
            <a:r>
              <a:rPr lang="en-US" sz="1050" b="1" dirty="0">
                <a:solidFill>
                  <a:srgbClr val="1B3A6B"/>
                </a:solidFill>
                <a:latin typeface="Calibri" pitchFamily="34" charset="0"/>
                <a:ea typeface="Calibri" pitchFamily="34" charset="-122"/>
                <a:cs typeface="Calibri" pitchFamily="34" charset="-120"/>
              </a:rPr>
              <a:t>SQLite 3</a:t>
            </a:r>
            <a:endParaRPr lang="en-US" sz="1050" dirty="0"/>
          </a:p>
        </p:txBody>
      </p:sp>
      <p:sp>
        <p:nvSpPr>
          <p:cNvPr id="54" name="Text 52"/>
          <p:cNvSpPr/>
          <p:nvPr/>
        </p:nvSpPr>
        <p:spPr>
          <a:xfrm>
            <a:off x="2377440" y="3557016"/>
            <a:ext cx="2011680" cy="530352"/>
          </a:xfrm>
          <a:prstGeom prst="rect">
            <a:avLst/>
          </a:prstGeom>
          <a:noFill/>
          <a:ln/>
        </p:spPr>
        <p:txBody>
          <a:bodyPr wrap="square" rtlCol="0" anchor="ctr"/>
          <a:lstStyle/>
          <a:p>
            <a:pPr marL="0" indent="0">
              <a:buNone/>
            </a:pPr>
            <a:r>
              <a:rPr lang="en-US" sz="950" dirty="0">
                <a:solidFill>
                  <a:srgbClr val="5A6A7A"/>
                </a:solidFill>
                <a:latin typeface="Calibri" pitchFamily="34" charset="0"/>
                <a:ea typeface="Calibri" pitchFamily="34" charset="-122"/>
                <a:cs typeface="Calibri" pitchFamily="34" charset="-120"/>
              </a:rPr>
              <a:t>Local, sans serveur, intégré Python, fichier unique .db</a:t>
            </a:r>
            <a:endParaRPr lang="en-US" sz="950" dirty="0"/>
          </a:p>
        </p:txBody>
      </p:sp>
      <p:sp>
        <p:nvSpPr>
          <p:cNvPr id="55" name="Shape 53"/>
          <p:cNvSpPr/>
          <p:nvPr/>
        </p:nvSpPr>
        <p:spPr>
          <a:xfrm>
            <a:off x="4736592" y="3483864"/>
            <a:ext cx="4206240" cy="658368"/>
          </a:xfrm>
          <a:prstGeom prst="rect">
            <a:avLst/>
          </a:prstGeom>
          <a:solidFill>
            <a:srgbClr val="FFFFFF"/>
          </a:solidFill>
          <a:ln w="15240">
            <a:solidFill>
              <a:srgbClr val="C5D5E8"/>
            </a:solidFill>
            <a:prstDash val="solid"/>
          </a:ln>
          <a:effectLst>
            <a:outerShdw blurRad="63500" dist="25400" dir="8100000" algn="bl" rotWithShape="0">
              <a:srgbClr val="000000">
                <a:alpha val="10000"/>
              </a:srgbClr>
            </a:outerShdw>
          </a:effectLst>
        </p:spPr>
        <p:txBody>
          <a:bodyPr/>
          <a:lstStyle/>
          <a:p>
            <a:endParaRPr lang="fr-FR"/>
          </a:p>
        </p:txBody>
      </p:sp>
      <p:sp>
        <p:nvSpPr>
          <p:cNvPr id="57" name="Text 55"/>
          <p:cNvSpPr/>
          <p:nvPr/>
        </p:nvSpPr>
        <p:spPr>
          <a:xfrm>
            <a:off x="4736592" y="3483864"/>
            <a:ext cx="502920" cy="658368"/>
          </a:xfrm>
          <a:prstGeom prst="rect">
            <a:avLst/>
          </a:prstGeom>
          <a:noFill/>
          <a:ln/>
        </p:spPr>
        <p:txBody>
          <a:bodyPr wrap="square" rtlCol="0" anchor="ctr"/>
          <a:lstStyle/>
          <a:p>
            <a:pPr marL="0" indent="0" algn="ctr">
              <a:buNone/>
            </a:pPr>
            <a:endParaRPr lang="en-US" sz="1800" dirty="0"/>
          </a:p>
        </p:txBody>
      </p:sp>
      <p:sp>
        <p:nvSpPr>
          <p:cNvPr id="58" name="Shape 56"/>
          <p:cNvSpPr/>
          <p:nvPr/>
        </p:nvSpPr>
        <p:spPr>
          <a:xfrm>
            <a:off x="5330952" y="3557016"/>
            <a:ext cx="1371600" cy="237744"/>
          </a:xfrm>
          <a:prstGeom prst="roundRect">
            <a:avLst>
              <a:gd name="adj" fmla="val 11538"/>
            </a:avLst>
          </a:prstGeom>
          <a:solidFill>
            <a:srgbClr val="ECF0F4"/>
          </a:solidFill>
          <a:ln w="12700">
            <a:solidFill>
              <a:srgbClr val="C5D5E8"/>
            </a:solidFill>
            <a:prstDash val="solid"/>
          </a:ln>
        </p:spPr>
        <p:txBody>
          <a:bodyPr/>
          <a:lstStyle/>
          <a:p>
            <a:endParaRPr lang="fr-FR"/>
          </a:p>
        </p:txBody>
      </p:sp>
      <p:sp>
        <p:nvSpPr>
          <p:cNvPr id="59" name="Text 57"/>
          <p:cNvSpPr/>
          <p:nvPr/>
        </p:nvSpPr>
        <p:spPr>
          <a:xfrm>
            <a:off x="5330952" y="3557016"/>
            <a:ext cx="1371600" cy="237744"/>
          </a:xfrm>
          <a:prstGeom prst="rect">
            <a:avLst/>
          </a:prstGeom>
          <a:noFill/>
          <a:ln/>
        </p:spPr>
        <p:txBody>
          <a:bodyPr wrap="square" rtlCol="0" anchor="ctr"/>
          <a:lstStyle/>
          <a:p>
            <a:pPr marL="0" indent="0" algn="ctr">
              <a:buNone/>
            </a:pPr>
            <a:r>
              <a:rPr lang="en-US" sz="850" b="1" dirty="0">
                <a:solidFill>
                  <a:srgbClr val="1A7A4A"/>
                </a:solidFill>
                <a:latin typeface="Calibri" pitchFamily="34" charset="0"/>
                <a:ea typeface="Calibri" pitchFamily="34" charset="-122"/>
                <a:cs typeface="Calibri" pitchFamily="34" charset="-120"/>
              </a:rPr>
              <a:t>Interface</a:t>
            </a:r>
            <a:endParaRPr lang="en-US" sz="850" dirty="0"/>
          </a:p>
        </p:txBody>
      </p:sp>
      <p:sp>
        <p:nvSpPr>
          <p:cNvPr id="60" name="Text 58"/>
          <p:cNvSpPr/>
          <p:nvPr/>
        </p:nvSpPr>
        <p:spPr>
          <a:xfrm>
            <a:off x="5330952" y="3813048"/>
            <a:ext cx="1371600" cy="256032"/>
          </a:xfrm>
          <a:prstGeom prst="rect">
            <a:avLst/>
          </a:prstGeom>
          <a:noFill/>
          <a:ln/>
        </p:spPr>
        <p:txBody>
          <a:bodyPr wrap="square" rtlCol="0" anchor="ctr"/>
          <a:lstStyle/>
          <a:p>
            <a:pPr marL="0" indent="0">
              <a:buNone/>
            </a:pPr>
            <a:r>
              <a:rPr lang="en-US" sz="1050" b="1" dirty="0">
                <a:solidFill>
                  <a:srgbClr val="1B3A6B"/>
                </a:solidFill>
                <a:latin typeface="Calibri" pitchFamily="34" charset="0"/>
                <a:ea typeface="Calibri" pitchFamily="34" charset="-122"/>
                <a:cs typeface="Calibri" pitchFamily="34" charset="-120"/>
              </a:rPr>
              <a:t>CustomTkinter 5.2</a:t>
            </a:r>
            <a:endParaRPr lang="en-US" sz="1050" dirty="0"/>
          </a:p>
        </p:txBody>
      </p:sp>
      <p:sp>
        <p:nvSpPr>
          <p:cNvPr id="61" name="Text 59"/>
          <p:cNvSpPr/>
          <p:nvPr/>
        </p:nvSpPr>
        <p:spPr>
          <a:xfrm>
            <a:off x="6793992" y="3557016"/>
            <a:ext cx="2011680" cy="530352"/>
          </a:xfrm>
          <a:prstGeom prst="rect">
            <a:avLst/>
          </a:prstGeom>
          <a:noFill/>
          <a:ln/>
        </p:spPr>
        <p:txBody>
          <a:bodyPr wrap="square" rtlCol="0" anchor="ctr"/>
          <a:lstStyle/>
          <a:p>
            <a:pPr marL="0" indent="0">
              <a:buNone/>
            </a:pPr>
            <a:r>
              <a:rPr lang="en-US" sz="950" dirty="0">
                <a:solidFill>
                  <a:srgbClr val="5A6A7A"/>
                </a:solidFill>
                <a:latin typeface="Calibri" pitchFamily="34" charset="0"/>
                <a:ea typeface="Calibri" pitchFamily="34" charset="-122"/>
                <a:cs typeface="Calibri" pitchFamily="34" charset="-120"/>
              </a:rPr>
              <a:t>Dark/light theme moderne, widgets natifs Windows</a:t>
            </a:r>
            <a:endParaRPr lang="en-US" sz="950" dirty="0"/>
          </a:p>
        </p:txBody>
      </p:sp>
      <p:sp>
        <p:nvSpPr>
          <p:cNvPr id="62" name="Shape 60"/>
          <p:cNvSpPr/>
          <p:nvPr/>
        </p:nvSpPr>
        <p:spPr>
          <a:xfrm>
            <a:off x="320040" y="4233672"/>
            <a:ext cx="4206240" cy="658368"/>
          </a:xfrm>
          <a:prstGeom prst="rect">
            <a:avLst/>
          </a:prstGeom>
          <a:solidFill>
            <a:srgbClr val="FFFFFF"/>
          </a:solidFill>
          <a:ln w="15240">
            <a:solidFill>
              <a:srgbClr val="C5D5E8"/>
            </a:solidFill>
            <a:prstDash val="solid"/>
          </a:ln>
          <a:effectLst>
            <a:outerShdw blurRad="63500" dist="25400" dir="8100000" algn="bl" rotWithShape="0">
              <a:srgbClr val="000000">
                <a:alpha val="10000"/>
              </a:srgbClr>
            </a:outerShdw>
          </a:effectLst>
        </p:spPr>
        <p:txBody>
          <a:bodyPr/>
          <a:lstStyle/>
          <a:p>
            <a:endParaRPr lang="fr-FR"/>
          </a:p>
        </p:txBody>
      </p:sp>
      <p:sp>
        <p:nvSpPr>
          <p:cNvPr id="64" name="Text 62"/>
          <p:cNvSpPr/>
          <p:nvPr/>
        </p:nvSpPr>
        <p:spPr>
          <a:xfrm>
            <a:off x="320040" y="4233672"/>
            <a:ext cx="502920" cy="658368"/>
          </a:xfrm>
          <a:prstGeom prst="rect">
            <a:avLst/>
          </a:prstGeom>
          <a:noFill/>
          <a:ln/>
        </p:spPr>
        <p:txBody>
          <a:bodyPr wrap="square" rtlCol="0" anchor="ctr"/>
          <a:lstStyle/>
          <a:p>
            <a:pPr marL="0" indent="0" algn="ctr">
              <a:buNone/>
            </a:pPr>
            <a:endParaRPr lang="en-US" sz="1800" dirty="0"/>
          </a:p>
        </p:txBody>
      </p:sp>
      <p:sp>
        <p:nvSpPr>
          <p:cNvPr id="65" name="Shape 63"/>
          <p:cNvSpPr/>
          <p:nvPr/>
        </p:nvSpPr>
        <p:spPr>
          <a:xfrm>
            <a:off x="914400" y="4306824"/>
            <a:ext cx="1371600" cy="237744"/>
          </a:xfrm>
          <a:prstGeom prst="roundRect">
            <a:avLst>
              <a:gd name="adj" fmla="val 11538"/>
            </a:avLst>
          </a:prstGeom>
          <a:solidFill>
            <a:srgbClr val="ECF0F4"/>
          </a:solidFill>
          <a:ln w="12700">
            <a:solidFill>
              <a:srgbClr val="C5D5E8"/>
            </a:solidFill>
            <a:prstDash val="solid"/>
          </a:ln>
        </p:spPr>
        <p:txBody>
          <a:bodyPr/>
          <a:lstStyle/>
          <a:p>
            <a:endParaRPr lang="fr-FR"/>
          </a:p>
        </p:txBody>
      </p:sp>
      <p:sp>
        <p:nvSpPr>
          <p:cNvPr id="66" name="Text 64"/>
          <p:cNvSpPr/>
          <p:nvPr/>
        </p:nvSpPr>
        <p:spPr>
          <a:xfrm>
            <a:off x="914400" y="4306824"/>
            <a:ext cx="1371600" cy="237744"/>
          </a:xfrm>
          <a:prstGeom prst="rect">
            <a:avLst/>
          </a:prstGeom>
          <a:noFill/>
          <a:ln/>
        </p:spPr>
        <p:txBody>
          <a:bodyPr wrap="square" rtlCol="0" anchor="ctr"/>
          <a:lstStyle/>
          <a:p>
            <a:pPr marL="0" indent="0" algn="ctr">
              <a:buNone/>
            </a:pPr>
            <a:r>
              <a:rPr lang="en-US" sz="850" b="1" dirty="0">
                <a:solidFill>
                  <a:srgbClr val="5A6A7A"/>
                </a:solidFill>
                <a:latin typeface="Calibri" pitchFamily="34" charset="0"/>
                <a:ea typeface="Calibri" pitchFamily="34" charset="-122"/>
                <a:cs typeface="Calibri" pitchFamily="34" charset="-120"/>
              </a:rPr>
              <a:t>Windows API</a:t>
            </a:r>
            <a:endParaRPr lang="en-US" sz="850" dirty="0"/>
          </a:p>
        </p:txBody>
      </p:sp>
      <p:sp>
        <p:nvSpPr>
          <p:cNvPr id="67" name="Text 65"/>
          <p:cNvSpPr/>
          <p:nvPr/>
        </p:nvSpPr>
        <p:spPr>
          <a:xfrm>
            <a:off x="914400" y="4562856"/>
            <a:ext cx="1371600" cy="256032"/>
          </a:xfrm>
          <a:prstGeom prst="rect">
            <a:avLst/>
          </a:prstGeom>
          <a:noFill/>
          <a:ln/>
        </p:spPr>
        <p:txBody>
          <a:bodyPr wrap="square" rtlCol="0" anchor="ctr"/>
          <a:lstStyle/>
          <a:p>
            <a:pPr marL="0" indent="0">
              <a:buNone/>
            </a:pPr>
            <a:r>
              <a:rPr lang="en-US" sz="1050" b="1" dirty="0">
                <a:solidFill>
                  <a:srgbClr val="1B3A6B"/>
                </a:solidFill>
                <a:latin typeface="Calibri" pitchFamily="34" charset="0"/>
                <a:ea typeface="Calibri" pitchFamily="34" charset="-122"/>
                <a:cs typeface="Calibri" pitchFamily="34" charset="-120"/>
              </a:rPr>
              <a:t>ctypes + pywin32</a:t>
            </a:r>
            <a:endParaRPr lang="en-US" sz="1050" dirty="0"/>
          </a:p>
        </p:txBody>
      </p:sp>
      <p:sp>
        <p:nvSpPr>
          <p:cNvPr id="68" name="Text 66"/>
          <p:cNvSpPr/>
          <p:nvPr/>
        </p:nvSpPr>
        <p:spPr>
          <a:xfrm>
            <a:off x="2377440" y="4306824"/>
            <a:ext cx="2011680" cy="530352"/>
          </a:xfrm>
          <a:prstGeom prst="rect">
            <a:avLst/>
          </a:prstGeom>
          <a:noFill/>
          <a:ln/>
        </p:spPr>
        <p:txBody>
          <a:bodyPr wrap="square" rtlCol="0" anchor="ctr"/>
          <a:lstStyle/>
          <a:p>
            <a:pPr marL="0" indent="0">
              <a:buNone/>
            </a:pPr>
            <a:r>
              <a:rPr lang="en-US" sz="950" dirty="0">
                <a:solidFill>
                  <a:srgbClr val="5A6A7A"/>
                </a:solidFill>
                <a:latin typeface="Calibri" pitchFamily="34" charset="0"/>
                <a:ea typeface="Calibri" pitchFamily="34" charset="-122"/>
                <a:cs typeface="Calibri" pitchFamily="34" charset="-120"/>
              </a:rPr>
              <a:t>Accès direct Win32 : LockWorkStation, GetLastInputInfo</a:t>
            </a:r>
            <a:endParaRPr lang="en-US" sz="950" dirty="0"/>
          </a:p>
        </p:txBody>
      </p:sp>
      <p:sp>
        <p:nvSpPr>
          <p:cNvPr id="69" name="Shape 67"/>
          <p:cNvSpPr/>
          <p:nvPr/>
        </p:nvSpPr>
        <p:spPr>
          <a:xfrm>
            <a:off x="4736592" y="4233672"/>
            <a:ext cx="4206240" cy="658368"/>
          </a:xfrm>
          <a:prstGeom prst="rect">
            <a:avLst/>
          </a:prstGeom>
          <a:solidFill>
            <a:srgbClr val="FFFFFF"/>
          </a:solidFill>
          <a:ln w="15240">
            <a:solidFill>
              <a:srgbClr val="C5D5E8"/>
            </a:solidFill>
            <a:prstDash val="solid"/>
          </a:ln>
          <a:effectLst>
            <a:outerShdw blurRad="63500" dist="25400" dir="8100000" algn="bl" rotWithShape="0">
              <a:srgbClr val="000000">
                <a:alpha val="10000"/>
              </a:srgbClr>
            </a:outerShdw>
          </a:effectLst>
        </p:spPr>
        <p:txBody>
          <a:bodyPr/>
          <a:lstStyle/>
          <a:p>
            <a:endParaRPr lang="fr-FR"/>
          </a:p>
        </p:txBody>
      </p:sp>
      <p:sp>
        <p:nvSpPr>
          <p:cNvPr id="71" name="Text 69"/>
          <p:cNvSpPr/>
          <p:nvPr/>
        </p:nvSpPr>
        <p:spPr>
          <a:xfrm>
            <a:off x="4736592" y="4233672"/>
            <a:ext cx="502920" cy="658368"/>
          </a:xfrm>
          <a:prstGeom prst="rect">
            <a:avLst/>
          </a:prstGeom>
          <a:noFill/>
          <a:ln/>
        </p:spPr>
        <p:txBody>
          <a:bodyPr wrap="square" rtlCol="0" anchor="ctr"/>
          <a:lstStyle/>
          <a:p>
            <a:pPr marL="0" indent="0" algn="ctr">
              <a:buNone/>
            </a:pPr>
            <a:endParaRPr lang="en-US" sz="1800" dirty="0"/>
          </a:p>
        </p:txBody>
      </p:sp>
      <p:sp>
        <p:nvSpPr>
          <p:cNvPr id="72" name="Shape 70"/>
          <p:cNvSpPr/>
          <p:nvPr/>
        </p:nvSpPr>
        <p:spPr>
          <a:xfrm>
            <a:off x="5330952" y="4306824"/>
            <a:ext cx="1371600" cy="237744"/>
          </a:xfrm>
          <a:prstGeom prst="roundRect">
            <a:avLst>
              <a:gd name="adj" fmla="val 11538"/>
            </a:avLst>
          </a:prstGeom>
          <a:solidFill>
            <a:srgbClr val="ECF0F4"/>
          </a:solidFill>
          <a:ln w="12700">
            <a:solidFill>
              <a:srgbClr val="C5D5E8"/>
            </a:solidFill>
            <a:prstDash val="solid"/>
          </a:ln>
        </p:spPr>
        <p:txBody>
          <a:bodyPr/>
          <a:lstStyle/>
          <a:p>
            <a:endParaRPr lang="fr-FR"/>
          </a:p>
        </p:txBody>
      </p:sp>
      <p:sp>
        <p:nvSpPr>
          <p:cNvPr id="73" name="Text 71"/>
          <p:cNvSpPr/>
          <p:nvPr/>
        </p:nvSpPr>
        <p:spPr>
          <a:xfrm>
            <a:off x="5330952" y="4306824"/>
            <a:ext cx="1371600" cy="237744"/>
          </a:xfrm>
          <a:prstGeom prst="rect">
            <a:avLst/>
          </a:prstGeom>
          <a:noFill/>
          <a:ln/>
        </p:spPr>
        <p:txBody>
          <a:bodyPr wrap="square" rtlCol="0" anchor="ctr"/>
          <a:lstStyle/>
          <a:p>
            <a:pPr marL="0" indent="0" algn="ctr">
              <a:buNone/>
            </a:pPr>
            <a:r>
              <a:rPr lang="en-US" sz="850" b="1" dirty="0">
                <a:solidFill>
                  <a:srgbClr val="5A6A7A"/>
                </a:solidFill>
                <a:latin typeface="Calibri" pitchFamily="34" charset="0"/>
                <a:ea typeface="Calibri" pitchFamily="34" charset="-122"/>
                <a:cs typeface="Calibri" pitchFamily="34" charset="-120"/>
              </a:rPr>
              <a:t>Environnement</a:t>
            </a:r>
            <a:endParaRPr lang="en-US" sz="850" dirty="0"/>
          </a:p>
        </p:txBody>
      </p:sp>
      <p:sp>
        <p:nvSpPr>
          <p:cNvPr id="74" name="Text 72"/>
          <p:cNvSpPr/>
          <p:nvPr/>
        </p:nvSpPr>
        <p:spPr>
          <a:xfrm>
            <a:off x="5330952" y="4562856"/>
            <a:ext cx="1371600" cy="256032"/>
          </a:xfrm>
          <a:prstGeom prst="rect">
            <a:avLst/>
          </a:prstGeom>
          <a:noFill/>
          <a:ln/>
        </p:spPr>
        <p:txBody>
          <a:bodyPr wrap="square" rtlCol="0" anchor="ctr"/>
          <a:lstStyle/>
          <a:p>
            <a:pPr marL="0" indent="0">
              <a:buNone/>
            </a:pPr>
            <a:r>
              <a:rPr lang="en-US" sz="1050" b="1" dirty="0">
                <a:solidFill>
                  <a:srgbClr val="1B3A6B"/>
                </a:solidFill>
                <a:latin typeface="Calibri" pitchFamily="34" charset="0"/>
                <a:ea typeface="Calibri" pitchFamily="34" charset="-122"/>
                <a:cs typeface="Calibri" pitchFamily="34" charset="-120"/>
              </a:rPr>
              <a:t>facelock_env (venv)</a:t>
            </a:r>
            <a:endParaRPr lang="en-US" sz="1050" dirty="0"/>
          </a:p>
        </p:txBody>
      </p:sp>
      <p:sp>
        <p:nvSpPr>
          <p:cNvPr id="75" name="Text 73"/>
          <p:cNvSpPr/>
          <p:nvPr/>
        </p:nvSpPr>
        <p:spPr>
          <a:xfrm>
            <a:off x="6793992" y="4306824"/>
            <a:ext cx="2011680" cy="530352"/>
          </a:xfrm>
          <a:prstGeom prst="rect">
            <a:avLst/>
          </a:prstGeom>
          <a:noFill/>
          <a:ln/>
        </p:spPr>
        <p:txBody>
          <a:bodyPr wrap="square" rtlCol="0" anchor="ctr"/>
          <a:lstStyle/>
          <a:p>
            <a:pPr marL="0" indent="0">
              <a:buNone/>
            </a:pPr>
            <a:r>
              <a:rPr lang="en-US" sz="950" dirty="0">
                <a:solidFill>
                  <a:srgbClr val="5A6A7A"/>
                </a:solidFill>
                <a:latin typeface="Calibri" pitchFamily="34" charset="0"/>
                <a:ea typeface="Calibri" pitchFamily="34" charset="-122"/>
                <a:cs typeface="Calibri" pitchFamily="34" charset="-120"/>
              </a:rPr>
              <a:t>Isolation Python : évite conflits bibliothèques système</a:t>
            </a:r>
            <a:endParaRPr lang="en-US" sz="950" dirty="0"/>
          </a:p>
        </p:txBody>
      </p:sp>
      <p:sp>
        <p:nvSpPr>
          <p:cNvPr id="78" name="Text 76"/>
          <p:cNvSpPr/>
          <p:nvPr/>
        </p:nvSpPr>
        <p:spPr>
          <a:xfrm>
            <a:off x="7772400" y="4974336"/>
            <a:ext cx="1097280" cy="164592"/>
          </a:xfrm>
          <a:prstGeom prst="rect">
            <a:avLst/>
          </a:prstGeom>
          <a:noFill/>
          <a:ln/>
        </p:spPr>
        <p:txBody>
          <a:bodyPr wrap="square" rtlCol="0" anchor="ctr"/>
          <a:lstStyle/>
          <a:p>
            <a:pPr marL="0" indent="0" algn="r">
              <a:buNone/>
            </a:pPr>
            <a:r>
              <a:rPr lang="en-US" sz="900" dirty="0">
                <a:solidFill>
                  <a:srgbClr val="5A6A7A"/>
                </a:solidFill>
                <a:latin typeface="Calibri" pitchFamily="34" charset="0"/>
                <a:ea typeface="Calibri" pitchFamily="34" charset="-122"/>
                <a:cs typeface="Calibri" pitchFamily="34" charset="-120"/>
              </a:rPr>
              <a:t>8 / 16</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1B3A6B"/>
          </a:solidFill>
          <a:ln w="12700">
            <a:solidFill>
              <a:srgbClr val="1B3A6B"/>
            </a:solidFill>
            <a:prstDash val="solid"/>
          </a:ln>
        </p:spPr>
        <p:txBody>
          <a:bodyPr/>
          <a:lstStyle/>
          <a:p>
            <a:endParaRPr lang="fr-FR"/>
          </a:p>
        </p:txBody>
      </p:sp>
      <p:sp>
        <p:nvSpPr>
          <p:cNvPr id="3" name="Text 1"/>
          <p:cNvSpPr/>
          <p:nvPr/>
        </p:nvSpPr>
        <p:spPr>
          <a:xfrm>
            <a:off x="365760" y="91440"/>
            <a:ext cx="8229600" cy="594360"/>
          </a:xfrm>
          <a:prstGeom prst="rect">
            <a:avLst/>
          </a:prstGeom>
          <a:noFill/>
          <a:ln/>
        </p:spPr>
        <p:txBody>
          <a:bodyPr wrap="square"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Embedding ArcFace — Cœur du Système</a:t>
            </a:r>
            <a:endParaRPr lang="en-US" sz="2800" dirty="0"/>
          </a:p>
        </p:txBody>
      </p:sp>
      <p:sp>
        <p:nvSpPr>
          <p:cNvPr id="5" name="Shape 3"/>
          <p:cNvSpPr/>
          <p:nvPr/>
        </p:nvSpPr>
        <p:spPr>
          <a:xfrm>
            <a:off x="0" y="1005840"/>
            <a:ext cx="9144000" cy="54864"/>
          </a:xfrm>
          <a:prstGeom prst="rect">
            <a:avLst/>
          </a:prstGeom>
          <a:solidFill>
            <a:srgbClr val="0A7EA4"/>
          </a:solidFill>
          <a:ln w="12700">
            <a:solidFill>
              <a:srgbClr val="0A7EA4"/>
            </a:solidFill>
            <a:prstDash val="solid"/>
          </a:ln>
        </p:spPr>
        <p:txBody>
          <a:bodyPr/>
          <a:lstStyle/>
          <a:p>
            <a:endParaRPr lang="fr-FR"/>
          </a:p>
        </p:txBody>
      </p:sp>
      <p:sp>
        <p:nvSpPr>
          <p:cNvPr id="7" name="Text 5"/>
          <p:cNvSpPr/>
          <p:nvPr/>
        </p:nvSpPr>
        <p:spPr>
          <a:xfrm>
            <a:off x="502920" y="1280160"/>
            <a:ext cx="4937760" cy="320040"/>
          </a:xfrm>
          <a:prstGeom prst="rect">
            <a:avLst/>
          </a:prstGeom>
          <a:noFill/>
          <a:ln/>
        </p:spPr>
        <p:txBody>
          <a:bodyPr wrap="square" rtlCol="0" anchor="ctr"/>
          <a:lstStyle/>
          <a:p>
            <a:pPr marL="0" indent="0">
              <a:buNone/>
            </a:pPr>
            <a:r>
              <a:rPr lang="en-US" sz="1400" b="1" dirty="0">
                <a:latin typeface="Calibri" pitchFamily="34" charset="0"/>
                <a:ea typeface="Calibri" pitchFamily="34" charset="-122"/>
                <a:cs typeface="Calibri" pitchFamily="34" charset="-120"/>
              </a:rPr>
              <a:t>Qu'est-ce qu'un Embedding ?</a:t>
            </a:r>
            <a:endParaRPr lang="en-US" sz="1400" dirty="0"/>
          </a:p>
        </p:txBody>
      </p:sp>
      <p:sp>
        <p:nvSpPr>
          <p:cNvPr id="8" name="Text 6"/>
          <p:cNvSpPr/>
          <p:nvPr/>
        </p:nvSpPr>
        <p:spPr>
          <a:xfrm>
            <a:off x="502920" y="1627632"/>
            <a:ext cx="4937760" cy="502920"/>
          </a:xfrm>
          <a:prstGeom prst="rect">
            <a:avLst/>
          </a:prstGeom>
          <a:noFill/>
          <a:ln/>
        </p:spPr>
        <p:txBody>
          <a:bodyPr wrap="square" rtlCol="0" anchor="ctr"/>
          <a:lstStyle/>
          <a:p>
            <a:pPr marL="0" indent="0">
              <a:buNone/>
            </a:pPr>
            <a:r>
              <a:rPr lang="en-US" sz="1100" dirty="0">
                <a:latin typeface="Calibri" pitchFamily="34" charset="0"/>
                <a:ea typeface="Calibri" pitchFamily="34" charset="-122"/>
                <a:cs typeface="Calibri" pitchFamily="34" charset="-120"/>
              </a:rPr>
              <a:t>ArcFace transforme un visage en un vecteur de 512 nombres (float32). Ce vecteur capture les caractéristiques uniques du visage : distance entre les yeux, forme du nez, contour de la mâchoire, </a:t>
            </a:r>
            <a:r>
              <a:rPr lang="en-US" sz="1100" dirty="0" err="1">
                <a:latin typeface="Calibri" pitchFamily="34" charset="0"/>
                <a:ea typeface="Calibri" pitchFamily="34" charset="-122"/>
                <a:cs typeface="Calibri" pitchFamily="34" charset="-120"/>
              </a:rPr>
              <a:t>etc</a:t>
            </a:r>
            <a:endParaRPr lang="en-US" sz="1100" dirty="0"/>
          </a:p>
        </p:txBody>
      </p:sp>
      <p:sp>
        <p:nvSpPr>
          <p:cNvPr id="9" name="Text 7"/>
          <p:cNvSpPr/>
          <p:nvPr/>
        </p:nvSpPr>
        <p:spPr>
          <a:xfrm>
            <a:off x="502920" y="2148840"/>
            <a:ext cx="4937760" cy="274320"/>
          </a:xfrm>
          <a:prstGeom prst="rect">
            <a:avLst/>
          </a:prstGeom>
          <a:noFill/>
          <a:ln/>
        </p:spPr>
        <p:txBody>
          <a:bodyPr wrap="square" rtlCol="0" anchor="ctr"/>
          <a:lstStyle/>
          <a:p>
            <a:pPr marL="0" indent="0">
              <a:buNone/>
            </a:pPr>
            <a:r>
              <a:rPr lang="en-US" sz="1100" b="1" dirty="0">
                <a:latin typeface="Courier New" pitchFamily="34" charset="0"/>
                <a:ea typeface="Courier New" pitchFamily="34" charset="-122"/>
                <a:cs typeface="Courier New" pitchFamily="34" charset="-120"/>
              </a:rPr>
              <a:t>Visage  →  [0.23, -0.15, 0.87, ..., 0.61]  (512 valeurs)</a:t>
            </a:r>
            <a:endParaRPr lang="en-US" sz="1100" dirty="0"/>
          </a:p>
        </p:txBody>
      </p:sp>
      <p:sp>
        <p:nvSpPr>
          <p:cNvPr id="10" name="Text 8"/>
          <p:cNvSpPr/>
          <p:nvPr/>
        </p:nvSpPr>
        <p:spPr>
          <a:xfrm>
            <a:off x="502920" y="2468880"/>
            <a:ext cx="4937760" cy="457200"/>
          </a:xfrm>
          <a:prstGeom prst="rect">
            <a:avLst/>
          </a:prstGeom>
          <a:noFill/>
          <a:ln/>
        </p:spPr>
        <p:txBody>
          <a:bodyPr wrap="square" rtlCol="0" anchor="ctr"/>
          <a:lstStyle/>
          <a:p>
            <a:pPr marL="0" indent="0">
              <a:buNone/>
            </a:pPr>
            <a:r>
              <a:rPr lang="en-US" sz="1100" b="1" dirty="0">
                <a:solidFill>
                  <a:srgbClr val="E07B00"/>
                </a:solidFill>
                <a:latin typeface="Calibri" pitchFamily="34" charset="0"/>
                <a:ea typeface="Calibri" pitchFamily="34" charset="-122"/>
                <a:cs typeface="Calibri" pitchFamily="34" charset="-120"/>
              </a:rPr>
              <a:t>  </a:t>
            </a:r>
            <a:r>
              <a:rPr lang="en-US" sz="1100" b="1" dirty="0">
                <a:latin typeface="Calibri" pitchFamily="34" charset="0"/>
                <a:ea typeface="Calibri" pitchFamily="34" charset="-122"/>
                <a:cs typeface="Calibri" pitchFamily="34" charset="-120"/>
              </a:rPr>
              <a:t>Ce vecteur N'EST PAS réversible — impossible de reconstruire une photo à partir d'un embedding.</a:t>
            </a:r>
            <a:endParaRPr lang="en-US" sz="1100" dirty="0"/>
          </a:p>
        </p:txBody>
      </p:sp>
      <p:sp>
        <p:nvSpPr>
          <p:cNvPr id="12" name="Text 10"/>
          <p:cNvSpPr/>
          <p:nvPr/>
        </p:nvSpPr>
        <p:spPr>
          <a:xfrm>
            <a:off x="5943600" y="1280160"/>
            <a:ext cx="2743200" cy="320040"/>
          </a:xfrm>
          <a:prstGeom prst="rect">
            <a:avLst/>
          </a:prstGeom>
          <a:noFill/>
          <a:ln/>
        </p:spPr>
        <p:txBody>
          <a:bodyPr wrap="square" rtlCol="0" anchor="ctr"/>
          <a:lstStyle/>
          <a:p>
            <a:pPr marL="0" indent="0">
              <a:buNone/>
            </a:pPr>
            <a:r>
              <a:rPr lang="en-US" sz="1300" b="1" dirty="0">
                <a:solidFill>
                  <a:srgbClr val="1B3A6B"/>
                </a:solidFill>
                <a:latin typeface="Calibri" pitchFamily="34" charset="0"/>
                <a:ea typeface="Calibri" pitchFamily="34" charset="-122"/>
                <a:cs typeface="Calibri" pitchFamily="34" charset="-120"/>
              </a:rPr>
              <a:t>Similarité Cosinus</a:t>
            </a:r>
            <a:endParaRPr lang="en-US" sz="1300" dirty="0"/>
          </a:p>
        </p:txBody>
      </p:sp>
      <p:sp>
        <p:nvSpPr>
          <p:cNvPr id="13" name="Text 11"/>
          <p:cNvSpPr/>
          <p:nvPr/>
        </p:nvSpPr>
        <p:spPr>
          <a:xfrm>
            <a:off x="5943600" y="1627632"/>
            <a:ext cx="2743200" cy="274320"/>
          </a:xfrm>
          <a:prstGeom prst="rect">
            <a:avLst/>
          </a:prstGeom>
          <a:noFill/>
          <a:ln/>
        </p:spPr>
        <p:txBody>
          <a:bodyPr wrap="square" rtlCol="0" anchor="ctr"/>
          <a:lstStyle/>
          <a:p>
            <a:pPr marL="0" indent="0" algn="ctr">
              <a:buNone/>
            </a:pPr>
            <a:r>
              <a:rPr lang="en-US" sz="1200" b="1" dirty="0">
                <a:latin typeface="Courier New" pitchFamily="34" charset="0"/>
                <a:ea typeface="Courier New" pitchFamily="34" charset="-122"/>
                <a:cs typeface="Courier New" pitchFamily="34" charset="-120"/>
              </a:rPr>
              <a:t>cos(θ) = (A·B) / (|A|×|B|)</a:t>
            </a:r>
            <a:endParaRPr lang="en-US" sz="1200" dirty="0"/>
          </a:p>
        </p:txBody>
      </p:sp>
      <p:sp>
        <p:nvSpPr>
          <p:cNvPr id="14" name="Text 12"/>
          <p:cNvSpPr/>
          <p:nvPr/>
        </p:nvSpPr>
        <p:spPr>
          <a:xfrm>
            <a:off x="5943600" y="1965960"/>
            <a:ext cx="1645920" cy="292608"/>
          </a:xfrm>
          <a:prstGeom prst="rect">
            <a:avLst/>
          </a:prstGeom>
          <a:noFill/>
          <a:ln/>
        </p:spPr>
        <p:txBody>
          <a:bodyPr wrap="square" rtlCol="0" anchor="ctr"/>
          <a:lstStyle/>
          <a:p>
            <a:pPr marL="0" indent="0">
              <a:buNone/>
            </a:pPr>
            <a:r>
              <a:rPr lang="en-US" sz="1000" dirty="0">
                <a:solidFill>
                  <a:srgbClr val="5A6A7A"/>
                </a:solidFill>
                <a:latin typeface="Calibri" pitchFamily="34" charset="0"/>
                <a:ea typeface="Calibri" pitchFamily="34" charset="-122"/>
                <a:cs typeface="Calibri" pitchFamily="34" charset="-120"/>
              </a:rPr>
              <a:t>Même personne</a:t>
            </a:r>
            <a:endParaRPr lang="en-US" sz="1000" dirty="0"/>
          </a:p>
        </p:txBody>
      </p:sp>
      <p:sp>
        <p:nvSpPr>
          <p:cNvPr id="15" name="Text 13"/>
          <p:cNvSpPr/>
          <p:nvPr/>
        </p:nvSpPr>
        <p:spPr>
          <a:xfrm>
            <a:off x="7406640" y="1965960"/>
            <a:ext cx="1234440" cy="292608"/>
          </a:xfrm>
          <a:prstGeom prst="rect">
            <a:avLst/>
          </a:prstGeom>
          <a:noFill/>
          <a:ln/>
        </p:spPr>
        <p:txBody>
          <a:bodyPr wrap="square" rtlCol="0" anchor="ctr"/>
          <a:lstStyle/>
          <a:p>
            <a:pPr marL="0" indent="0" algn="ctr">
              <a:buNone/>
            </a:pPr>
            <a:r>
              <a:rPr lang="en-US" sz="1000" b="1" dirty="0">
                <a:latin typeface="Calibri" pitchFamily="34" charset="0"/>
                <a:ea typeface="Calibri" pitchFamily="34" charset="-122"/>
                <a:cs typeface="Calibri" pitchFamily="34" charset="-120"/>
              </a:rPr>
              <a:t>0.93 – 0.99</a:t>
            </a:r>
            <a:endParaRPr lang="en-US" sz="1000" dirty="0"/>
          </a:p>
        </p:txBody>
      </p:sp>
      <p:sp>
        <p:nvSpPr>
          <p:cNvPr id="16" name="Text 14"/>
          <p:cNvSpPr/>
          <p:nvPr/>
        </p:nvSpPr>
        <p:spPr>
          <a:xfrm>
            <a:off x="5943600" y="2313432"/>
            <a:ext cx="1645920" cy="292608"/>
          </a:xfrm>
          <a:prstGeom prst="rect">
            <a:avLst/>
          </a:prstGeom>
          <a:noFill/>
          <a:ln/>
        </p:spPr>
        <p:txBody>
          <a:bodyPr wrap="square" rtlCol="0" anchor="ctr"/>
          <a:lstStyle/>
          <a:p>
            <a:pPr marL="0" indent="0">
              <a:buNone/>
            </a:pPr>
            <a:r>
              <a:rPr lang="en-US" sz="1000" dirty="0">
                <a:solidFill>
                  <a:srgbClr val="5A6A7A"/>
                </a:solidFill>
                <a:latin typeface="Calibri" pitchFamily="34" charset="0"/>
                <a:ea typeface="Calibri" pitchFamily="34" charset="-122"/>
                <a:cs typeface="Calibri" pitchFamily="34" charset="-120"/>
              </a:rPr>
              <a:t>Proche</a:t>
            </a:r>
            <a:endParaRPr lang="en-US" sz="1000" dirty="0"/>
          </a:p>
        </p:txBody>
      </p:sp>
      <p:sp>
        <p:nvSpPr>
          <p:cNvPr id="17" name="Text 15"/>
          <p:cNvSpPr/>
          <p:nvPr/>
        </p:nvSpPr>
        <p:spPr>
          <a:xfrm>
            <a:off x="7406640" y="2313432"/>
            <a:ext cx="1234440" cy="292608"/>
          </a:xfrm>
          <a:prstGeom prst="rect">
            <a:avLst/>
          </a:prstGeom>
          <a:noFill/>
          <a:ln/>
        </p:spPr>
        <p:txBody>
          <a:bodyPr wrap="square" rtlCol="0" anchor="ctr"/>
          <a:lstStyle/>
          <a:p>
            <a:pPr marL="0" indent="0" algn="ctr">
              <a:buNone/>
            </a:pPr>
            <a:r>
              <a:rPr lang="en-US" sz="1000" b="1" dirty="0">
                <a:latin typeface="Calibri" pitchFamily="34" charset="0"/>
                <a:ea typeface="Calibri" pitchFamily="34" charset="-122"/>
                <a:cs typeface="Calibri" pitchFamily="34" charset="-120"/>
              </a:rPr>
              <a:t>0.40 – 0.92</a:t>
            </a:r>
            <a:endParaRPr lang="en-US" sz="1000" dirty="0"/>
          </a:p>
        </p:txBody>
      </p:sp>
      <p:sp>
        <p:nvSpPr>
          <p:cNvPr id="18" name="Text 16"/>
          <p:cNvSpPr/>
          <p:nvPr/>
        </p:nvSpPr>
        <p:spPr>
          <a:xfrm>
            <a:off x="5943600" y="2660904"/>
            <a:ext cx="1645920" cy="292608"/>
          </a:xfrm>
          <a:prstGeom prst="rect">
            <a:avLst/>
          </a:prstGeom>
          <a:noFill/>
          <a:ln/>
        </p:spPr>
        <p:txBody>
          <a:bodyPr wrap="square" rtlCol="0" anchor="ctr"/>
          <a:lstStyle/>
          <a:p>
            <a:pPr marL="0" indent="0">
              <a:buNone/>
            </a:pPr>
            <a:r>
              <a:rPr lang="en-US" sz="1000" dirty="0">
                <a:solidFill>
                  <a:srgbClr val="5A6A7A"/>
                </a:solidFill>
                <a:latin typeface="Calibri" pitchFamily="34" charset="0"/>
                <a:ea typeface="Calibri" pitchFamily="34" charset="-122"/>
                <a:cs typeface="Calibri" pitchFamily="34" charset="-120"/>
              </a:rPr>
              <a:t>Différent</a:t>
            </a:r>
            <a:endParaRPr lang="en-US" sz="1000" dirty="0"/>
          </a:p>
        </p:txBody>
      </p:sp>
      <p:sp>
        <p:nvSpPr>
          <p:cNvPr id="19" name="Text 17"/>
          <p:cNvSpPr/>
          <p:nvPr/>
        </p:nvSpPr>
        <p:spPr>
          <a:xfrm>
            <a:off x="7406640" y="2660904"/>
            <a:ext cx="1234440" cy="292608"/>
          </a:xfrm>
          <a:prstGeom prst="rect">
            <a:avLst/>
          </a:prstGeom>
          <a:noFill/>
          <a:ln/>
        </p:spPr>
        <p:txBody>
          <a:bodyPr wrap="square" rtlCol="0" anchor="ctr"/>
          <a:lstStyle/>
          <a:p>
            <a:pPr marL="0" indent="0" algn="ctr">
              <a:buNone/>
            </a:pPr>
            <a:r>
              <a:rPr lang="en-US" sz="1000" b="1" dirty="0">
                <a:latin typeface="Calibri" pitchFamily="34" charset="0"/>
                <a:ea typeface="Calibri" pitchFamily="34" charset="-122"/>
                <a:cs typeface="Calibri" pitchFamily="34" charset="-120"/>
              </a:rPr>
              <a:t>&lt; 0.40</a:t>
            </a:r>
            <a:endParaRPr lang="en-US" sz="1000" dirty="0"/>
          </a:p>
        </p:txBody>
      </p:sp>
      <p:sp>
        <p:nvSpPr>
          <p:cNvPr id="21" name="Text 19"/>
          <p:cNvSpPr/>
          <p:nvPr/>
        </p:nvSpPr>
        <p:spPr>
          <a:xfrm>
            <a:off x="502920" y="3447288"/>
            <a:ext cx="8229600" cy="256032"/>
          </a:xfrm>
          <a:prstGeom prst="rect">
            <a:avLst/>
          </a:prstGeom>
          <a:noFill/>
          <a:ln/>
        </p:spPr>
        <p:txBody>
          <a:bodyPr wrap="square" rtlCol="0" anchor="ctr"/>
          <a:lstStyle/>
          <a:p>
            <a:pPr marL="0" indent="0">
              <a:buNone/>
            </a:pPr>
            <a:r>
              <a:rPr lang="en-US" sz="1100" b="1" dirty="0">
                <a:solidFill>
                  <a:srgbClr val="1B3A6B"/>
                </a:solidFill>
                <a:latin typeface="Calibri" pitchFamily="34" charset="0"/>
                <a:ea typeface="Calibri" pitchFamily="34" charset="-122"/>
                <a:cs typeface="Calibri" pitchFamily="34" charset="-120"/>
              </a:rPr>
              <a:t>Extrait de code — face_encoder.py</a:t>
            </a:r>
            <a:endParaRPr lang="en-US" sz="1100" dirty="0"/>
          </a:p>
        </p:txBody>
      </p:sp>
      <p:sp>
        <p:nvSpPr>
          <p:cNvPr id="22" name="Text 20"/>
          <p:cNvSpPr/>
          <p:nvPr/>
        </p:nvSpPr>
        <p:spPr>
          <a:xfrm>
            <a:off x="502920" y="3730752"/>
            <a:ext cx="8229600" cy="914400"/>
          </a:xfrm>
          <a:prstGeom prst="rect">
            <a:avLst/>
          </a:prstGeom>
          <a:noFill/>
          <a:ln/>
        </p:spPr>
        <p:txBody>
          <a:bodyPr wrap="square" rtlCol="0" anchor="t"/>
          <a:lstStyle/>
          <a:p>
            <a:pPr marL="0" indent="0">
              <a:buNone/>
            </a:pPr>
            <a:r>
              <a:rPr lang="en-US" sz="1000" dirty="0">
                <a:latin typeface="Courier New" pitchFamily="34" charset="0"/>
                <a:ea typeface="Courier New" pitchFamily="34" charset="-122"/>
                <a:cs typeface="Courier New" pitchFamily="34" charset="-120"/>
              </a:rPr>
              <a:t>def compare_embeddings(self, emb1, emb2):</a:t>
            </a:r>
            <a:endParaRPr lang="en-US" sz="1000" dirty="0"/>
          </a:p>
          <a:p>
            <a:pPr marL="0" indent="0">
              <a:buNone/>
            </a:pPr>
            <a:r>
              <a:rPr lang="en-US" sz="1000" dirty="0">
                <a:latin typeface="Courier New" pitchFamily="34" charset="0"/>
                <a:ea typeface="Courier New" pitchFamily="34" charset="-122"/>
                <a:cs typeface="Courier New" pitchFamily="34" charset="-120"/>
              </a:rPr>
              <a:t>    n1 = emb1 / (np.linalg.norm(emb1) + 1e-10)   # Normaliser vecteur 1</a:t>
            </a:r>
            <a:endParaRPr lang="en-US" sz="1000" dirty="0"/>
          </a:p>
          <a:p>
            <a:pPr marL="0" indent="0">
              <a:buNone/>
            </a:pPr>
            <a:r>
              <a:rPr lang="en-US" sz="1000" dirty="0">
                <a:latin typeface="Courier New" pitchFamily="34" charset="0"/>
                <a:ea typeface="Courier New" pitchFamily="34" charset="-122"/>
                <a:cs typeface="Courier New" pitchFamily="34" charset="-120"/>
              </a:rPr>
              <a:t>    n2 = emb2 / (np.linalg.norm(emb2) + 1e-10)   # Normaliser vecteur 2</a:t>
            </a:r>
            <a:endParaRPr lang="en-US" sz="1000" dirty="0"/>
          </a:p>
          <a:p>
            <a:pPr marL="0" indent="0">
              <a:buNone/>
            </a:pPr>
            <a:r>
              <a:rPr lang="en-US" sz="1000" dirty="0">
                <a:latin typeface="Courier New" pitchFamily="34" charset="0"/>
                <a:ea typeface="Courier New" pitchFamily="34" charset="-122"/>
                <a:cs typeface="Courier New" pitchFamily="34" charset="-120"/>
              </a:rPr>
              <a:t>    score = float(np.dot(n1, n2))                 # Produit scalaire = cosinus</a:t>
            </a:r>
            <a:endParaRPr lang="en-US" sz="1000" dirty="0"/>
          </a:p>
          <a:p>
            <a:pPr marL="0" indent="0">
              <a:buNone/>
            </a:pPr>
            <a:r>
              <a:rPr lang="en-US" sz="1000" dirty="0">
                <a:latin typeface="Courier New" pitchFamily="34" charset="0"/>
                <a:ea typeface="Courier New" pitchFamily="34" charset="-122"/>
                <a:cs typeface="Courier New" pitchFamily="34" charset="-120"/>
              </a:rPr>
              <a:t>    return (score + 1.0) / 2.0                    # Mapper [-1,1] → [0,1]</a:t>
            </a:r>
            <a:endParaRPr lang="en-US" sz="1000" dirty="0"/>
          </a:p>
        </p:txBody>
      </p:sp>
      <p:sp>
        <p:nvSpPr>
          <p:cNvPr id="25" name="Text 23"/>
          <p:cNvSpPr/>
          <p:nvPr/>
        </p:nvSpPr>
        <p:spPr>
          <a:xfrm>
            <a:off x="7772400" y="4974336"/>
            <a:ext cx="1097280" cy="164592"/>
          </a:xfrm>
          <a:prstGeom prst="rect">
            <a:avLst/>
          </a:prstGeom>
          <a:noFill/>
          <a:ln/>
        </p:spPr>
        <p:txBody>
          <a:bodyPr wrap="square" rtlCol="0" anchor="ctr"/>
          <a:lstStyle/>
          <a:p>
            <a:pPr marL="0" indent="0" algn="r">
              <a:buNone/>
            </a:pPr>
            <a:r>
              <a:rPr lang="en-US" sz="900" dirty="0">
                <a:solidFill>
                  <a:srgbClr val="5A6A7A"/>
                </a:solidFill>
                <a:latin typeface="Calibri" pitchFamily="34" charset="0"/>
                <a:ea typeface="Calibri" pitchFamily="34" charset="-122"/>
                <a:cs typeface="Calibri" pitchFamily="34" charset="-120"/>
              </a:rPr>
              <a:t>9 / 16</a:t>
            </a:r>
            <a:endParaRPr lang="en-US" sz="900" dirty="0"/>
          </a:p>
        </p:txBody>
      </p:sp>
      <p:sp>
        <p:nvSpPr>
          <p:cNvPr id="26" name="Rectangle 25">
            <a:extLst>
              <a:ext uri="{FF2B5EF4-FFF2-40B4-BE49-F238E27FC236}">
                <a16:creationId xmlns:a16="http://schemas.microsoft.com/office/drawing/2014/main" id="{2E0423DF-3564-FC57-6A15-3290194BB0CD}"/>
              </a:ext>
            </a:extLst>
          </p:cNvPr>
          <p:cNvSpPr/>
          <p:nvPr/>
        </p:nvSpPr>
        <p:spPr>
          <a:xfrm>
            <a:off x="5648178" y="1060704"/>
            <a:ext cx="3439551" cy="2442151"/>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1B3A6B"/>
          </a:solidFill>
          <a:ln w="12700">
            <a:solidFill>
              <a:srgbClr val="1B3A6B"/>
            </a:solidFill>
            <a:prstDash val="solid"/>
          </a:ln>
        </p:spPr>
        <p:txBody>
          <a:bodyPr/>
          <a:lstStyle/>
          <a:p>
            <a:endParaRPr lang="fr-FR"/>
          </a:p>
        </p:txBody>
      </p:sp>
      <p:sp>
        <p:nvSpPr>
          <p:cNvPr id="3" name="Text 1"/>
          <p:cNvSpPr/>
          <p:nvPr/>
        </p:nvSpPr>
        <p:spPr>
          <a:xfrm>
            <a:off x="365760" y="91440"/>
            <a:ext cx="8229600" cy="594360"/>
          </a:xfrm>
          <a:prstGeom prst="rect">
            <a:avLst/>
          </a:prstGeom>
          <a:noFill/>
          <a:ln/>
        </p:spPr>
        <p:txBody>
          <a:bodyPr wrap="square"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Conformité RGPD</a:t>
            </a:r>
            <a:endParaRPr lang="en-US" sz="2800" dirty="0"/>
          </a:p>
        </p:txBody>
      </p:sp>
      <p:sp>
        <p:nvSpPr>
          <p:cNvPr id="5" name="Shape 3"/>
          <p:cNvSpPr/>
          <p:nvPr/>
        </p:nvSpPr>
        <p:spPr>
          <a:xfrm>
            <a:off x="0" y="1005840"/>
            <a:ext cx="9144000" cy="54864"/>
          </a:xfrm>
          <a:prstGeom prst="rect">
            <a:avLst/>
          </a:prstGeom>
          <a:solidFill>
            <a:srgbClr val="0A7EA4"/>
          </a:solidFill>
          <a:ln w="12700">
            <a:solidFill>
              <a:srgbClr val="0A7EA4"/>
            </a:solidFill>
            <a:prstDash val="solid"/>
          </a:ln>
        </p:spPr>
        <p:txBody>
          <a:bodyPr/>
          <a:lstStyle/>
          <a:p>
            <a:endParaRPr lang="fr-FR"/>
          </a:p>
        </p:txBody>
      </p:sp>
      <p:sp>
        <p:nvSpPr>
          <p:cNvPr id="6" name="Shape 4"/>
          <p:cNvSpPr/>
          <p:nvPr/>
        </p:nvSpPr>
        <p:spPr>
          <a:xfrm>
            <a:off x="320040" y="1234440"/>
            <a:ext cx="8503920" cy="347472"/>
          </a:xfrm>
          <a:prstGeom prst="rect">
            <a:avLst/>
          </a:prstGeom>
          <a:solidFill>
            <a:srgbClr val="1B3A6B"/>
          </a:solidFill>
          <a:ln w="12700">
            <a:solidFill>
              <a:srgbClr val="1B3A6B"/>
            </a:solidFill>
            <a:prstDash val="solid"/>
          </a:ln>
        </p:spPr>
        <p:txBody>
          <a:bodyPr/>
          <a:lstStyle/>
          <a:p>
            <a:endParaRPr lang="fr-FR"/>
          </a:p>
        </p:txBody>
      </p:sp>
      <p:sp>
        <p:nvSpPr>
          <p:cNvPr id="7" name="Text 5"/>
          <p:cNvSpPr/>
          <p:nvPr/>
        </p:nvSpPr>
        <p:spPr>
          <a:xfrm>
            <a:off x="320040" y="1234440"/>
            <a:ext cx="1097280" cy="347472"/>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Article RGPD</a:t>
            </a:r>
            <a:endParaRPr lang="en-US" sz="1000" dirty="0"/>
          </a:p>
        </p:txBody>
      </p:sp>
      <p:sp>
        <p:nvSpPr>
          <p:cNvPr id="8" name="Text 6"/>
          <p:cNvSpPr/>
          <p:nvPr/>
        </p:nvSpPr>
        <p:spPr>
          <a:xfrm>
            <a:off x="1417320" y="1234440"/>
            <a:ext cx="1645920" cy="347472"/>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Principe</a:t>
            </a:r>
            <a:endParaRPr lang="en-US" sz="1000" dirty="0"/>
          </a:p>
        </p:txBody>
      </p:sp>
      <p:sp>
        <p:nvSpPr>
          <p:cNvPr id="9" name="Text 7"/>
          <p:cNvSpPr/>
          <p:nvPr/>
        </p:nvSpPr>
        <p:spPr>
          <a:xfrm>
            <a:off x="3063240" y="1234440"/>
            <a:ext cx="3474720" cy="347472"/>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Implémentation dans FaceLock</a:t>
            </a:r>
            <a:endParaRPr lang="en-US" sz="1000" dirty="0"/>
          </a:p>
        </p:txBody>
      </p:sp>
      <p:sp>
        <p:nvSpPr>
          <p:cNvPr id="10" name="Text 8"/>
          <p:cNvSpPr/>
          <p:nvPr/>
        </p:nvSpPr>
        <p:spPr>
          <a:xfrm>
            <a:off x="6537960" y="1234440"/>
            <a:ext cx="2286000" cy="347472"/>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Preuve Code</a:t>
            </a:r>
            <a:endParaRPr lang="en-US" sz="1000" dirty="0"/>
          </a:p>
        </p:txBody>
      </p:sp>
      <p:sp>
        <p:nvSpPr>
          <p:cNvPr id="11" name="Shape 9"/>
          <p:cNvSpPr/>
          <p:nvPr/>
        </p:nvSpPr>
        <p:spPr>
          <a:xfrm>
            <a:off x="320040" y="1581912"/>
            <a:ext cx="8503920" cy="502920"/>
          </a:xfrm>
          <a:prstGeom prst="rect">
            <a:avLst/>
          </a:prstGeom>
          <a:solidFill>
            <a:srgbClr val="FFFFFF"/>
          </a:solidFill>
          <a:ln w="12700">
            <a:solidFill>
              <a:srgbClr val="C5D5E8"/>
            </a:solidFill>
            <a:prstDash val="solid"/>
          </a:ln>
        </p:spPr>
        <p:txBody>
          <a:bodyPr/>
          <a:lstStyle/>
          <a:p>
            <a:endParaRPr lang="fr-FR"/>
          </a:p>
        </p:txBody>
      </p:sp>
      <p:sp>
        <p:nvSpPr>
          <p:cNvPr id="12" name="Text 10"/>
          <p:cNvSpPr/>
          <p:nvPr/>
        </p:nvSpPr>
        <p:spPr>
          <a:xfrm>
            <a:off x="365760" y="1618488"/>
            <a:ext cx="1005840" cy="438912"/>
          </a:xfrm>
          <a:prstGeom prst="rect">
            <a:avLst/>
          </a:prstGeom>
          <a:noFill/>
          <a:ln/>
        </p:spPr>
        <p:txBody>
          <a:bodyPr wrap="square" rtlCol="0" anchor="ctr"/>
          <a:lstStyle/>
          <a:p>
            <a:pPr marL="0" indent="0">
              <a:buNone/>
            </a:pPr>
            <a:r>
              <a:rPr lang="en-US" sz="950" b="1" dirty="0">
                <a:solidFill>
                  <a:srgbClr val="0A7EA4"/>
                </a:solidFill>
                <a:latin typeface="Calibri" pitchFamily="34" charset="0"/>
                <a:ea typeface="Calibri" pitchFamily="34" charset="-122"/>
                <a:cs typeface="Calibri" pitchFamily="34" charset="-120"/>
              </a:rPr>
              <a:t>Art. 5(1)(c)</a:t>
            </a:r>
            <a:endParaRPr lang="en-US" sz="950" dirty="0"/>
          </a:p>
        </p:txBody>
      </p:sp>
      <p:sp>
        <p:nvSpPr>
          <p:cNvPr id="13" name="Text 11"/>
          <p:cNvSpPr/>
          <p:nvPr/>
        </p:nvSpPr>
        <p:spPr>
          <a:xfrm>
            <a:off x="1463040" y="1618488"/>
            <a:ext cx="1554480" cy="438912"/>
          </a:xfrm>
          <a:prstGeom prst="rect">
            <a:avLst/>
          </a:prstGeom>
          <a:noFill/>
          <a:ln/>
        </p:spPr>
        <p:txBody>
          <a:bodyPr wrap="square" rtlCol="0" anchor="ctr"/>
          <a:lstStyle/>
          <a:p>
            <a:pPr marL="0" indent="0">
              <a:buNone/>
            </a:pPr>
            <a:r>
              <a:rPr lang="en-US" sz="950" dirty="0">
                <a:solidFill>
                  <a:srgbClr val="1B3A6B"/>
                </a:solidFill>
                <a:latin typeface="Calibri" pitchFamily="34" charset="0"/>
                <a:ea typeface="Calibri" pitchFamily="34" charset="-122"/>
                <a:cs typeface="Calibri" pitchFamily="34" charset="-120"/>
              </a:rPr>
              <a:t>Minimisation des données</a:t>
            </a:r>
            <a:endParaRPr lang="en-US" sz="950" dirty="0"/>
          </a:p>
        </p:txBody>
      </p:sp>
      <p:sp>
        <p:nvSpPr>
          <p:cNvPr id="14" name="Text 12"/>
          <p:cNvSpPr/>
          <p:nvPr/>
        </p:nvSpPr>
        <p:spPr>
          <a:xfrm>
            <a:off x="3108960" y="1618488"/>
            <a:ext cx="3383280" cy="438912"/>
          </a:xfrm>
          <a:prstGeom prst="rect">
            <a:avLst/>
          </a:prstGeom>
          <a:noFill/>
          <a:ln/>
        </p:spPr>
        <p:txBody>
          <a:bodyPr wrap="square" rtlCol="0" anchor="ctr"/>
          <a:lstStyle/>
          <a:p>
            <a:pPr marL="0" indent="0">
              <a:buNone/>
            </a:pPr>
            <a:r>
              <a:rPr lang="en-US" sz="950" dirty="0">
                <a:solidFill>
                  <a:srgbClr val="5A6A7A"/>
                </a:solidFill>
                <a:latin typeface="Calibri" pitchFamily="34" charset="0"/>
                <a:ea typeface="Calibri" pitchFamily="34" charset="-122"/>
                <a:cs typeface="Calibri" pitchFamily="34" charset="-120"/>
              </a:rPr>
              <a:t>Seuls les embeddings 512D stockés — jamais les images brutes</a:t>
            </a:r>
            <a:endParaRPr lang="en-US" sz="950" dirty="0"/>
          </a:p>
        </p:txBody>
      </p:sp>
      <p:sp>
        <p:nvSpPr>
          <p:cNvPr id="15" name="Text 13"/>
          <p:cNvSpPr/>
          <p:nvPr/>
        </p:nvSpPr>
        <p:spPr>
          <a:xfrm>
            <a:off x="6583680" y="1618488"/>
            <a:ext cx="2194560" cy="438912"/>
          </a:xfrm>
          <a:prstGeom prst="rect">
            <a:avLst/>
          </a:prstGeom>
          <a:noFill/>
          <a:ln/>
        </p:spPr>
        <p:txBody>
          <a:bodyPr wrap="square" rtlCol="0" anchor="ctr"/>
          <a:lstStyle/>
          <a:p>
            <a:pPr marL="0" indent="0">
              <a:buNone/>
            </a:pPr>
            <a:r>
              <a:rPr lang="en-US" sz="950" dirty="0">
                <a:solidFill>
                  <a:srgbClr val="1A7A4A"/>
                </a:solidFill>
                <a:latin typeface="Calibri" pitchFamily="34" charset="0"/>
                <a:ea typeface="Calibri" pitchFamily="34" charset="-122"/>
                <a:cs typeface="Calibri" pitchFamily="34" charset="-120"/>
              </a:rPr>
              <a:t>STORE_RAW_IMAGES = False dans config.py</a:t>
            </a:r>
            <a:endParaRPr lang="en-US" sz="950" dirty="0"/>
          </a:p>
        </p:txBody>
      </p:sp>
      <p:sp>
        <p:nvSpPr>
          <p:cNvPr id="16" name="Shape 14"/>
          <p:cNvSpPr/>
          <p:nvPr/>
        </p:nvSpPr>
        <p:spPr>
          <a:xfrm>
            <a:off x="320040" y="2112264"/>
            <a:ext cx="8503920" cy="502920"/>
          </a:xfrm>
          <a:prstGeom prst="rect">
            <a:avLst/>
          </a:prstGeom>
          <a:solidFill>
            <a:srgbClr val="ECF0F4"/>
          </a:solidFill>
          <a:ln w="12700">
            <a:solidFill>
              <a:srgbClr val="C5D5E8"/>
            </a:solidFill>
            <a:prstDash val="solid"/>
          </a:ln>
        </p:spPr>
        <p:txBody>
          <a:bodyPr/>
          <a:lstStyle/>
          <a:p>
            <a:endParaRPr lang="fr-FR"/>
          </a:p>
        </p:txBody>
      </p:sp>
      <p:sp>
        <p:nvSpPr>
          <p:cNvPr id="17" name="Text 15"/>
          <p:cNvSpPr/>
          <p:nvPr/>
        </p:nvSpPr>
        <p:spPr>
          <a:xfrm>
            <a:off x="365760" y="2148840"/>
            <a:ext cx="1005840" cy="438912"/>
          </a:xfrm>
          <a:prstGeom prst="rect">
            <a:avLst/>
          </a:prstGeom>
          <a:noFill/>
          <a:ln/>
        </p:spPr>
        <p:txBody>
          <a:bodyPr wrap="square" rtlCol="0" anchor="ctr"/>
          <a:lstStyle/>
          <a:p>
            <a:pPr marL="0" indent="0">
              <a:buNone/>
            </a:pPr>
            <a:r>
              <a:rPr lang="en-US" sz="950" b="1" dirty="0">
                <a:solidFill>
                  <a:srgbClr val="0A7EA4"/>
                </a:solidFill>
                <a:latin typeface="Calibri" pitchFamily="34" charset="0"/>
                <a:ea typeface="Calibri" pitchFamily="34" charset="-122"/>
                <a:cs typeface="Calibri" pitchFamily="34" charset="-120"/>
              </a:rPr>
              <a:t>Art. 5(1)(e)</a:t>
            </a:r>
            <a:endParaRPr lang="en-US" sz="950" dirty="0"/>
          </a:p>
        </p:txBody>
      </p:sp>
      <p:sp>
        <p:nvSpPr>
          <p:cNvPr id="18" name="Text 16"/>
          <p:cNvSpPr/>
          <p:nvPr/>
        </p:nvSpPr>
        <p:spPr>
          <a:xfrm>
            <a:off x="1463040" y="2148840"/>
            <a:ext cx="1554480" cy="438912"/>
          </a:xfrm>
          <a:prstGeom prst="rect">
            <a:avLst/>
          </a:prstGeom>
          <a:noFill/>
          <a:ln/>
        </p:spPr>
        <p:txBody>
          <a:bodyPr wrap="square" rtlCol="0" anchor="ctr"/>
          <a:lstStyle/>
          <a:p>
            <a:pPr marL="0" indent="0">
              <a:buNone/>
            </a:pPr>
            <a:r>
              <a:rPr lang="en-US" sz="950" dirty="0">
                <a:solidFill>
                  <a:srgbClr val="1B3A6B"/>
                </a:solidFill>
                <a:latin typeface="Calibri" pitchFamily="34" charset="0"/>
                <a:ea typeface="Calibri" pitchFamily="34" charset="-122"/>
                <a:cs typeface="Calibri" pitchFamily="34" charset="-120"/>
              </a:rPr>
              <a:t>Limitation de conservation</a:t>
            </a:r>
            <a:endParaRPr lang="en-US" sz="950" dirty="0"/>
          </a:p>
        </p:txBody>
      </p:sp>
      <p:sp>
        <p:nvSpPr>
          <p:cNvPr id="19" name="Text 17"/>
          <p:cNvSpPr/>
          <p:nvPr/>
        </p:nvSpPr>
        <p:spPr>
          <a:xfrm>
            <a:off x="3108960" y="2148840"/>
            <a:ext cx="3383280" cy="438912"/>
          </a:xfrm>
          <a:prstGeom prst="rect">
            <a:avLst/>
          </a:prstGeom>
          <a:noFill/>
          <a:ln/>
        </p:spPr>
        <p:txBody>
          <a:bodyPr wrap="square" rtlCol="0" anchor="ctr"/>
          <a:lstStyle/>
          <a:p>
            <a:pPr marL="0" indent="0">
              <a:buNone/>
            </a:pPr>
            <a:r>
              <a:rPr lang="en-US" sz="950" dirty="0">
                <a:solidFill>
                  <a:srgbClr val="5A6A7A"/>
                </a:solidFill>
                <a:latin typeface="Calibri" pitchFamily="34" charset="0"/>
                <a:ea typeface="Calibri" pitchFamily="34" charset="-122"/>
                <a:cs typeface="Calibri" pitchFamily="34" charset="-120"/>
              </a:rPr>
              <a:t>Images brutes supprimées après encodage (libération RAM)</a:t>
            </a:r>
            <a:endParaRPr lang="en-US" sz="950" dirty="0"/>
          </a:p>
        </p:txBody>
      </p:sp>
      <p:sp>
        <p:nvSpPr>
          <p:cNvPr id="20" name="Text 18"/>
          <p:cNvSpPr/>
          <p:nvPr/>
        </p:nvSpPr>
        <p:spPr>
          <a:xfrm>
            <a:off x="6583680" y="2148840"/>
            <a:ext cx="2194560" cy="438912"/>
          </a:xfrm>
          <a:prstGeom prst="rect">
            <a:avLst/>
          </a:prstGeom>
          <a:noFill/>
          <a:ln/>
        </p:spPr>
        <p:txBody>
          <a:bodyPr wrap="square" rtlCol="0" anchor="ctr"/>
          <a:lstStyle/>
          <a:p>
            <a:pPr marL="0" indent="0">
              <a:buNone/>
            </a:pPr>
            <a:r>
              <a:rPr lang="en-US" sz="950" dirty="0">
                <a:solidFill>
                  <a:srgbClr val="1A7A4A"/>
                </a:solidFill>
                <a:latin typeface="Calibri" pitchFamily="34" charset="0"/>
                <a:ea typeface="Calibri" pitchFamily="34" charset="-122"/>
                <a:cs typeface="Calibri" pitchFamily="34" charset="-120"/>
              </a:rPr>
              <a:t>Pas de cv2.imwrite() dans le code</a:t>
            </a:r>
            <a:endParaRPr lang="en-US" sz="950" dirty="0"/>
          </a:p>
        </p:txBody>
      </p:sp>
      <p:sp>
        <p:nvSpPr>
          <p:cNvPr id="21" name="Shape 19"/>
          <p:cNvSpPr/>
          <p:nvPr/>
        </p:nvSpPr>
        <p:spPr>
          <a:xfrm>
            <a:off x="320040" y="2642616"/>
            <a:ext cx="8503920" cy="502920"/>
          </a:xfrm>
          <a:prstGeom prst="rect">
            <a:avLst/>
          </a:prstGeom>
          <a:solidFill>
            <a:srgbClr val="FFFFFF"/>
          </a:solidFill>
          <a:ln w="12700">
            <a:solidFill>
              <a:srgbClr val="C5D5E8"/>
            </a:solidFill>
            <a:prstDash val="solid"/>
          </a:ln>
        </p:spPr>
        <p:txBody>
          <a:bodyPr/>
          <a:lstStyle/>
          <a:p>
            <a:endParaRPr lang="fr-FR"/>
          </a:p>
        </p:txBody>
      </p:sp>
      <p:sp>
        <p:nvSpPr>
          <p:cNvPr id="22" name="Text 20"/>
          <p:cNvSpPr/>
          <p:nvPr/>
        </p:nvSpPr>
        <p:spPr>
          <a:xfrm>
            <a:off x="365760" y="2679192"/>
            <a:ext cx="1005840" cy="438912"/>
          </a:xfrm>
          <a:prstGeom prst="rect">
            <a:avLst/>
          </a:prstGeom>
          <a:noFill/>
          <a:ln/>
        </p:spPr>
        <p:txBody>
          <a:bodyPr wrap="square" rtlCol="0" anchor="ctr"/>
          <a:lstStyle/>
          <a:p>
            <a:pPr marL="0" indent="0">
              <a:buNone/>
            </a:pPr>
            <a:r>
              <a:rPr lang="en-US" sz="950" b="1" dirty="0">
                <a:solidFill>
                  <a:srgbClr val="0A7EA4"/>
                </a:solidFill>
                <a:latin typeface="Calibri" pitchFamily="34" charset="0"/>
                <a:ea typeface="Calibri" pitchFamily="34" charset="-122"/>
                <a:cs typeface="Calibri" pitchFamily="34" charset="-120"/>
              </a:rPr>
              <a:t>Art. 5(1)(f)</a:t>
            </a:r>
            <a:endParaRPr lang="en-US" sz="950" dirty="0"/>
          </a:p>
        </p:txBody>
      </p:sp>
      <p:sp>
        <p:nvSpPr>
          <p:cNvPr id="23" name="Text 21"/>
          <p:cNvSpPr/>
          <p:nvPr/>
        </p:nvSpPr>
        <p:spPr>
          <a:xfrm>
            <a:off x="1463040" y="2679192"/>
            <a:ext cx="1554480" cy="438912"/>
          </a:xfrm>
          <a:prstGeom prst="rect">
            <a:avLst/>
          </a:prstGeom>
          <a:noFill/>
          <a:ln/>
        </p:spPr>
        <p:txBody>
          <a:bodyPr wrap="square" rtlCol="0" anchor="ctr"/>
          <a:lstStyle/>
          <a:p>
            <a:pPr marL="0" indent="0">
              <a:buNone/>
            </a:pPr>
            <a:r>
              <a:rPr lang="en-US" sz="950" dirty="0">
                <a:solidFill>
                  <a:srgbClr val="1B3A6B"/>
                </a:solidFill>
                <a:latin typeface="Calibri" pitchFamily="34" charset="0"/>
                <a:ea typeface="Calibri" pitchFamily="34" charset="-122"/>
                <a:cs typeface="Calibri" pitchFamily="34" charset="-120"/>
              </a:rPr>
              <a:t>Intégrité &amp; Confidentialité</a:t>
            </a:r>
            <a:endParaRPr lang="en-US" sz="950" dirty="0"/>
          </a:p>
        </p:txBody>
      </p:sp>
      <p:sp>
        <p:nvSpPr>
          <p:cNvPr id="24" name="Text 22"/>
          <p:cNvSpPr/>
          <p:nvPr/>
        </p:nvSpPr>
        <p:spPr>
          <a:xfrm>
            <a:off x="3108960" y="2679192"/>
            <a:ext cx="3383280" cy="438912"/>
          </a:xfrm>
          <a:prstGeom prst="rect">
            <a:avLst/>
          </a:prstGeom>
          <a:noFill/>
          <a:ln/>
        </p:spPr>
        <p:txBody>
          <a:bodyPr wrap="square" rtlCol="0" anchor="ctr"/>
          <a:lstStyle/>
          <a:p>
            <a:pPr marL="0" indent="0">
              <a:buNone/>
            </a:pPr>
            <a:r>
              <a:rPr lang="en-US" sz="950" dirty="0">
                <a:solidFill>
                  <a:srgbClr val="5A6A7A"/>
                </a:solidFill>
                <a:latin typeface="Calibri" pitchFamily="34" charset="0"/>
                <a:ea typeface="Calibri" pitchFamily="34" charset="-122"/>
                <a:cs typeface="Calibri" pitchFamily="34" charset="-120"/>
              </a:rPr>
              <a:t>Chiffrement AES-256-CBC + HMAC-SHA256 de chaque embedding</a:t>
            </a:r>
            <a:endParaRPr lang="en-US" sz="950" dirty="0"/>
          </a:p>
        </p:txBody>
      </p:sp>
      <p:sp>
        <p:nvSpPr>
          <p:cNvPr id="25" name="Text 23"/>
          <p:cNvSpPr/>
          <p:nvPr/>
        </p:nvSpPr>
        <p:spPr>
          <a:xfrm>
            <a:off x="6583680" y="2679192"/>
            <a:ext cx="2194560" cy="438912"/>
          </a:xfrm>
          <a:prstGeom prst="rect">
            <a:avLst/>
          </a:prstGeom>
          <a:noFill/>
          <a:ln/>
        </p:spPr>
        <p:txBody>
          <a:bodyPr wrap="square" rtlCol="0" anchor="ctr"/>
          <a:lstStyle/>
          <a:p>
            <a:pPr marL="0" indent="0">
              <a:buNone/>
            </a:pPr>
            <a:r>
              <a:rPr lang="en-US" sz="950" dirty="0">
                <a:solidFill>
                  <a:srgbClr val="1A7A4A"/>
                </a:solidFill>
                <a:latin typeface="Calibri" pitchFamily="34" charset="0"/>
                <a:ea typeface="Calibri" pitchFamily="34" charset="-122"/>
                <a:cs typeface="Calibri" pitchFamily="34" charset="-120"/>
              </a:rPr>
              <a:t>encryption.py — Fernet sur chaque blob</a:t>
            </a:r>
            <a:endParaRPr lang="en-US" sz="950" dirty="0"/>
          </a:p>
        </p:txBody>
      </p:sp>
      <p:sp>
        <p:nvSpPr>
          <p:cNvPr id="26" name="Shape 24"/>
          <p:cNvSpPr/>
          <p:nvPr/>
        </p:nvSpPr>
        <p:spPr>
          <a:xfrm>
            <a:off x="320040" y="3172968"/>
            <a:ext cx="8503920" cy="502920"/>
          </a:xfrm>
          <a:prstGeom prst="rect">
            <a:avLst/>
          </a:prstGeom>
          <a:solidFill>
            <a:srgbClr val="ECF0F4"/>
          </a:solidFill>
          <a:ln w="12700">
            <a:solidFill>
              <a:srgbClr val="C5D5E8"/>
            </a:solidFill>
            <a:prstDash val="solid"/>
          </a:ln>
        </p:spPr>
        <p:txBody>
          <a:bodyPr/>
          <a:lstStyle/>
          <a:p>
            <a:endParaRPr lang="fr-FR"/>
          </a:p>
        </p:txBody>
      </p:sp>
      <p:sp>
        <p:nvSpPr>
          <p:cNvPr id="27" name="Text 25"/>
          <p:cNvSpPr/>
          <p:nvPr/>
        </p:nvSpPr>
        <p:spPr>
          <a:xfrm>
            <a:off x="365760" y="3209544"/>
            <a:ext cx="1005840" cy="438912"/>
          </a:xfrm>
          <a:prstGeom prst="rect">
            <a:avLst/>
          </a:prstGeom>
          <a:noFill/>
          <a:ln/>
        </p:spPr>
        <p:txBody>
          <a:bodyPr wrap="square" rtlCol="0" anchor="ctr"/>
          <a:lstStyle/>
          <a:p>
            <a:pPr marL="0" indent="0">
              <a:buNone/>
            </a:pPr>
            <a:r>
              <a:rPr lang="en-US" sz="950" b="1" dirty="0">
                <a:solidFill>
                  <a:srgbClr val="0A7EA4"/>
                </a:solidFill>
                <a:latin typeface="Calibri" pitchFamily="34" charset="0"/>
                <a:ea typeface="Calibri" pitchFamily="34" charset="-122"/>
                <a:cs typeface="Calibri" pitchFamily="34" charset="-120"/>
              </a:rPr>
              <a:t>Art. 17</a:t>
            </a:r>
            <a:endParaRPr lang="en-US" sz="950" dirty="0"/>
          </a:p>
        </p:txBody>
      </p:sp>
      <p:sp>
        <p:nvSpPr>
          <p:cNvPr id="28" name="Text 26"/>
          <p:cNvSpPr/>
          <p:nvPr/>
        </p:nvSpPr>
        <p:spPr>
          <a:xfrm>
            <a:off x="1463040" y="3209544"/>
            <a:ext cx="1554480" cy="438912"/>
          </a:xfrm>
          <a:prstGeom prst="rect">
            <a:avLst/>
          </a:prstGeom>
          <a:noFill/>
          <a:ln/>
        </p:spPr>
        <p:txBody>
          <a:bodyPr wrap="square" rtlCol="0" anchor="ctr"/>
          <a:lstStyle/>
          <a:p>
            <a:pPr marL="0" indent="0">
              <a:buNone/>
            </a:pPr>
            <a:r>
              <a:rPr lang="en-US" sz="950" dirty="0">
                <a:solidFill>
                  <a:srgbClr val="1B3A6B"/>
                </a:solidFill>
                <a:latin typeface="Calibri" pitchFamily="34" charset="0"/>
                <a:ea typeface="Calibri" pitchFamily="34" charset="-122"/>
                <a:cs typeface="Calibri" pitchFamily="34" charset="-120"/>
              </a:rPr>
              <a:t>Droit à l'effacement</a:t>
            </a:r>
            <a:endParaRPr lang="en-US" sz="950" dirty="0"/>
          </a:p>
        </p:txBody>
      </p:sp>
      <p:sp>
        <p:nvSpPr>
          <p:cNvPr id="29" name="Text 27"/>
          <p:cNvSpPr/>
          <p:nvPr/>
        </p:nvSpPr>
        <p:spPr>
          <a:xfrm>
            <a:off x="3108960" y="3209544"/>
            <a:ext cx="3383280" cy="438912"/>
          </a:xfrm>
          <a:prstGeom prst="rect">
            <a:avLst/>
          </a:prstGeom>
          <a:noFill/>
          <a:ln/>
        </p:spPr>
        <p:txBody>
          <a:bodyPr wrap="square" rtlCol="0" anchor="ctr"/>
          <a:lstStyle/>
          <a:p>
            <a:pPr marL="0" indent="0">
              <a:buNone/>
            </a:pPr>
            <a:r>
              <a:rPr lang="en-US" sz="950" dirty="0">
                <a:solidFill>
                  <a:srgbClr val="5A6A7A"/>
                </a:solidFill>
                <a:latin typeface="Calibri" pitchFamily="34" charset="0"/>
                <a:ea typeface="Calibri" pitchFamily="34" charset="-122"/>
                <a:cs typeface="Calibri" pitchFamily="34" charset="-120"/>
              </a:rPr>
              <a:t>Bouton 'Delete User' supprime toutes les données de l'utilisateur</a:t>
            </a:r>
            <a:endParaRPr lang="en-US" sz="950" dirty="0"/>
          </a:p>
        </p:txBody>
      </p:sp>
      <p:sp>
        <p:nvSpPr>
          <p:cNvPr id="30" name="Text 28"/>
          <p:cNvSpPr/>
          <p:nvPr/>
        </p:nvSpPr>
        <p:spPr>
          <a:xfrm>
            <a:off x="6583680" y="3209544"/>
            <a:ext cx="2194560" cy="438912"/>
          </a:xfrm>
          <a:prstGeom prst="rect">
            <a:avLst/>
          </a:prstGeom>
          <a:noFill/>
          <a:ln/>
        </p:spPr>
        <p:txBody>
          <a:bodyPr wrap="square" rtlCol="0" anchor="ctr"/>
          <a:lstStyle/>
          <a:p>
            <a:pPr marL="0" indent="0">
              <a:buNone/>
            </a:pPr>
            <a:r>
              <a:rPr lang="en-US" sz="950" dirty="0">
                <a:solidFill>
                  <a:srgbClr val="1A7A4A"/>
                </a:solidFill>
                <a:latin typeface="Calibri" pitchFamily="34" charset="0"/>
                <a:ea typeface="Calibri" pitchFamily="34" charset="-122"/>
                <a:cs typeface="Calibri" pitchFamily="34" charset="-120"/>
              </a:rPr>
              <a:t>db.delete_user() avec CASCADE SQL</a:t>
            </a:r>
            <a:endParaRPr lang="en-US" sz="950" dirty="0"/>
          </a:p>
        </p:txBody>
      </p:sp>
      <p:sp>
        <p:nvSpPr>
          <p:cNvPr id="31" name="Shape 29"/>
          <p:cNvSpPr/>
          <p:nvPr/>
        </p:nvSpPr>
        <p:spPr>
          <a:xfrm>
            <a:off x="320040" y="3703320"/>
            <a:ext cx="8503920" cy="502920"/>
          </a:xfrm>
          <a:prstGeom prst="rect">
            <a:avLst/>
          </a:prstGeom>
          <a:solidFill>
            <a:srgbClr val="FFFFFF"/>
          </a:solidFill>
          <a:ln w="12700">
            <a:solidFill>
              <a:srgbClr val="C5D5E8"/>
            </a:solidFill>
            <a:prstDash val="solid"/>
          </a:ln>
        </p:spPr>
        <p:txBody>
          <a:bodyPr/>
          <a:lstStyle/>
          <a:p>
            <a:endParaRPr lang="fr-FR"/>
          </a:p>
        </p:txBody>
      </p:sp>
      <p:sp>
        <p:nvSpPr>
          <p:cNvPr id="32" name="Text 30"/>
          <p:cNvSpPr/>
          <p:nvPr/>
        </p:nvSpPr>
        <p:spPr>
          <a:xfrm>
            <a:off x="365760" y="3739896"/>
            <a:ext cx="1005840" cy="438912"/>
          </a:xfrm>
          <a:prstGeom prst="rect">
            <a:avLst/>
          </a:prstGeom>
          <a:noFill/>
          <a:ln/>
        </p:spPr>
        <p:txBody>
          <a:bodyPr wrap="square" rtlCol="0" anchor="ctr"/>
          <a:lstStyle/>
          <a:p>
            <a:pPr marL="0" indent="0">
              <a:buNone/>
            </a:pPr>
            <a:r>
              <a:rPr lang="en-US" sz="950" b="1" dirty="0">
                <a:solidFill>
                  <a:srgbClr val="0A7EA4"/>
                </a:solidFill>
                <a:latin typeface="Calibri" pitchFamily="34" charset="0"/>
                <a:ea typeface="Calibri" pitchFamily="34" charset="-122"/>
                <a:cs typeface="Calibri" pitchFamily="34" charset="-120"/>
              </a:rPr>
              <a:t>Art. 25</a:t>
            </a:r>
            <a:endParaRPr lang="en-US" sz="950" dirty="0"/>
          </a:p>
        </p:txBody>
      </p:sp>
      <p:sp>
        <p:nvSpPr>
          <p:cNvPr id="33" name="Text 31"/>
          <p:cNvSpPr/>
          <p:nvPr/>
        </p:nvSpPr>
        <p:spPr>
          <a:xfrm>
            <a:off x="1463040" y="3739896"/>
            <a:ext cx="1554480" cy="438912"/>
          </a:xfrm>
          <a:prstGeom prst="rect">
            <a:avLst/>
          </a:prstGeom>
          <a:noFill/>
          <a:ln/>
        </p:spPr>
        <p:txBody>
          <a:bodyPr wrap="square" rtlCol="0" anchor="ctr"/>
          <a:lstStyle/>
          <a:p>
            <a:pPr marL="0" indent="0">
              <a:buNone/>
            </a:pPr>
            <a:r>
              <a:rPr lang="en-US" sz="950" dirty="0">
                <a:solidFill>
                  <a:srgbClr val="1B3A6B"/>
                </a:solidFill>
                <a:latin typeface="Calibri" pitchFamily="34" charset="0"/>
                <a:ea typeface="Calibri" pitchFamily="34" charset="-122"/>
                <a:cs typeface="Calibri" pitchFamily="34" charset="-120"/>
              </a:rPr>
              <a:t>Protection dès la conception</a:t>
            </a:r>
            <a:endParaRPr lang="en-US" sz="950" dirty="0"/>
          </a:p>
        </p:txBody>
      </p:sp>
      <p:sp>
        <p:nvSpPr>
          <p:cNvPr id="34" name="Text 32"/>
          <p:cNvSpPr/>
          <p:nvPr/>
        </p:nvSpPr>
        <p:spPr>
          <a:xfrm>
            <a:off x="3108960" y="3739896"/>
            <a:ext cx="3383280" cy="438912"/>
          </a:xfrm>
          <a:prstGeom prst="rect">
            <a:avLst/>
          </a:prstGeom>
          <a:noFill/>
          <a:ln/>
        </p:spPr>
        <p:txBody>
          <a:bodyPr wrap="square" rtlCol="0" anchor="ctr"/>
          <a:lstStyle/>
          <a:p>
            <a:pPr marL="0" indent="0">
              <a:buNone/>
            </a:pPr>
            <a:r>
              <a:rPr lang="en-US" sz="950" dirty="0">
                <a:solidFill>
                  <a:srgbClr val="5A6A7A"/>
                </a:solidFill>
                <a:latin typeface="Calibri" pitchFamily="34" charset="0"/>
                <a:ea typeface="Calibri" pitchFamily="34" charset="-122"/>
                <a:cs typeface="Calibri" pitchFamily="34" charset="-120"/>
              </a:rPr>
              <a:t>Architecture Privacy-by-Design dès le cahier des charges</a:t>
            </a:r>
            <a:endParaRPr lang="en-US" sz="950" dirty="0"/>
          </a:p>
        </p:txBody>
      </p:sp>
      <p:sp>
        <p:nvSpPr>
          <p:cNvPr id="35" name="Text 33"/>
          <p:cNvSpPr/>
          <p:nvPr/>
        </p:nvSpPr>
        <p:spPr>
          <a:xfrm>
            <a:off x="6583680" y="3739896"/>
            <a:ext cx="2194560" cy="438912"/>
          </a:xfrm>
          <a:prstGeom prst="rect">
            <a:avLst/>
          </a:prstGeom>
          <a:noFill/>
          <a:ln/>
        </p:spPr>
        <p:txBody>
          <a:bodyPr wrap="square" rtlCol="0" anchor="ctr"/>
          <a:lstStyle/>
          <a:p>
            <a:pPr marL="0" indent="0">
              <a:buNone/>
            </a:pPr>
            <a:r>
              <a:rPr lang="en-US" sz="950" dirty="0">
                <a:solidFill>
                  <a:srgbClr val="1A7A4A"/>
                </a:solidFill>
                <a:latin typeface="Calibri" pitchFamily="34" charset="0"/>
                <a:ea typeface="Calibri" pitchFamily="34" charset="-122"/>
                <a:cs typeface="Calibri" pitchFamily="34" charset="-120"/>
              </a:rPr>
              <a:t>Pas d'images → embeddings → chiffrement</a:t>
            </a:r>
            <a:endParaRPr lang="en-US" sz="950" dirty="0"/>
          </a:p>
        </p:txBody>
      </p:sp>
      <p:sp>
        <p:nvSpPr>
          <p:cNvPr id="36" name="Shape 34"/>
          <p:cNvSpPr/>
          <p:nvPr/>
        </p:nvSpPr>
        <p:spPr>
          <a:xfrm>
            <a:off x="320040" y="4233672"/>
            <a:ext cx="8503920" cy="502920"/>
          </a:xfrm>
          <a:prstGeom prst="rect">
            <a:avLst/>
          </a:prstGeom>
          <a:solidFill>
            <a:srgbClr val="ECF0F4"/>
          </a:solidFill>
          <a:ln w="12700">
            <a:solidFill>
              <a:srgbClr val="C5D5E8"/>
            </a:solidFill>
            <a:prstDash val="solid"/>
          </a:ln>
        </p:spPr>
        <p:txBody>
          <a:bodyPr/>
          <a:lstStyle/>
          <a:p>
            <a:endParaRPr lang="fr-FR"/>
          </a:p>
        </p:txBody>
      </p:sp>
      <p:sp>
        <p:nvSpPr>
          <p:cNvPr id="37" name="Text 35"/>
          <p:cNvSpPr/>
          <p:nvPr/>
        </p:nvSpPr>
        <p:spPr>
          <a:xfrm>
            <a:off x="365760" y="4270248"/>
            <a:ext cx="1005840" cy="438912"/>
          </a:xfrm>
          <a:prstGeom prst="rect">
            <a:avLst/>
          </a:prstGeom>
          <a:noFill/>
          <a:ln/>
        </p:spPr>
        <p:txBody>
          <a:bodyPr wrap="square" rtlCol="0" anchor="ctr"/>
          <a:lstStyle/>
          <a:p>
            <a:pPr marL="0" indent="0">
              <a:buNone/>
            </a:pPr>
            <a:r>
              <a:rPr lang="en-US" sz="950" b="1" dirty="0">
                <a:solidFill>
                  <a:srgbClr val="0A7EA4"/>
                </a:solidFill>
                <a:latin typeface="Calibri" pitchFamily="34" charset="0"/>
                <a:ea typeface="Calibri" pitchFamily="34" charset="-122"/>
                <a:cs typeface="Calibri" pitchFamily="34" charset="-120"/>
              </a:rPr>
              <a:t>Art. 32</a:t>
            </a:r>
            <a:endParaRPr lang="en-US" sz="950" dirty="0"/>
          </a:p>
        </p:txBody>
      </p:sp>
      <p:sp>
        <p:nvSpPr>
          <p:cNvPr id="38" name="Text 36"/>
          <p:cNvSpPr/>
          <p:nvPr/>
        </p:nvSpPr>
        <p:spPr>
          <a:xfrm>
            <a:off x="1463040" y="4270248"/>
            <a:ext cx="1554480" cy="438912"/>
          </a:xfrm>
          <a:prstGeom prst="rect">
            <a:avLst/>
          </a:prstGeom>
          <a:noFill/>
          <a:ln/>
        </p:spPr>
        <p:txBody>
          <a:bodyPr wrap="square" rtlCol="0" anchor="ctr"/>
          <a:lstStyle/>
          <a:p>
            <a:pPr marL="0" indent="0">
              <a:buNone/>
            </a:pPr>
            <a:r>
              <a:rPr lang="en-US" sz="950" dirty="0">
                <a:solidFill>
                  <a:srgbClr val="1B3A6B"/>
                </a:solidFill>
                <a:latin typeface="Calibri" pitchFamily="34" charset="0"/>
                <a:ea typeface="Calibri" pitchFamily="34" charset="-122"/>
                <a:cs typeface="Calibri" pitchFamily="34" charset="-120"/>
              </a:rPr>
              <a:t>Sécurité du traitement</a:t>
            </a:r>
            <a:endParaRPr lang="en-US" sz="950" dirty="0"/>
          </a:p>
        </p:txBody>
      </p:sp>
      <p:sp>
        <p:nvSpPr>
          <p:cNvPr id="39" name="Text 37"/>
          <p:cNvSpPr/>
          <p:nvPr/>
        </p:nvSpPr>
        <p:spPr>
          <a:xfrm>
            <a:off x="3108960" y="4270248"/>
            <a:ext cx="3383280" cy="438912"/>
          </a:xfrm>
          <a:prstGeom prst="rect">
            <a:avLst/>
          </a:prstGeom>
          <a:noFill/>
          <a:ln/>
        </p:spPr>
        <p:txBody>
          <a:bodyPr wrap="square" rtlCol="0" anchor="ctr"/>
          <a:lstStyle/>
          <a:p>
            <a:pPr marL="0" indent="0">
              <a:buNone/>
            </a:pPr>
            <a:r>
              <a:rPr lang="en-US" sz="950" dirty="0">
                <a:solidFill>
                  <a:srgbClr val="5A6A7A"/>
                </a:solidFill>
                <a:latin typeface="Calibri" pitchFamily="34" charset="0"/>
                <a:ea typeface="Calibri" pitchFamily="34" charset="-122"/>
                <a:cs typeface="Calibri" pitchFamily="34" charset="-120"/>
              </a:rPr>
              <a:t>Traitement 100% local, aucune transmission réseau</a:t>
            </a:r>
            <a:endParaRPr lang="en-US" sz="950" dirty="0"/>
          </a:p>
        </p:txBody>
      </p:sp>
      <p:sp>
        <p:nvSpPr>
          <p:cNvPr id="40" name="Text 38"/>
          <p:cNvSpPr/>
          <p:nvPr/>
        </p:nvSpPr>
        <p:spPr>
          <a:xfrm>
            <a:off x="6583680" y="4270248"/>
            <a:ext cx="2194560" cy="438912"/>
          </a:xfrm>
          <a:prstGeom prst="rect">
            <a:avLst/>
          </a:prstGeom>
          <a:noFill/>
          <a:ln/>
        </p:spPr>
        <p:txBody>
          <a:bodyPr wrap="square" rtlCol="0" anchor="ctr"/>
          <a:lstStyle/>
          <a:p>
            <a:pPr marL="0" indent="0">
              <a:buNone/>
            </a:pPr>
            <a:r>
              <a:rPr lang="en-US" sz="950" dirty="0">
                <a:solidFill>
                  <a:srgbClr val="1A7A4A"/>
                </a:solidFill>
                <a:latin typeface="Calibri" pitchFamily="34" charset="0"/>
                <a:ea typeface="Calibri" pitchFamily="34" charset="-122"/>
                <a:cs typeface="Calibri" pitchFamily="34" charset="-120"/>
              </a:rPr>
              <a:t>Pas d'API cloud, SQLite local uniquement</a:t>
            </a:r>
            <a:endParaRPr lang="en-US" sz="950" dirty="0"/>
          </a:p>
        </p:txBody>
      </p:sp>
      <p:sp>
        <p:nvSpPr>
          <p:cNvPr id="43" name="Text 41"/>
          <p:cNvSpPr/>
          <p:nvPr/>
        </p:nvSpPr>
        <p:spPr>
          <a:xfrm>
            <a:off x="7772400" y="4974336"/>
            <a:ext cx="1097280" cy="164592"/>
          </a:xfrm>
          <a:prstGeom prst="rect">
            <a:avLst/>
          </a:prstGeom>
          <a:noFill/>
          <a:ln/>
        </p:spPr>
        <p:txBody>
          <a:bodyPr wrap="square" rtlCol="0" anchor="ctr"/>
          <a:lstStyle/>
          <a:p>
            <a:pPr marL="0" indent="0" algn="r">
              <a:buNone/>
            </a:pPr>
            <a:r>
              <a:rPr lang="en-US" sz="900" dirty="0">
                <a:solidFill>
                  <a:srgbClr val="5A6A7A"/>
                </a:solidFill>
                <a:latin typeface="Calibri" pitchFamily="34" charset="0"/>
                <a:ea typeface="Calibri" pitchFamily="34" charset="-122"/>
                <a:cs typeface="Calibri" pitchFamily="34" charset="-120"/>
              </a:rPr>
              <a:t>10 / 16</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1B3A6B"/>
          </a:solidFill>
          <a:ln w="12700">
            <a:solidFill>
              <a:srgbClr val="1B3A6B"/>
            </a:solidFill>
            <a:prstDash val="solid"/>
          </a:ln>
        </p:spPr>
        <p:txBody>
          <a:bodyPr/>
          <a:lstStyle/>
          <a:p>
            <a:endParaRPr lang="fr-FR"/>
          </a:p>
        </p:txBody>
      </p:sp>
      <p:sp>
        <p:nvSpPr>
          <p:cNvPr id="3" name="Text 1"/>
          <p:cNvSpPr/>
          <p:nvPr/>
        </p:nvSpPr>
        <p:spPr>
          <a:xfrm>
            <a:off x="365760" y="91440"/>
            <a:ext cx="8229600" cy="594360"/>
          </a:xfrm>
          <a:prstGeom prst="rect">
            <a:avLst/>
          </a:prstGeom>
          <a:noFill/>
          <a:ln/>
        </p:spPr>
        <p:txBody>
          <a:bodyPr wrap="square"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Conformité ISO/IEC 27018 &amp; Normes Associées</a:t>
            </a:r>
            <a:endParaRPr lang="en-US" sz="2800" dirty="0"/>
          </a:p>
        </p:txBody>
      </p:sp>
      <p:sp>
        <p:nvSpPr>
          <p:cNvPr id="5" name="Shape 3"/>
          <p:cNvSpPr/>
          <p:nvPr/>
        </p:nvSpPr>
        <p:spPr>
          <a:xfrm>
            <a:off x="0" y="1005840"/>
            <a:ext cx="9144000" cy="54864"/>
          </a:xfrm>
          <a:prstGeom prst="rect">
            <a:avLst/>
          </a:prstGeom>
          <a:solidFill>
            <a:srgbClr val="0A7EA4"/>
          </a:solidFill>
          <a:ln w="12700">
            <a:solidFill>
              <a:srgbClr val="0A7EA4"/>
            </a:solidFill>
            <a:prstDash val="solid"/>
          </a:ln>
        </p:spPr>
        <p:txBody>
          <a:bodyPr/>
          <a:lstStyle/>
          <a:p>
            <a:endParaRPr lang="fr-FR"/>
          </a:p>
        </p:txBody>
      </p:sp>
      <p:sp>
        <p:nvSpPr>
          <p:cNvPr id="6" name="Shape 4"/>
          <p:cNvSpPr/>
          <p:nvPr/>
        </p:nvSpPr>
        <p:spPr>
          <a:xfrm>
            <a:off x="320040" y="1234440"/>
            <a:ext cx="8503920" cy="777240"/>
          </a:xfrm>
          <a:prstGeom prst="rect">
            <a:avLst/>
          </a:prstGeom>
          <a:solidFill>
            <a:srgbClr val="FFFFFF"/>
          </a:solidFill>
          <a:ln w="15240">
            <a:solidFill>
              <a:srgbClr val="C5D5E8"/>
            </a:solidFill>
            <a:prstDash val="solid"/>
          </a:ln>
          <a:effectLst>
            <a:outerShdw blurRad="63500" dist="25400" dir="8100000" algn="bl" rotWithShape="0">
              <a:srgbClr val="000000">
                <a:alpha val="10000"/>
              </a:srgbClr>
            </a:outerShdw>
          </a:effectLst>
        </p:spPr>
        <p:txBody>
          <a:bodyPr/>
          <a:lstStyle/>
          <a:p>
            <a:endParaRPr lang="fr-FR"/>
          </a:p>
        </p:txBody>
      </p:sp>
      <p:sp>
        <p:nvSpPr>
          <p:cNvPr id="8" name="Text 6"/>
          <p:cNvSpPr/>
          <p:nvPr/>
        </p:nvSpPr>
        <p:spPr>
          <a:xfrm>
            <a:off x="320040" y="1234440"/>
            <a:ext cx="1645920" cy="777240"/>
          </a:xfrm>
          <a:prstGeom prst="rect">
            <a:avLst/>
          </a:prstGeom>
          <a:noFill/>
          <a:ln/>
        </p:spPr>
        <p:txBody>
          <a:bodyPr wrap="square" rtlCol="0" anchor="ctr"/>
          <a:lstStyle/>
          <a:p>
            <a:pPr marL="0" indent="0" algn="ctr">
              <a:buNone/>
            </a:pPr>
            <a:r>
              <a:rPr lang="en-US" sz="1100" b="1" dirty="0">
                <a:latin typeface="Calibri" pitchFamily="34" charset="0"/>
                <a:ea typeface="Calibri" pitchFamily="34" charset="-122"/>
                <a:cs typeface="Calibri" pitchFamily="34" charset="-120"/>
              </a:rPr>
              <a:t>ISO/IEC 27018</a:t>
            </a:r>
            <a:endParaRPr lang="en-US" sz="1100" dirty="0"/>
          </a:p>
        </p:txBody>
      </p:sp>
      <p:sp>
        <p:nvSpPr>
          <p:cNvPr id="9" name="Text 7"/>
          <p:cNvSpPr/>
          <p:nvPr/>
        </p:nvSpPr>
        <p:spPr>
          <a:xfrm>
            <a:off x="2057400" y="1280160"/>
            <a:ext cx="3200400" cy="274320"/>
          </a:xfrm>
          <a:prstGeom prst="rect">
            <a:avLst/>
          </a:prstGeom>
          <a:noFill/>
          <a:ln/>
        </p:spPr>
        <p:txBody>
          <a:bodyPr wrap="square" rtlCol="0" anchor="ctr"/>
          <a:lstStyle/>
          <a:p>
            <a:pPr marL="0" indent="0">
              <a:buNone/>
            </a:pPr>
            <a:r>
              <a:rPr lang="en-US" sz="1050" b="1" dirty="0">
                <a:solidFill>
                  <a:srgbClr val="1B3A6B"/>
                </a:solidFill>
                <a:latin typeface="Calibri" pitchFamily="34" charset="0"/>
                <a:ea typeface="Calibri" pitchFamily="34" charset="-122"/>
                <a:cs typeface="Calibri" pitchFamily="34" charset="-120"/>
              </a:rPr>
              <a:t>Exigence : Pas de stockage cloud des données personnelles</a:t>
            </a:r>
            <a:endParaRPr lang="en-US" sz="1050" dirty="0"/>
          </a:p>
        </p:txBody>
      </p:sp>
      <p:sp>
        <p:nvSpPr>
          <p:cNvPr id="10" name="Text 8"/>
          <p:cNvSpPr/>
          <p:nvPr/>
        </p:nvSpPr>
        <p:spPr>
          <a:xfrm>
            <a:off x="2057400" y="1581912"/>
            <a:ext cx="3200400" cy="347472"/>
          </a:xfrm>
          <a:prstGeom prst="rect">
            <a:avLst/>
          </a:prstGeom>
          <a:noFill/>
          <a:ln/>
        </p:spPr>
        <p:txBody>
          <a:bodyPr wrap="square" rtlCol="0" anchor="ctr"/>
          <a:lstStyle/>
          <a:p>
            <a:pPr marL="0" indent="0">
              <a:buNone/>
            </a:pPr>
            <a:r>
              <a:rPr lang="en-US" sz="1000" dirty="0">
                <a:latin typeface="Calibri" pitchFamily="34" charset="0"/>
                <a:ea typeface="Calibri" pitchFamily="34" charset="-122"/>
                <a:cs typeface="Calibri" pitchFamily="34" charset="-120"/>
              </a:rPr>
              <a:t> Traitement 100% local sur la VM</a:t>
            </a:r>
            <a:endParaRPr lang="en-US" sz="1000" dirty="0"/>
          </a:p>
        </p:txBody>
      </p:sp>
      <p:sp>
        <p:nvSpPr>
          <p:cNvPr id="11" name="Shape 9"/>
          <p:cNvSpPr/>
          <p:nvPr/>
        </p:nvSpPr>
        <p:spPr>
          <a:xfrm>
            <a:off x="5394960" y="1307592"/>
            <a:ext cx="3291840" cy="594360"/>
          </a:xfrm>
          <a:prstGeom prst="rect">
            <a:avLst/>
          </a:prstGeom>
          <a:solidFill>
            <a:srgbClr val="ECF0F4"/>
          </a:solidFill>
          <a:ln w="12700">
            <a:solidFill>
              <a:srgbClr val="C5D5E8"/>
            </a:solidFill>
            <a:prstDash val="solid"/>
          </a:ln>
        </p:spPr>
        <p:txBody>
          <a:bodyPr/>
          <a:lstStyle/>
          <a:p>
            <a:endParaRPr lang="fr-FR"/>
          </a:p>
        </p:txBody>
      </p:sp>
      <p:sp>
        <p:nvSpPr>
          <p:cNvPr id="12" name="Text 10"/>
          <p:cNvSpPr/>
          <p:nvPr/>
        </p:nvSpPr>
        <p:spPr>
          <a:xfrm>
            <a:off x="5486400" y="1307592"/>
            <a:ext cx="3108960" cy="594360"/>
          </a:xfrm>
          <a:prstGeom prst="rect">
            <a:avLst/>
          </a:prstGeom>
          <a:noFill/>
          <a:ln/>
        </p:spPr>
        <p:txBody>
          <a:bodyPr wrap="square" rtlCol="0" anchor="ctr"/>
          <a:lstStyle/>
          <a:p>
            <a:pPr marL="0" indent="0">
              <a:buNone/>
            </a:pPr>
            <a:r>
              <a:rPr lang="en-US" sz="1000" dirty="0">
                <a:latin typeface="Courier New" pitchFamily="34" charset="0"/>
                <a:ea typeface="Courier New" pitchFamily="34" charset="-122"/>
                <a:cs typeface="Courier New" pitchFamily="34" charset="-120"/>
              </a:rPr>
              <a:t>de socket HTTP, SQLite local</a:t>
            </a:r>
            <a:endParaRPr lang="en-US" sz="1000" dirty="0"/>
          </a:p>
        </p:txBody>
      </p:sp>
      <p:sp>
        <p:nvSpPr>
          <p:cNvPr id="13" name="Shape 11"/>
          <p:cNvSpPr/>
          <p:nvPr/>
        </p:nvSpPr>
        <p:spPr>
          <a:xfrm>
            <a:off x="320040" y="2148840"/>
            <a:ext cx="8503920" cy="777240"/>
          </a:xfrm>
          <a:prstGeom prst="rect">
            <a:avLst/>
          </a:prstGeom>
          <a:solidFill>
            <a:srgbClr val="FFFFFF"/>
          </a:solidFill>
          <a:ln w="15240">
            <a:solidFill>
              <a:srgbClr val="C5D5E8"/>
            </a:solidFill>
            <a:prstDash val="solid"/>
          </a:ln>
          <a:effectLst>
            <a:outerShdw blurRad="63500" dist="25400" dir="8100000" algn="bl" rotWithShape="0">
              <a:srgbClr val="000000">
                <a:alpha val="10000"/>
              </a:srgbClr>
            </a:outerShdw>
          </a:effectLst>
        </p:spPr>
        <p:txBody>
          <a:bodyPr/>
          <a:lstStyle/>
          <a:p>
            <a:endParaRPr lang="fr-FR"/>
          </a:p>
        </p:txBody>
      </p:sp>
      <p:sp>
        <p:nvSpPr>
          <p:cNvPr id="15" name="Text 13"/>
          <p:cNvSpPr/>
          <p:nvPr/>
        </p:nvSpPr>
        <p:spPr>
          <a:xfrm>
            <a:off x="320040" y="2148840"/>
            <a:ext cx="1645920" cy="777240"/>
          </a:xfrm>
          <a:prstGeom prst="rect">
            <a:avLst/>
          </a:prstGeom>
          <a:noFill/>
          <a:ln/>
        </p:spPr>
        <p:txBody>
          <a:bodyPr wrap="square" rtlCol="0" anchor="ctr"/>
          <a:lstStyle/>
          <a:p>
            <a:pPr marL="0" indent="0" algn="ctr">
              <a:buNone/>
            </a:pPr>
            <a:r>
              <a:rPr lang="en-US" sz="1100" b="1" dirty="0">
                <a:latin typeface="Calibri" pitchFamily="34" charset="0"/>
                <a:ea typeface="Calibri" pitchFamily="34" charset="-122"/>
                <a:cs typeface="Calibri" pitchFamily="34" charset="-120"/>
              </a:rPr>
              <a:t>ISO/IEC 27001</a:t>
            </a:r>
            <a:endParaRPr lang="en-US" sz="1100" dirty="0"/>
          </a:p>
        </p:txBody>
      </p:sp>
      <p:sp>
        <p:nvSpPr>
          <p:cNvPr id="16" name="Text 14"/>
          <p:cNvSpPr/>
          <p:nvPr/>
        </p:nvSpPr>
        <p:spPr>
          <a:xfrm>
            <a:off x="2057400" y="2194560"/>
            <a:ext cx="3200400" cy="274320"/>
          </a:xfrm>
          <a:prstGeom prst="rect">
            <a:avLst/>
          </a:prstGeom>
          <a:noFill/>
          <a:ln/>
        </p:spPr>
        <p:txBody>
          <a:bodyPr wrap="square" rtlCol="0" anchor="ctr"/>
          <a:lstStyle/>
          <a:p>
            <a:pPr marL="0" indent="0">
              <a:buNone/>
            </a:pPr>
            <a:r>
              <a:rPr lang="en-US" sz="1050" b="1" dirty="0">
                <a:solidFill>
                  <a:srgbClr val="1B3A6B"/>
                </a:solidFill>
                <a:latin typeface="Calibri" pitchFamily="34" charset="0"/>
                <a:ea typeface="Calibri" pitchFamily="34" charset="-122"/>
                <a:cs typeface="Calibri" pitchFamily="34" charset="-120"/>
              </a:rPr>
              <a:t>Exigence : Contrôle d'accès et cryptographie</a:t>
            </a:r>
            <a:endParaRPr lang="en-US" sz="1050" dirty="0"/>
          </a:p>
        </p:txBody>
      </p:sp>
      <p:sp>
        <p:nvSpPr>
          <p:cNvPr id="17" name="Text 15"/>
          <p:cNvSpPr/>
          <p:nvPr/>
        </p:nvSpPr>
        <p:spPr>
          <a:xfrm>
            <a:off x="2057400" y="2496312"/>
            <a:ext cx="3200400" cy="347472"/>
          </a:xfrm>
          <a:prstGeom prst="rect">
            <a:avLst/>
          </a:prstGeom>
          <a:noFill/>
          <a:ln/>
        </p:spPr>
        <p:txBody>
          <a:bodyPr wrap="square" rtlCol="0" anchor="ctr"/>
          <a:lstStyle/>
          <a:p>
            <a:pPr marL="0" indent="0">
              <a:buNone/>
            </a:pPr>
            <a:r>
              <a:rPr lang="en-US" sz="1000" dirty="0">
                <a:latin typeface="Calibri" pitchFamily="34" charset="0"/>
                <a:ea typeface="Calibri" pitchFamily="34" charset="-122"/>
                <a:cs typeface="Calibri" pitchFamily="34" charset="-120"/>
              </a:rPr>
              <a:t>AES-256 + authentification biométrique</a:t>
            </a:r>
            <a:endParaRPr lang="en-US" sz="1000" dirty="0"/>
          </a:p>
        </p:txBody>
      </p:sp>
      <p:sp>
        <p:nvSpPr>
          <p:cNvPr id="18" name="Shape 16"/>
          <p:cNvSpPr/>
          <p:nvPr/>
        </p:nvSpPr>
        <p:spPr>
          <a:xfrm>
            <a:off x="5394960" y="2221992"/>
            <a:ext cx="3291840" cy="594360"/>
          </a:xfrm>
          <a:prstGeom prst="rect">
            <a:avLst/>
          </a:prstGeom>
          <a:solidFill>
            <a:srgbClr val="ECF0F4"/>
          </a:solidFill>
          <a:ln w="12700">
            <a:solidFill>
              <a:srgbClr val="C5D5E8"/>
            </a:solidFill>
            <a:prstDash val="solid"/>
          </a:ln>
        </p:spPr>
        <p:txBody>
          <a:bodyPr/>
          <a:lstStyle/>
          <a:p>
            <a:endParaRPr lang="fr-FR"/>
          </a:p>
        </p:txBody>
      </p:sp>
      <p:sp>
        <p:nvSpPr>
          <p:cNvPr id="19" name="Text 17"/>
          <p:cNvSpPr/>
          <p:nvPr/>
        </p:nvSpPr>
        <p:spPr>
          <a:xfrm>
            <a:off x="5486400" y="2221992"/>
            <a:ext cx="3108960" cy="594360"/>
          </a:xfrm>
          <a:prstGeom prst="rect">
            <a:avLst/>
          </a:prstGeom>
          <a:noFill/>
          <a:ln/>
        </p:spPr>
        <p:txBody>
          <a:bodyPr wrap="square" rtlCol="0" anchor="ctr"/>
          <a:lstStyle/>
          <a:p>
            <a:pPr marL="0" indent="0">
              <a:buNone/>
            </a:pPr>
            <a:r>
              <a:rPr lang="en-US" sz="1000" dirty="0">
                <a:latin typeface="Courier New" pitchFamily="34" charset="0"/>
                <a:ea typeface="Courier New" pitchFamily="34" charset="-122"/>
                <a:cs typeface="Courier New" pitchFamily="34" charset="-120"/>
              </a:rPr>
              <a:t>encryption.py — Fernet</a:t>
            </a:r>
            <a:endParaRPr lang="en-US" sz="1000" dirty="0"/>
          </a:p>
        </p:txBody>
      </p:sp>
      <p:sp>
        <p:nvSpPr>
          <p:cNvPr id="20" name="Shape 18"/>
          <p:cNvSpPr/>
          <p:nvPr/>
        </p:nvSpPr>
        <p:spPr>
          <a:xfrm>
            <a:off x="320040" y="3063240"/>
            <a:ext cx="8503920" cy="777240"/>
          </a:xfrm>
          <a:prstGeom prst="rect">
            <a:avLst/>
          </a:prstGeom>
          <a:solidFill>
            <a:srgbClr val="FFFFFF"/>
          </a:solidFill>
          <a:ln w="15240">
            <a:solidFill>
              <a:srgbClr val="C5D5E8"/>
            </a:solidFill>
            <a:prstDash val="solid"/>
          </a:ln>
          <a:effectLst>
            <a:outerShdw blurRad="63500" dist="25400" dir="8100000" algn="bl" rotWithShape="0">
              <a:srgbClr val="000000">
                <a:alpha val="10000"/>
              </a:srgbClr>
            </a:outerShdw>
          </a:effectLst>
        </p:spPr>
        <p:txBody>
          <a:bodyPr/>
          <a:lstStyle/>
          <a:p>
            <a:endParaRPr lang="fr-FR"/>
          </a:p>
        </p:txBody>
      </p:sp>
      <p:sp>
        <p:nvSpPr>
          <p:cNvPr id="22" name="Text 20"/>
          <p:cNvSpPr/>
          <p:nvPr/>
        </p:nvSpPr>
        <p:spPr>
          <a:xfrm>
            <a:off x="320040" y="3063240"/>
            <a:ext cx="1645920" cy="777240"/>
          </a:xfrm>
          <a:prstGeom prst="rect">
            <a:avLst/>
          </a:prstGeom>
          <a:noFill/>
          <a:ln/>
        </p:spPr>
        <p:txBody>
          <a:bodyPr wrap="square" rtlCol="0" anchor="ctr"/>
          <a:lstStyle/>
          <a:p>
            <a:pPr marL="0" indent="0" algn="ctr">
              <a:buNone/>
            </a:pPr>
            <a:r>
              <a:rPr lang="en-US" sz="1100" b="1" dirty="0">
                <a:latin typeface="Calibri" pitchFamily="34" charset="0"/>
                <a:ea typeface="Calibri" pitchFamily="34" charset="-122"/>
                <a:cs typeface="Calibri" pitchFamily="34" charset="-120"/>
              </a:rPr>
              <a:t>ISO/IEC 27701</a:t>
            </a:r>
            <a:endParaRPr lang="en-US" sz="1100" dirty="0"/>
          </a:p>
        </p:txBody>
      </p:sp>
      <p:sp>
        <p:nvSpPr>
          <p:cNvPr id="23" name="Text 21"/>
          <p:cNvSpPr/>
          <p:nvPr/>
        </p:nvSpPr>
        <p:spPr>
          <a:xfrm>
            <a:off x="2057400" y="3108960"/>
            <a:ext cx="3200400" cy="274320"/>
          </a:xfrm>
          <a:prstGeom prst="rect">
            <a:avLst/>
          </a:prstGeom>
          <a:noFill/>
          <a:ln/>
        </p:spPr>
        <p:txBody>
          <a:bodyPr wrap="square" rtlCol="0" anchor="ctr"/>
          <a:lstStyle/>
          <a:p>
            <a:pPr marL="0" indent="0">
              <a:buNone/>
            </a:pPr>
            <a:r>
              <a:rPr lang="en-US" sz="1050" b="1" dirty="0">
                <a:solidFill>
                  <a:srgbClr val="1B3A6B"/>
                </a:solidFill>
                <a:latin typeface="Calibri" pitchFamily="34" charset="0"/>
                <a:ea typeface="Calibri" pitchFamily="34" charset="-122"/>
                <a:cs typeface="Calibri" pitchFamily="34" charset="-120"/>
              </a:rPr>
              <a:t>Exigence : Minimisation des PII traitées</a:t>
            </a:r>
            <a:endParaRPr lang="en-US" sz="1050" dirty="0"/>
          </a:p>
        </p:txBody>
      </p:sp>
      <p:sp>
        <p:nvSpPr>
          <p:cNvPr id="24" name="Text 22"/>
          <p:cNvSpPr/>
          <p:nvPr/>
        </p:nvSpPr>
        <p:spPr>
          <a:xfrm>
            <a:off x="2057400" y="3410712"/>
            <a:ext cx="3200400" cy="347472"/>
          </a:xfrm>
          <a:prstGeom prst="rect">
            <a:avLst/>
          </a:prstGeom>
          <a:noFill/>
          <a:ln/>
        </p:spPr>
        <p:txBody>
          <a:bodyPr wrap="square" rtlCol="0" anchor="ctr"/>
          <a:lstStyle/>
          <a:p>
            <a:pPr marL="0" indent="0">
              <a:buNone/>
            </a:pPr>
            <a:r>
              <a:rPr lang="en-US" sz="1000" dirty="0">
                <a:latin typeface="Calibri" pitchFamily="34" charset="0"/>
                <a:ea typeface="Calibri" pitchFamily="34" charset="-122"/>
                <a:cs typeface="Calibri" pitchFamily="34" charset="-120"/>
              </a:rPr>
              <a:t>Embeddings = données pseudonymisées</a:t>
            </a:r>
            <a:endParaRPr lang="en-US" sz="1000" dirty="0"/>
          </a:p>
        </p:txBody>
      </p:sp>
      <p:sp>
        <p:nvSpPr>
          <p:cNvPr id="25" name="Shape 23"/>
          <p:cNvSpPr/>
          <p:nvPr/>
        </p:nvSpPr>
        <p:spPr>
          <a:xfrm>
            <a:off x="5394960" y="3136392"/>
            <a:ext cx="3291840" cy="594360"/>
          </a:xfrm>
          <a:prstGeom prst="rect">
            <a:avLst/>
          </a:prstGeom>
          <a:solidFill>
            <a:srgbClr val="ECF0F4"/>
          </a:solidFill>
          <a:ln w="12700">
            <a:solidFill>
              <a:srgbClr val="C5D5E8"/>
            </a:solidFill>
            <a:prstDash val="solid"/>
          </a:ln>
        </p:spPr>
        <p:txBody>
          <a:bodyPr/>
          <a:lstStyle/>
          <a:p>
            <a:endParaRPr lang="fr-FR"/>
          </a:p>
        </p:txBody>
      </p:sp>
      <p:sp>
        <p:nvSpPr>
          <p:cNvPr id="26" name="Text 24"/>
          <p:cNvSpPr/>
          <p:nvPr/>
        </p:nvSpPr>
        <p:spPr>
          <a:xfrm>
            <a:off x="5486400" y="3136392"/>
            <a:ext cx="3108960" cy="594360"/>
          </a:xfrm>
          <a:prstGeom prst="rect">
            <a:avLst/>
          </a:prstGeom>
          <a:noFill/>
          <a:ln/>
        </p:spPr>
        <p:txBody>
          <a:bodyPr wrap="square" rtlCol="0" anchor="ctr"/>
          <a:lstStyle/>
          <a:p>
            <a:pPr marL="0" indent="0">
              <a:buNone/>
            </a:pPr>
            <a:r>
              <a:rPr lang="en-US" sz="1000" dirty="0" err="1">
                <a:latin typeface="Courier New" pitchFamily="34" charset="0"/>
                <a:ea typeface="Courier New" pitchFamily="34" charset="-122"/>
                <a:cs typeface="Courier New" pitchFamily="34" charset="-120"/>
              </a:rPr>
              <a:t>InsightFace</a:t>
            </a:r>
            <a:r>
              <a:rPr lang="en-US" sz="1000" dirty="0">
                <a:latin typeface="Courier New" pitchFamily="34" charset="0"/>
                <a:ea typeface="Courier New" pitchFamily="34" charset="-122"/>
                <a:cs typeface="Courier New" pitchFamily="34" charset="-120"/>
              </a:rPr>
              <a:t> : vecteur non réversible</a:t>
            </a:r>
            <a:endParaRPr lang="en-US" sz="1000" dirty="0"/>
          </a:p>
        </p:txBody>
      </p:sp>
      <p:sp>
        <p:nvSpPr>
          <p:cNvPr id="27" name="Shape 25"/>
          <p:cNvSpPr/>
          <p:nvPr/>
        </p:nvSpPr>
        <p:spPr>
          <a:xfrm>
            <a:off x="320040" y="3977640"/>
            <a:ext cx="8503920" cy="777240"/>
          </a:xfrm>
          <a:prstGeom prst="rect">
            <a:avLst/>
          </a:prstGeom>
          <a:solidFill>
            <a:srgbClr val="FFFFFF"/>
          </a:solidFill>
          <a:ln w="15240">
            <a:solidFill>
              <a:srgbClr val="C5D5E8"/>
            </a:solidFill>
            <a:prstDash val="solid"/>
          </a:ln>
          <a:effectLst>
            <a:outerShdw blurRad="63500" dist="25400" dir="8100000" algn="bl" rotWithShape="0">
              <a:srgbClr val="000000">
                <a:alpha val="10000"/>
              </a:srgbClr>
            </a:outerShdw>
          </a:effectLst>
        </p:spPr>
        <p:txBody>
          <a:bodyPr/>
          <a:lstStyle/>
          <a:p>
            <a:endParaRPr lang="fr-FR"/>
          </a:p>
        </p:txBody>
      </p:sp>
      <p:sp>
        <p:nvSpPr>
          <p:cNvPr id="29" name="Text 27"/>
          <p:cNvSpPr/>
          <p:nvPr/>
        </p:nvSpPr>
        <p:spPr>
          <a:xfrm>
            <a:off x="320040" y="3977640"/>
            <a:ext cx="1645920" cy="777240"/>
          </a:xfrm>
          <a:prstGeom prst="rect">
            <a:avLst/>
          </a:prstGeom>
          <a:noFill/>
          <a:ln/>
        </p:spPr>
        <p:txBody>
          <a:bodyPr wrap="square" rtlCol="0" anchor="ctr"/>
          <a:lstStyle/>
          <a:p>
            <a:pPr marL="0" indent="0" algn="ctr">
              <a:buNone/>
            </a:pPr>
            <a:r>
              <a:rPr lang="en-US" sz="1100" b="1" dirty="0">
                <a:latin typeface="Calibri" pitchFamily="34" charset="0"/>
                <a:ea typeface="Calibri" pitchFamily="34" charset="-122"/>
                <a:cs typeface="Calibri" pitchFamily="34" charset="-120"/>
              </a:rPr>
              <a:t>ISO/IEC 29100</a:t>
            </a:r>
            <a:endParaRPr lang="en-US" sz="1100" dirty="0"/>
          </a:p>
        </p:txBody>
      </p:sp>
      <p:sp>
        <p:nvSpPr>
          <p:cNvPr id="30" name="Text 28"/>
          <p:cNvSpPr/>
          <p:nvPr/>
        </p:nvSpPr>
        <p:spPr>
          <a:xfrm>
            <a:off x="2057400" y="4023360"/>
            <a:ext cx="3200400" cy="274320"/>
          </a:xfrm>
          <a:prstGeom prst="rect">
            <a:avLst/>
          </a:prstGeom>
          <a:noFill/>
          <a:ln/>
        </p:spPr>
        <p:txBody>
          <a:bodyPr wrap="square" rtlCol="0" anchor="ctr"/>
          <a:lstStyle/>
          <a:p>
            <a:pPr marL="0" indent="0">
              <a:buNone/>
            </a:pPr>
            <a:r>
              <a:rPr lang="en-US" sz="1050" b="1" dirty="0">
                <a:solidFill>
                  <a:srgbClr val="1B3A6B"/>
                </a:solidFill>
                <a:latin typeface="Calibri" pitchFamily="34" charset="0"/>
                <a:ea typeface="Calibri" pitchFamily="34" charset="-122"/>
                <a:cs typeface="Calibri" pitchFamily="34" charset="-120"/>
              </a:rPr>
              <a:t>Exigence : Privacy by Design dans l'architecture</a:t>
            </a:r>
            <a:endParaRPr lang="en-US" sz="1050" dirty="0"/>
          </a:p>
        </p:txBody>
      </p:sp>
      <p:sp>
        <p:nvSpPr>
          <p:cNvPr id="31" name="Text 29"/>
          <p:cNvSpPr/>
          <p:nvPr/>
        </p:nvSpPr>
        <p:spPr>
          <a:xfrm>
            <a:off x="2057400" y="4325112"/>
            <a:ext cx="3200400" cy="347472"/>
          </a:xfrm>
          <a:prstGeom prst="rect">
            <a:avLst/>
          </a:prstGeom>
          <a:noFill/>
          <a:ln/>
        </p:spPr>
        <p:txBody>
          <a:bodyPr wrap="square" rtlCol="0" anchor="ctr"/>
          <a:lstStyle/>
          <a:p>
            <a:pPr marL="0" indent="0">
              <a:buNone/>
            </a:pPr>
            <a:r>
              <a:rPr lang="en-US" sz="1000" dirty="0">
                <a:latin typeface="Calibri" pitchFamily="34" charset="0"/>
                <a:ea typeface="Calibri" pitchFamily="34" charset="-122"/>
                <a:cs typeface="Calibri" pitchFamily="34" charset="-120"/>
              </a:rPr>
              <a:t>Pas d'images dans toute la chaîne</a:t>
            </a:r>
            <a:endParaRPr lang="en-US" sz="1000" dirty="0"/>
          </a:p>
        </p:txBody>
      </p:sp>
      <p:sp>
        <p:nvSpPr>
          <p:cNvPr id="32" name="Shape 30"/>
          <p:cNvSpPr/>
          <p:nvPr/>
        </p:nvSpPr>
        <p:spPr>
          <a:xfrm>
            <a:off x="5394960" y="4050792"/>
            <a:ext cx="3291840" cy="594360"/>
          </a:xfrm>
          <a:prstGeom prst="rect">
            <a:avLst/>
          </a:prstGeom>
          <a:solidFill>
            <a:srgbClr val="ECF0F4"/>
          </a:solidFill>
          <a:ln w="12700">
            <a:solidFill>
              <a:srgbClr val="C5D5E8"/>
            </a:solidFill>
            <a:prstDash val="solid"/>
          </a:ln>
        </p:spPr>
        <p:txBody>
          <a:bodyPr/>
          <a:lstStyle/>
          <a:p>
            <a:endParaRPr lang="fr-FR"/>
          </a:p>
        </p:txBody>
      </p:sp>
      <p:sp>
        <p:nvSpPr>
          <p:cNvPr id="33" name="Text 31"/>
          <p:cNvSpPr/>
          <p:nvPr/>
        </p:nvSpPr>
        <p:spPr>
          <a:xfrm>
            <a:off x="5486400" y="4050792"/>
            <a:ext cx="3108960" cy="594360"/>
          </a:xfrm>
          <a:prstGeom prst="rect">
            <a:avLst/>
          </a:prstGeom>
          <a:noFill/>
          <a:ln/>
        </p:spPr>
        <p:txBody>
          <a:bodyPr wrap="square" rtlCol="0" anchor="ctr"/>
          <a:lstStyle/>
          <a:p>
            <a:pPr marL="0" indent="0">
              <a:buNone/>
            </a:pPr>
            <a:r>
              <a:rPr lang="en-US" sz="1000" dirty="0">
                <a:latin typeface="Courier New" pitchFamily="34" charset="0"/>
                <a:ea typeface="Courier New" pitchFamily="34" charset="-122"/>
                <a:cs typeface="Courier New" pitchFamily="34" charset="-120"/>
              </a:rPr>
              <a:t>STORE_RAW_IMAGES = False</a:t>
            </a:r>
            <a:endParaRPr lang="en-US" sz="1000" dirty="0"/>
          </a:p>
        </p:txBody>
      </p:sp>
      <p:sp>
        <p:nvSpPr>
          <p:cNvPr id="38" name="Text 36"/>
          <p:cNvSpPr/>
          <p:nvPr/>
        </p:nvSpPr>
        <p:spPr>
          <a:xfrm>
            <a:off x="7772400" y="4974336"/>
            <a:ext cx="1097280" cy="164592"/>
          </a:xfrm>
          <a:prstGeom prst="rect">
            <a:avLst/>
          </a:prstGeom>
          <a:noFill/>
          <a:ln/>
        </p:spPr>
        <p:txBody>
          <a:bodyPr wrap="square" rtlCol="0" anchor="ctr"/>
          <a:lstStyle/>
          <a:p>
            <a:pPr marL="0" indent="0" algn="r">
              <a:buNone/>
            </a:pPr>
            <a:r>
              <a:rPr lang="en-US" sz="900" dirty="0">
                <a:solidFill>
                  <a:srgbClr val="5A6A7A"/>
                </a:solidFill>
                <a:latin typeface="Calibri" pitchFamily="34" charset="0"/>
                <a:ea typeface="Calibri" pitchFamily="34" charset="-122"/>
                <a:cs typeface="Calibri" pitchFamily="34" charset="-120"/>
              </a:rPr>
              <a:t>11 / 16</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1B3A6B"/>
          </a:solidFill>
          <a:ln w="12700">
            <a:solidFill>
              <a:srgbClr val="1B3A6B"/>
            </a:solidFill>
            <a:prstDash val="solid"/>
          </a:ln>
        </p:spPr>
        <p:txBody>
          <a:bodyPr/>
          <a:lstStyle/>
          <a:p>
            <a:endParaRPr lang="fr-FR"/>
          </a:p>
        </p:txBody>
      </p:sp>
      <p:sp>
        <p:nvSpPr>
          <p:cNvPr id="3" name="Text 1"/>
          <p:cNvSpPr/>
          <p:nvPr/>
        </p:nvSpPr>
        <p:spPr>
          <a:xfrm>
            <a:off x="365760" y="91440"/>
            <a:ext cx="8229600" cy="594360"/>
          </a:xfrm>
          <a:prstGeom prst="rect">
            <a:avLst/>
          </a:prstGeom>
          <a:noFill/>
          <a:ln/>
        </p:spPr>
        <p:txBody>
          <a:bodyPr wrap="square"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Chiffrement AES-256 — Implémentation Détaillée</a:t>
            </a:r>
            <a:endParaRPr lang="en-US" sz="2800" dirty="0"/>
          </a:p>
        </p:txBody>
      </p:sp>
      <p:sp>
        <p:nvSpPr>
          <p:cNvPr id="4" name="Text 2"/>
          <p:cNvSpPr/>
          <p:nvPr/>
        </p:nvSpPr>
        <p:spPr>
          <a:xfrm>
            <a:off x="365760" y="658368"/>
            <a:ext cx="8229600" cy="292608"/>
          </a:xfrm>
          <a:prstGeom prst="rect">
            <a:avLst/>
          </a:prstGeom>
          <a:noFill/>
          <a:ln/>
        </p:spPr>
        <p:txBody>
          <a:bodyPr wrap="square" rtlCol="0" anchor="ctr"/>
          <a:lstStyle/>
          <a:p>
            <a:pPr marL="0" indent="0">
              <a:buNone/>
            </a:pPr>
            <a:r>
              <a:rPr lang="en-US" sz="1300" i="1" dirty="0">
                <a:solidFill>
                  <a:srgbClr val="B0C4DE"/>
                </a:solidFill>
                <a:latin typeface="Calibri" pitchFamily="34" charset="0"/>
                <a:ea typeface="Calibri" pitchFamily="34" charset="-122"/>
                <a:cs typeface="Calibri" pitchFamily="34" charset="-120"/>
              </a:rPr>
              <a:t>Comment les embeddings sont protégés</a:t>
            </a:r>
            <a:endParaRPr lang="en-US" sz="1300" dirty="0"/>
          </a:p>
        </p:txBody>
      </p:sp>
      <p:sp>
        <p:nvSpPr>
          <p:cNvPr id="5" name="Shape 3"/>
          <p:cNvSpPr/>
          <p:nvPr/>
        </p:nvSpPr>
        <p:spPr>
          <a:xfrm>
            <a:off x="0" y="1005840"/>
            <a:ext cx="9144000" cy="54864"/>
          </a:xfrm>
          <a:prstGeom prst="rect">
            <a:avLst/>
          </a:prstGeom>
          <a:solidFill>
            <a:srgbClr val="0A7EA4"/>
          </a:solidFill>
          <a:ln w="12700">
            <a:solidFill>
              <a:srgbClr val="0A7EA4"/>
            </a:solidFill>
            <a:prstDash val="solid"/>
          </a:ln>
        </p:spPr>
        <p:txBody>
          <a:bodyPr/>
          <a:lstStyle/>
          <a:p>
            <a:endParaRPr lang="fr-FR"/>
          </a:p>
        </p:txBody>
      </p:sp>
      <p:sp>
        <p:nvSpPr>
          <p:cNvPr id="6" name="Shape 4"/>
          <p:cNvSpPr/>
          <p:nvPr/>
        </p:nvSpPr>
        <p:spPr>
          <a:xfrm>
            <a:off x="320040" y="1234440"/>
            <a:ext cx="2011680" cy="1920240"/>
          </a:xfrm>
          <a:prstGeom prst="rect">
            <a:avLst/>
          </a:prstGeom>
          <a:solidFill>
            <a:srgbClr val="FFFFFF"/>
          </a:solidFill>
          <a:ln w="15240">
            <a:solidFill>
              <a:srgbClr val="0A7EA4"/>
            </a:solidFill>
            <a:prstDash val="solid"/>
          </a:ln>
          <a:effectLst>
            <a:outerShdw blurRad="63500" dist="25400" dir="8100000" algn="bl" rotWithShape="0">
              <a:srgbClr val="000000">
                <a:alpha val="10000"/>
              </a:srgbClr>
            </a:outerShdw>
          </a:effectLst>
        </p:spPr>
        <p:txBody>
          <a:bodyPr/>
          <a:lstStyle/>
          <a:p>
            <a:endParaRPr lang="fr-FR"/>
          </a:p>
        </p:txBody>
      </p:sp>
      <p:sp>
        <p:nvSpPr>
          <p:cNvPr id="7" name="Shape 5"/>
          <p:cNvSpPr/>
          <p:nvPr/>
        </p:nvSpPr>
        <p:spPr>
          <a:xfrm>
            <a:off x="320040" y="1234440"/>
            <a:ext cx="2011680" cy="365760"/>
          </a:xfrm>
          <a:prstGeom prst="rect">
            <a:avLst/>
          </a:prstGeom>
          <a:solidFill>
            <a:srgbClr val="0A7EA4"/>
          </a:solidFill>
          <a:ln w="12700">
            <a:solidFill>
              <a:srgbClr val="0A7EA4"/>
            </a:solidFill>
            <a:prstDash val="solid"/>
          </a:ln>
        </p:spPr>
        <p:txBody>
          <a:bodyPr/>
          <a:lstStyle/>
          <a:p>
            <a:endParaRPr lang="fr-FR"/>
          </a:p>
        </p:txBody>
      </p:sp>
      <p:sp>
        <p:nvSpPr>
          <p:cNvPr id="8" name="Text 6"/>
          <p:cNvSpPr/>
          <p:nvPr/>
        </p:nvSpPr>
        <p:spPr>
          <a:xfrm>
            <a:off x="320040" y="1234440"/>
            <a:ext cx="2011680" cy="36576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1. Génération clé</a:t>
            </a:r>
            <a:endParaRPr lang="en-US" sz="1100" dirty="0"/>
          </a:p>
        </p:txBody>
      </p:sp>
      <p:sp>
        <p:nvSpPr>
          <p:cNvPr id="9" name="Text 7"/>
          <p:cNvSpPr/>
          <p:nvPr/>
        </p:nvSpPr>
        <p:spPr>
          <a:xfrm>
            <a:off x="411480" y="1664208"/>
            <a:ext cx="1828800" cy="1371600"/>
          </a:xfrm>
          <a:prstGeom prst="rect">
            <a:avLst/>
          </a:prstGeom>
          <a:noFill/>
          <a:ln/>
        </p:spPr>
        <p:txBody>
          <a:bodyPr wrap="square" rtlCol="0" anchor="t"/>
          <a:lstStyle/>
          <a:p>
            <a:pPr marL="0" indent="0">
              <a:buNone/>
            </a:pPr>
            <a:r>
              <a:rPr lang="en-US" sz="950" dirty="0">
                <a:latin typeface="Courier New" pitchFamily="34" charset="0"/>
                <a:ea typeface="Courier New" pitchFamily="34" charset="-122"/>
                <a:cs typeface="Courier New" pitchFamily="34" charset="-120"/>
              </a:rPr>
              <a:t>key = Fernet.generate_key()</a:t>
            </a:r>
            <a:endParaRPr lang="en-US" sz="950" dirty="0"/>
          </a:p>
          <a:p>
            <a:pPr marL="0" indent="0">
              <a:buNone/>
            </a:pPr>
            <a:r>
              <a:rPr lang="en-US" sz="950" dirty="0">
                <a:latin typeface="Courier New" pitchFamily="34" charset="0"/>
                <a:ea typeface="Courier New" pitchFamily="34" charset="-122"/>
                <a:cs typeface="Courier New" pitchFamily="34" charset="-120"/>
              </a:rPr>
              <a:t># 32 octets aléatoires = 256 bits</a:t>
            </a:r>
            <a:endParaRPr lang="en-US" sz="950" dirty="0"/>
          </a:p>
        </p:txBody>
      </p:sp>
      <p:sp>
        <p:nvSpPr>
          <p:cNvPr id="10" name="Text 8"/>
          <p:cNvSpPr/>
          <p:nvPr/>
        </p:nvSpPr>
        <p:spPr>
          <a:xfrm>
            <a:off x="2331720" y="1874520"/>
            <a:ext cx="155448" cy="457200"/>
          </a:xfrm>
          <a:prstGeom prst="rect">
            <a:avLst/>
          </a:prstGeom>
          <a:noFill/>
          <a:ln/>
        </p:spPr>
        <p:txBody>
          <a:bodyPr wrap="square" rtlCol="0" anchor="ctr"/>
          <a:lstStyle/>
          <a:p>
            <a:pPr marL="0" indent="0" algn="ctr">
              <a:buNone/>
            </a:pPr>
            <a:r>
              <a:rPr lang="en-US" sz="1800" b="1" dirty="0">
                <a:solidFill>
                  <a:srgbClr val="0A7EA4"/>
                </a:solidFill>
              </a:rPr>
              <a:t>→</a:t>
            </a:r>
            <a:endParaRPr lang="en-US" sz="1800" dirty="0"/>
          </a:p>
        </p:txBody>
      </p:sp>
      <p:sp>
        <p:nvSpPr>
          <p:cNvPr id="11" name="Shape 9"/>
          <p:cNvSpPr/>
          <p:nvPr/>
        </p:nvSpPr>
        <p:spPr>
          <a:xfrm>
            <a:off x="2487168" y="1234440"/>
            <a:ext cx="2011680" cy="1920240"/>
          </a:xfrm>
          <a:prstGeom prst="rect">
            <a:avLst/>
          </a:prstGeom>
          <a:solidFill>
            <a:srgbClr val="FFFFFF"/>
          </a:solidFill>
          <a:ln w="15240">
            <a:solidFill>
              <a:srgbClr val="1B3A6B"/>
            </a:solidFill>
            <a:prstDash val="solid"/>
          </a:ln>
          <a:effectLst>
            <a:outerShdw blurRad="63500" dist="25400" dir="8100000" algn="bl" rotWithShape="0">
              <a:srgbClr val="000000">
                <a:alpha val="10000"/>
              </a:srgbClr>
            </a:outerShdw>
          </a:effectLst>
        </p:spPr>
        <p:txBody>
          <a:bodyPr/>
          <a:lstStyle/>
          <a:p>
            <a:endParaRPr lang="fr-FR"/>
          </a:p>
        </p:txBody>
      </p:sp>
      <p:sp>
        <p:nvSpPr>
          <p:cNvPr id="12" name="Shape 10"/>
          <p:cNvSpPr/>
          <p:nvPr/>
        </p:nvSpPr>
        <p:spPr>
          <a:xfrm>
            <a:off x="2487168" y="1234440"/>
            <a:ext cx="2011680" cy="365760"/>
          </a:xfrm>
          <a:prstGeom prst="rect">
            <a:avLst/>
          </a:prstGeom>
          <a:solidFill>
            <a:srgbClr val="1B3A6B"/>
          </a:solidFill>
          <a:ln w="12700">
            <a:solidFill>
              <a:srgbClr val="1B3A6B"/>
            </a:solidFill>
            <a:prstDash val="solid"/>
          </a:ln>
        </p:spPr>
        <p:txBody>
          <a:bodyPr/>
          <a:lstStyle/>
          <a:p>
            <a:endParaRPr lang="fr-FR"/>
          </a:p>
        </p:txBody>
      </p:sp>
      <p:sp>
        <p:nvSpPr>
          <p:cNvPr id="13" name="Text 11"/>
          <p:cNvSpPr/>
          <p:nvPr/>
        </p:nvSpPr>
        <p:spPr>
          <a:xfrm>
            <a:off x="2487168" y="1234440"/>
            <a:ext cx="2011680" cy="36576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2. Sérialisation</a:t>
            </a:r>
            <a:endParaRPr lang="en-US" sz="1100" dirty="0"/>
          </a:p>
        </p:txBody>
      </p:sp>
      <p:sp>
        <p:nvSpPr>
          <p:cNvPr id="14" name="Text 12"/>
          <p:cNvSpPr/>
          <p:nvPr/>
        </p:nvSpPr>
        <p:spPr>
          <a:xfrm>
            <a:off x="2578608" y="1664208"/>
            <a:ext cx="1828800" cy="1371600"/>
          </a:xfrm>
          <a:prstGeom prst="rect">
            <a:avLst/>
          </a:prstGeom>
          <a:noFill/>
          <a:ln/>
        </p:spPr>
        <p:txBody>
          <a:bodyPr wrap="square" rtlCol="0" anchor="t"/>
          <a:lstStyle/>
          <a:p>
            <a:pPr marL="0" indent="0">
              <a:buNone/>
            </a:pPr>
            <a:r>
              <a:rPr lang="en-US" sz="950" dirty="0">
                <a:latin typeface="Courier New" pitchFamily="34" charset="0"/>
                <a:ea typeface="Courier New" pitchFamily="34" charset="-122"/>
                <a:cs typeface="Courier New" pitchFamily="34" charset="-120"/>
              </a:rPr>
              <a:t>raw = pickle.dumps(embedding)</a:t>
            </a:r>
            <a:endParaRPr lang="en-US" sz="950" dirty="0"/>
          </a:p>
          <a:p>
            <a:pPr marL="0" indent="0">
              <a:buNone/>
            </a:pPr>
            <a:r>
              <a:rPr lang="en-US" sz="950" dirty="0">
                <a:latin typeface="Courier New" pitchFamily="34" charset="0"/>
                <a:ea typeface="Courier New" pitchFamily="34" charset="-122"/>
                <a:cs typeface="Courier New" pitchFamily="34" charset="-120"/>
              </a:rPr>
              <a:t># numpy array → bytes</a:t>
            </a:r>
            <a:endParaRPr lang="en-US" sz="950" dirty="0"/>
          </a:p>
        </p:txBody>
      </p:sp>
      <p:sp>
        <p:nvSpPr>
          <p:cNvPr id="15" name="Text 13"/>
          <p:cNvSpPr/>
          <p:nvPr/>
        </p:nvSpPr>
        <p:spPr>
          <a:xfrm>
            <a:off x="4498848" y="1874520"/>
            <a:ext cx="155448" cy="457200"/>
          </a:xfrm>
          <a:prstGeom prst="rect">
            <a:avLst/>
          </a:prstGeom>
          <a:noFill/>
          <a:ln/>
        </p:spPr>
        <p:txBody>
          <a:bodyPr wrap="square" rtlCol="0" anchor="ctr"/>
          <a:lstStyle/>
          <a:p>
            <a:pPr marL="0" indent="0" algn="ctr">
              <a:buNone/>
            </a:pPr>
            <a:r>
              <a:rPr lang="en-US" sz="1800" b="1" dirty="0">
                <a:solidFill>
                  <a:srgbClr val="0A7EA4"/>
                </a:solidFill>
              </a:rPr>
              <a:t>→</a:t>
            </a:r>
            <a:endParaRPr lang="en-US" sz="1800" dirty="0"/>
          </a:p>
        </p:txBody>
      </p:sp>
      <p:sp>
        <p:nvSpPr>
          <p:cNvPr id="16" name="Shape 14"/>
          <p:cNvSpPr/>
          <p:nvPr/>
        </p:nvSpPr>
        <p:spPr>
          <a:xfrm>
            <a:off x="4654296" y="1234440"/>
            <a:ext cx="2011680" cy="1920240"/>
          </a:xfrm>
          <a:prstGeom prst="rect">
            <a:avLst/>
          </a:prstGeom>
          <a:solidFill>
            <a:srgbClr val="FFFFFF"/>
          </a:solidFill>
          <a:ln w="15240">
            <a:solidFill>
              <a:srgbClr val="E07B00"/>
            </a:solidFill>
            <a:prstDash val="solid"/>
          </a:ln>
          <a:effectLst>
            <a:outerShdw blurRad="63500" dist="25400" dir="8100000" algn="bl" rotWithShape="0">
              <a:srgbClr val="000000">
                <a:alpha val="10000"/>
              </a:srgbClr>
            </a:outerShdw>
          </a:effectLst>
        </p:spPr>
        <p:txBody>
          <a:bodyPr/>
          <a:lstStyle/>
          <a:p>
            <a:endParaRPr lang="fr-FR"/>
          </a:p>
        </p:txBody>
      </p:sp>
      <p:sp>
        <p:nvSpPr>
          <p:cNvPr id="17" name="Shape 15"/>
          <p:cNvSpPr/>
          <p:nvPr/>
        </p:nvSpPr>
        <p:spPr>
          <a:xfrm>
            <a:off x="4654296" y="1234440"/>
            <a:ext cx="2011680" cy="365760"/>
          </a:xfrm>
          <a:prstGeom prst="rect">
            <a:avLst/>
          </a:prstGeom>
          <a:solidFill>
            <a:srgbClr val="E07B00"/>
          </a:solidFill>
          <a:ln w="12700">
            <a:solidFill>
              <a:srgbClr val="E07B00"/>
            </a:solidFill>
            <a:prstDash val="solid"/>
          </a:ln>
        </p:spPr>
        <p:txBody>
          <a:bodyPr/>
          <a:lstStyle/>
          <a:p>
            <a:endParaRPr lang="fr-FR"/>
          </a:p>
        </p:txBody>
      </p:sp>
      <p:sp>
        <p:nvSpPr>
          <p:cNvPr id="18" name="Text 16"/>
          <p:cNvSpPr/>
          <p:nvPr/>
        </p:nvSpPr>
        <p:spPr>
          <a:xfrm>
            <a:off x="4654296" y="1234440"/>
            <a:ext cx="2011680" cy="36576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3. Chiffrement</a:t>
            </a:r>
            <a:endParaRPr lang="en-US" sz="1100" dirty="0"/>
          </a:p>
        </p:txBody>
      </p:sp>
      <p:sp>
        <p:nvSpPr>
          <p:cNvPr id="19" name="Text 17"/>
          <p:cNvSpPr/>
          <p:nvPr/>
        </p:nvSpPr>
        <p:spPr>
          <a:xfrm>
            <a:off x="4745736" y="1664208"/>
            <a:ext cx="1828800" cy="1371600"/>
          </a:xfrm>
          <a:prstGeom prst="rect">
            <a:avLst/>
          </a:prstGeom>
          <a:noFill/>
          <a:ln/>
        </p:spPr>
        <p:txBody>
          <a:bodyPr wrap="square" rtlCol="0" anchor="t"/>
          <a:lstStyle/>
          <a:p>
            <a:pPr marL="0" indent="0">
              <a:buNone/>
            </a:pPr>
            <a:r>
              <a:rPr lang="en-US" sz="950" dirty="0">
                <a:latin typeface="Courier New" pitchFamily="34" charset="0"/>
                <a:ea typeface="Courier New" pitchFamily="34" charset="-122"/>
                <a:cs typeface="Courier New" pitchFamily="34" charset="-120"/>
              </a:rPr>
              <a:t>encrypted = Fernet(key).encrypt(raw)</a:t>
            </a:r>
            <a:endParaRPr lang="en-US" sz="950" dirty="0"/>
          </a:p>
          <a:p>
            <a:pPr marL="0" indent="0">
              <a:buNone/>
            </a:pPr>
            <a:r>
              <a:rPr lang="en-US" sz="950" dirty="0">
                <a:latin typeface="Courier New" pitchFamily="34" charset="0"/>
                <a:ea typeface="Courier New" pitchFamily="34" charset="-122"/>
                <a:cs typeface="Courier New" pitchFamily="34" charset="-120"/>
              </a:rPr>
              <a:t># AES-CBC + HMAC-SHA256</a:t>
            </a:r>
            <a:endParaRPr lang="en-US" sz="950" dirty="0"/>
          </a:p>
        </p:txBody>
      </p:sp>
      <p:sp>
        <p:nvSpPr>
          <p:cNvPr id="20" name="Text 18"/>
          <p:cNvSpPr/>
          <p:nvPr/>
        </p:nvSpPr>
        <p:spPr>
          <a:xfrm>
            <a:off x="6665976" y="1874520"/>
            <a:ext cx="155448" cy="457200"/>
          </a:xfrm>
          <a:prstGeom prst="rect">
            <a:avLst/>
          </a:prstGeom>
          <a:noFill/>
          <a:ln/>
        </p:spPr>
        <p:txBody>
          <a:bodyPr wrap="square" rtlCol="0" anchor="ctr"/>
          <a:lstStyle/>
          <a:p>
            <a:pPr marL="0" indent="0" algn="ctr">
              <a:buNone/>
            </a:pPr>
            <a:r>
              <a:rPr lang="en-US" sz="1800" b="1" dirty="0">
                <a:solidFill>
                  <a:srgbClr val="0A7EA4"/>
                </a:solidFill>
              </a:rPr>
              <a:t>→</a:t>
            </a:r>
            <a:endParaRPr lang="en-US" sz="1800" dirty="0"/>
          </a:p>
        </p:txBody>
      </p:sp>
      <p:sp>
        <p:nvSpPr>
          <p:cNvPr id="21" name="Shape 19"/>
          <p:cNvSpPr/>
          <p:nvPr/>
        </p:nvSpPr>
        <p:spPr>
          <a:xfrm>
            <a:off x="6821424" y="1234440"/>
            <a:ext cx="2011680" cy="1920240"/>
          </a:xfrm>
          <a:prstGeom prst="rect">
            <a:avLst/>
          </a:prstGeom>
          <a:solidFill>
            <a:srgbClr val="FFFFFF"/>
          </a:solidFill>
          <a:ln w="15240">
            <a:solidFill>
              <a:srgbClr val="1A7A4A"/>
            </a:solidFill>
            <a:prstDash val="solid"/>
          </a:ln>
          <a:effectLst>
            <a:outerShdw blurRad="63500" dist="25400" dir="8100000" algn="bl" rotWithShape="0">
              <a:srgbClr val="000000">
                <a:alpha val="10000"/>
              </a:srgbClr>
            </a:outerShdw>
          </a:effectLst>
        </p:spPr>
        <p:txBody>
          <a:bodyPr/>
          <a:lstStyle/>
          <a:p>
            <a:endParaRPr lang="fr-FR"/>
          </a:p>
        </p:txBody>
      </p:sp>
      <p:sp>
        <p:nvSpPr>
          <p:cNvPr id="22" name="Shape 20"/>
          <p:cNvSpPr/>
          <p:nvPr/>
        </p:nvSpPr>
        <p:spPr>
          <a:xfrm>
            <a:off x="6821424" y="1234440"/>
            <a:ext cx="2011680" cy="365760"/>
          </a:xfrm>
          <a:prstGeom prst="rect">
            <a:avLst/>
          </a:prstGeom>
          <a:solidFill>
            <a:srgbClr val="1A7A4A"/>
          </a:solidFill>
          <a:ln w="12700">
            <a:solidFill>
              <a:srgbClr val="1A7A4A"/>
            </a:solidFill>
            <a:prstDash val="solid"/>
          </a:ln>
        </p:spPr>
        <p:txBody>
          <a:bodyPr/>
          <a:lstStyle/>
          <a:p>
            <a:endParaRPr lang="fr-FR"/>
          </a:p>
        </p:txBody>
      </p:sp>
      <p:sp>
        <p:nvSpPr>
          <p:cNvPr id="23" name="Text 21"/>
          <p:cNvSpPr/>
          <p:nvPr/>
        </p:nvSpPr>
        <p:spPr>
          <a:xfrm>
            <a:off x="6821424" y="1234440"/>
            <a:ext cx="2011680" cy="36576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4. Stockage SQLite</a:t>
            </a:r>
            <a:endParaRPr lang="en-US" sz="1100" dirty="0"/>
          </a:p>
        </p:txBody>
      </p:sp>
      <p:sp>
        <p:nvSpPr>
          <p:cNvPr id="24" name="Text 22"/>
          <p:cNvSpPr/>
          <p:nvPr/>
        </p:nvSpPr>
        <p:spPr>
          <a:xfrm>
            <a:off x="6912864" y="1664208"/>
            <a:ext cx="1828800" cy="1371600"/>
          </a:xfrm>
          <a:prstGeom prst="rect">
            <a:avLst/>
          </a:prstGeom>
          <a:noFill/>
          <a:ln/>
        </p:spPr>
        <p:txBody>
          <a:bodyPr wrap="square" rtlCol="0" anchor="t"/>
          <a:lstStyle/>
          <a:p>
            <a:pPr marL="0" indent="0">
              <a:buNone/>
            </a:pPr>
            <a:r>
              <a:rPr lang="en-US" sz="950" dirty="0">
                <a:latin typeface="Courier New" pitchFamily="34" charset="0"/>
                <a:ea typeface="Courier New" pitchFamily="34" charset="-122"/>
                <a:cs typeface="Courier New" pitchFamily="34" charset="-120"/>
              </a:rPr>
              <a:t>db.execute("INSERT INTO embeddings</a:t>
            </a:r>
            <a:endParaRPr lang="en-US" sz="950" dirty="0"/>
          </a:p>
          <a:p>
            <a:pPr marL="0" indent="0">
              <a:buNone/>
            </a:pPr>
            <a:r>
              <a:rPr lang="en-US" sz="950" dirty="0">
                <a:latin typeface="Courier New" pitchFamily="34" charset="0"/>
                <a:ea typeface="Courier New" pitchFamily="34" charset="-122"/>
                <a:cs typeface="Courier New" pitchFamily="34" charset="-120"/>
              </a:rPr>
              <a:t>VALUES (?,?)",(user_id, encrypted))</a:t>
            </a:r>
            <a:endParaRPr lang="en-US" sz="950" dirty="0"/>
          </a:p>
        </p:txBody>
      </p:sp>
      <p:sp>
        <p:nvSpPr>
          <p:cNvPr id="26" name="Text 24"/>
          <p:cNvSpPr/>
          <p:nvPr/>
        </p:nvSpPr>
        <p:spPr>
          <a:xfrm>
            <a:off x="502920" y="3383280"/>
            <a:ext cx="8229600" cy="274320"/>
          </a:xfrm>
          <a:prstGeom prst="rect">
            <a:avLst/>
          </a:prstGeom>
          <a:noFill/>
          <a:ln/>
        </p:spPr>
        <p:txBody>
          <a:bodyPr wrap="square" rtlCol="0" anchor="ctr"/>
          <a:lstStyle/>
          <a:p>
            <a:pPr marL="0" indent="0">
              <a:buNone/>
            </a:pPr>
            <a:r>
              <a:rPr lang="en-US" sz="1200" b="1" dirty="0">
                <a:solidFill>
                  <a:srgbClr val="1B3A6B"/>
                </a:solidFill>
                <a:latin typeface="Calibri" pitchFamily="34" charset="0"/>
                <a:ea typeface="Calibri" pitchFamily="34" charset="-122"/>
                <a:cs typeface="Calibri" pitchFamily="34" charset="-120"/>
              </a:rPr>
              <a:t> Déchiffrement lors de l'authentification :</a:t>
            </a:r>
            <a:endParaRPr lang="en-US" sz="1200" dirty="0"/>
          </a:p>
        </p:txBody>
      </p:sp>
      <p:sp>
        <p:nvSpPr>
          <p:cNvPr id="27" name="Text 25"/>
          <p:cNvSpPr/>
          <p:nvPr/>
        </p:nvSpPr>
        <p:spPr>
          <a:xfrm>
            <a:off x="502920" y="3657600"/>
            <a:ext cx="8229600" cy="320040"/>
          </a:xfrm>
          <a:prstGeom prst="rect">
            <a:avLst/>
          </a:prstGeom>
          <a:noFill/>
          <a:ln/>
        </p:spPr>
        <p:txBody>
          <a:bodyPr wrap="square" rtlCol="0" anchor="ctr"/>
          <a:lstStyle/>
          <a:p>
            <a:pPr marL="0" indent="0">
              <a:buNone/>
            </a:pPr>
            <a:r>
              <a:rPr lang="en-US" sz="1050" dirty="0">
                <a:latin typeface="Courier New" pitchFamily="34" charset="0"/>
                <a:ea typeface="Courier New" pitchFamily="34" charset="-122"/>
                <a:cs typeface="Courier New" pitchFamily="34" charset="-120"/>
              </a:rPr>
              <a:t>raw = Fernet(key).decrypt(encrypted_blob)    embedding = pickle.loads(raw)    score = cosine_similarity(embedding, current_embedding)</a:t>
            </a:r>
            <a:endParaRPr lang="en-US" sz="1050" dirty="0"/>
          </a:p>
        </p:txBody>
      </p:sp>
      <p:sp>
        <p:nvSpPr>
          <p:cNvPr id="29" name="Text 27"/>
          <p:cNvSpPr/>
          <p:nvPr/>
        </p:nvSpPr>
        <p:spPr>
          <a:xfrm>
            <a:off x="502920" y="4251960"/>
            <a:ext cx="8229600" cy="502920"/>
          </a:xfrm>
          <a:prstGeom prst="rect">
            <a:avLst/>
          </a:prstGeom>
          <a:noFill/>
          <a:ln/>
        </p:spPr>
        <p:txBody>
          <a:bodyPr wrap="square" rtlCol="0" anchor="ctr"/>
          <a:lstStyle/>
          <a:p>
            <a:pPr marL="0" indent="0">
              <a:buNone/>
            </a:pPr>
            <a:r>
              <a:rPr lang="en-US" sz="1050" b="1" dirty="0">
                <a:solidFill>
                  <a:srgbClr val="1A7A4A"/>
                </a:solidFill>
                <a:latin typeface="Calibri" pitchFamily="34" charset="0"/>
                <a:ea typeface="Calibri" pitchFamily="34" charset="-122"/>
                <a:cs typeface="Calibri" pitchFamily="34" charset="-120"/>
              </a:rPr>
              <a:t> </a:t>
            </a:r>
            <a:r>
              <a:rPr lang="en-US" sz="1050" b="1" dirty="0">
                <a:latin typeface="Calibri" pitchFamily="34" charset="0"/>
                <a:ea typeface="Calibri" pitchFamily="34" charset="-122"/>
                <a:cs typeface="Calibri" pitchFamily="34" charset="-120"/>
              </a:rPr>
              <a:t>Si facelock.db est volé sans facelock.key → données totalement illisibles</a:t>
            </a:r>
            <a:endParaRPr lang="en-US" sz="1050" dirty="0"/>
          </a:p>
          <a:p>
            <a:pPr marL="0" indent="0">
              <a:buNone/>
            </a:pPr>
            <a:r>
              <a:rPr lang="en-US" sz="1050" b="1" dirty="0">
                <a:latin typeface="Calibri" pitchFamily="34" charset="0"/>
                <a:ea typeface="Calibri" pitchFamily="34" charset="-122"/>
                <a:cs typeface="Calibri" pitchFamily="34" charset="-120"/>
              </a:rPr>
              <a:t>     Fernet lève une exception InvalidToken si la clé est incorrecte ou si les données sont altérées</a:t>
            </a:r>
            <a:r>
              <a:rPr lang="en-US" sz="1050" b="1" dirty="0">
                <a:solidFill>
                  <a:srgbClr val="1A7A4A"/>
                </a:solidFill>
                <a:latin typeface="Calibri" pitchFamily="34" charset="0"/>
                <a:ea typeface="Calibri" pitchFamily="34" charset="-122"/>
                <a:cs typeface="Calibri" pitchFamily="34" charset="-120"/>
              </a:rPr>
              <a:t>.</a:t>
            </a:r>
            <a:endParaRPr lang="en-US" sz="1050" dirty="0"/>
          </a:p>
        </p:txBody>
      </p:sp>
      <p:sp>
        <p:nvSpPr>
          <p:cNvPr id="32" name="Text 30"/>
          <p:cNvSpPr/>
          <p:nvPr/>
        </p:nvSpPr>
        <p:spPr>
          <a:xfrm>
            <a:off x="7772400" y="4974336"/>
            <a:ext cx="1097280" cy="164592"/>
          </a:xfrm>
          <a:prstGeom prst="rect">
            <a:avLst/>
          </a:prstGeom>
          <a:noFill/>
          <a:ln/>
        </p:spPr>
        <p:txBody>
          <a:bodyPr wrap="square" rtlCol="0" anchor="ctr"/>
          <a:lstStyle/>
          <a:p>
            <a:pPr marL="0" indent="0" algn="r">
              <a:buNone/>
            </a:pPr>
            <a:r>
              <a:rPr lang="en-US" sz="900" dirty="0">
                <a:solidFill>
                  <a:srgbClr val="5A6A7A"/>
                </a:solidFill>
                <a:latin typeface="Calibri" pitchFamily="34" charset="0"/>
                <a:ea typeface="Calibri" pitchFamily="34" charset="-122"/>
                <a:cs typeface="Calibri" pitchFamily="34" charset="-120"/>
              </a:rPr>
              <a:t>12 / 16</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1B3A6B"/>
          </a:solidFill>
          <a:ln w="12700">
            <a:solidFill>
              <a:srgbClr val="1B3A6B"/>
            </a:solidFill>
            <a:prstDash val="solid"/>
          </a:ln>
        </p:spPr>
        <p:txBody>
          <a:bodyPr/>
          <a:lstStyle/>
          <a:p>
            <a:endParaRPr lang="fr-FR"/>
          </a:p>
        </p:txBody>
      </p:sp>
      <p:sp>
        <p:nvSpPr>
          <p:cNvPr id="3" name="Text 1"/>
          <p:cNvSpPr/>
          <p:nvPr/>
        </p:nvSpPr>
        <p:spPr>
          <a:xfrm>
            <a:off x="365760" y="91440"/>
            <a:ext cx="8229600" cy="594360"/>
          </a:xfrm>
          <a:prstGeom prst="rect">
            <a:avLst/>
          </a:prstGeom>
          <a:noFill/>
          <a:ln/>
        </p:spPr>
        <p:txBody>
          <a:bodyPr wrap="square"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Déploiement — Modifications du Registre Windows</a:t>
            </a:r>
            <a:endParaRPr lang="en-US" sz="2800" dirty="0"/>
          </a:p>
        </p:txBody>
      </p:sp>
      <p:sp>
        <p:nvSpPr>
          <p:cNvPr id="5" name="Shape 3"/>
          <p:cNvSpPr/>
          <p:nvPr/>
        </p:nvSpPr>
        <p:spPr>
          <a:xfrm>
            <a:off x="0" y="1005840"/>
            <a:ext cx="9144000" cy="54864"/>
          </a:xfrm>
          <a:prstGeom prst="rect">
            <a:avLst/>
          </a:prstGeom>
          <a:solidFill>
            <a:srgbClr val="0A7EA4"/>
          </a:solidFill>
          <a:ln w="12700">
            <a:solidFill>
              <a:srgbClr val="0A7EA4"/>
            </a:solidFill>
            <a:prstDash val="solid"/>
          </a:ln>
        </p:spPr>
        <p:txBody>
          <a:bodyPr/>
          <a:lstStyle/>
          <a:p>
            <a:endParaRPr lang="fr-FR"/>
          </a:p>
        </p:txBody>
      </p:sp>
      <p:sp>
        <p:nvSpPr>
          <p:cNvPr id="9" name="Shape 7"/>
          <p:cNvSpPr/>
          <p:nvPr/>
        </p:nvSpPr>
        <p:spPr>
          <a:xfrm>
            <a:off x="320040" y="1892808"/>
            <a:ext cx="457200" cy="658368"/>
          </a:xfrm>
          <a:prstGeom prst="rect">
            <a:avLst/>
          </a:prstGeom>
          <a:solidFill>
            <a:srgbClr val="0A7EA4"/>
          </a:solidFill>
          <a:ln w="12700">
            <a:solidFill>
              <a:srgbClr val="0A7EA4"/>
            </a:solidFill>
            <a:prstDash val="solid"/>
          </a:ln>
        </p:spPr>
        <p:txBody>
          <a:bodyPr/>
          <a:lstStyle/>
          <a:p>
            <a:endParaRPr lang="fr-FR"/>
          </a:p>
        </p:txBody>
      </p:sp>
      <p:sp>
        <p:nvSpPr>
          <p:cNvPr id="10" name="Text 8"/>
          <p:cNvSpPr/>
          <p:nvPr/>
        </p:nvSpPr>
        <p:spPr>
          <a:xfrm>
            <a:off x="320040" y="1892808"/>
            <a:ext cx="457200" cy="658368"/>
          </a:xfrm>
          <a:prstGeom prst="rect">
            <a:avLst/>
          </a:prstGeom>
          <a:noFill/>
          <a:ln/>
        </p:spPr>
        <p:txBody>
          <a:bodyPr wrap="square" rtlCol="0" anchor="ctr"/>
          <a:lstStyle/>
          <a:p>
            <a:pPr marL="0" indent="0" algn="ctr">
              <a:buNone/>
            </a:pPr>
            <a:r>
              <a:rPr lang="en-US" sz="1600" b="1" dirty="0">
                <a:solidFill>
                  <a:srgbClr val="FFFFFF"/>
                </a:solidFill>
                <a:latin typeface="Calibri Black" pitchFamily="34" charset="0"/>
                <a:ea typeface="Calibri Black" pitchFamily="34" charset="-122"/>
                <a:cs typeface="Calibri Black" pitchFamily="34" charset="-120"/>
              </a:rPr>
              <a:t>1</a:t>
            </a:r>
            <a:endParaRPr lang="en-US" sz="1600" dirty="0"/>
          </a:p>
        </p:txBody>
      </p:sp>
      <p:sp>
        <p:nvSpPr>
          <p:cNvPr id="11" name="Text 9"/>
          <p:cNvSpPr/>
          <p:nvPr/>
        </p:nvSpPr>
        <p:spPr>
          <a:xfrm>
            <a:off x="868680" y="1920240"/>
            <a:ext cx="5029200" cy="201168"/>
          </a:xfrm>
          <a:prstGeom prst="rect">
            <a:avLst/>
          </a:prstGeom>
          <a:noFill/>
          <a:ln/>
        </p:spPr>
        <p:txBody>
          <a:bodyPr wrap="square" rtlCol="0" anchor="ctr"/>
          <a:lstStyle/>
          <a:p>
            <a:pPr marL="0" indent="0">
              <a:buNone/>
            </a:pPr>
            <a:r>
              <a:rPr lang="en-US" sz="850" b="1" dirty="0">
                <a:solidFill>
                  <a:srgbClr val="5A6A7A"/>
                </a:solidFill>
                <a:latin typeface="Courier New" pitchFamily="34" charset="0"/>
                <a:ea typeface="Courier New" pitchFamily="34" charset="-122"/>
                <a:cs typeface="Courier New" pitchFamily="34" charset="-120"/>
              </a:rPr>
              <a:t>HKLM\SOFTWARE\Microsoft\Windows\CurrentVersion\Run</a:t>
            </a:r>
            <a:endParaRPr lang="en-US" sz="850" b="1" dirty="0"/>
          </a:p>
        </p:txBody>
      </p:sp>
      <p:sp>
        <p:nvSpPr>
          <p:cNvPr id="12" name="Text 10"/>
          <p:cNvSpPr/>
          <p:nvPr/>
        </p:nvSpPr>
        <p:spPr>
          <a:xfrm>
            <a:off x="868680" y="2121408"/>
            <a:ext cx="5029200" cy="228600"/>
          </a:xfrm>
          <a:prstGeom prst="rect">
            <a:avLst/>
          </a:prstGeom>
          <a:noFill/>
          <a:ln/>
        </p:spPr>
        <p:txBody>
          <a:bodyPr wrap="square" rtlCol="0" anchor="ctr"/>
          <a:lstStyle/>
          <a:p>
            <a:pPr marL="0" indent="0">
              <a:buNone/>
            </a:pPr>
            <a:r>
              <a:rPr lang="en-US" sz="950" b="1" dirty="0">
                <a:solidFill>
                  <a:srgbClr val="0A7EA4"/>
                </a:solidFill>
                <a:latin typeface="Courier New" pitchFamily="34" charset="0"/>
                <a:ea typeface="Courier New" pitchFamily="34" charset="-122"/>
                <a:cs typeface="Courier New" pitchFamily="34" charset="-120"/>
              </a:rPr>
              <a:t>/v FaceLock  /d pythonw.exe "C:\FaceLock\main.py"</a:t>
            </a:r>
            <a:endParaRPr lang="en-US" sz="950" dirty="0"/>
          </a:p>
        </p:txBody>
      </p:sp>
      <p:sp>
        <p:nvSpPr>
          <p:cNvPr id="13" name="Text 11"/>
          <p:cNvSpPr/>
          <p:nvPr/>
        </p:nvSpPr>
        <p:spPr>
          <a:xfrm>
            <a:off x="6035040" y="1965960"/>
            <a:ext cx="2651760" cy="502920"/>
          </a:xfrm>
          <a:prstGeom prst="rect">
            <a:avLst/>
          </a:prstGeom>
          <a:noFill/>
          <a:ln/>
        </p:spPr>
        <p:txBody>
          <a:bodyPr wrap="square" rtlCol="0" anchor="ctr"/>
          <a:lstStyle/>
          <a:p>
            <a:pPr marL="0" indent="0">
              <a:buNone/>
            </a:pPr>
            <a:r>
              <a:rPr lang="en-US" sz="950" b="1" dirty="0">
                <a:solidFill>
                  <a:srgbClr val="5A6A7A"/>
                </a:solidFill>
                <a:latin typeface="Calibri" pitchFamily="34" charset="0"/>
                <a:ea typeface="Calibri" pitchFamily="34" charset="-122"/>
                <a:cs typeface="Calibri" pitchFamily="34" charset="-120"/>
              </a:rPr>
              <a:t>→ Lance FaceLock automatiquement après chaque connexion</a:t>
            </a:r>
            <a:endParaRPr lang="en-US" sz="950" b="1" dirty="0"/>
          </a:p>
        </p:txBody>
      </p:sp>
      <p:sp>
        <p:nvSpPr>
          <p:cNvPr id="15" name="Shape 13"/>
          <p:cNvSpPr/>
          <p:nvPr/>
        </p:nvSpPr>
        <p:spPr>
          <a:xfrm>
            <a:off x="320040" y="2642616"/>
            <a:ext cx="457200" cy="658368"/>
          </a:xfrm>
          <a:prstGeom prst="rect">
            <a:avLst/>
          </a:prstGeom>
          <a:solidFill>
            <a:srgbClr val="1B3A6B"/>
          </a:solidFill>
          <a:ln w="12700">
            <a:solidFill>
              <a:srgbClr val="1B3A6B"/>
            </a:solidFill>
            <a:prstDash val="solid"/>
          </a:ln>
        </p:spPr>
        <p:txBody>
          <a:bodyPr/>
          <a:lstStyle/>
          <a:p>
            <a:endParaRPr lang="fr-FR"/>
          </a:p>
        </p:txBody>
      </p:sp>
      <p:sp>
        <p:nvSpPr>
          <p:cNvPr id="16" name="Text 14"/>
          <p:cNvSpPr/>
          <p:nvPr/>
        </p:nvSpPr>
        <p:spPr>
          <a:xfrm>
            <a:off x="320040" y="2642616"/>
            <a:ext cx="457200" cy="658368"/>
          </a:xfrm>
          <a:prstGeom prst="rect">
            <a:avLst/>
          </a:prstGeom>
          <a:noFill/>
          <a:ln/>
        </p:spPr>
        <p:txBody>
          <a:bodyPr wrap="square" rtlCol="0" anchor="ctr"/>
          <a:lstStyle/>
          <a:p>
            <a:pPr marL="0" indent="0" algn="ctr">
              <a:buNone/>
            </a:pPr>
            <a:r>
              <a:rPr lang="en-US" sz="1600" b="1" dirty="0">
                <a:solidFill>
                  <a:srgbClr val="FFFFFF"/>
                </a:solidFill>
                <a:latin typeface="Calibri Black" pitchFamily="34" charset="0"/>
                <a:ea typeface="Calibri Black" pitchFamily="34" charset="-122"/>
                <a:cs typeface="Calibri Black" pitchFamily="34" charset="-120"/>
              </a:rPr>
              <a:t>2</a:t>
            </a:r>
            <a:endParaRPr lang="en-US" sz="1600" dirty="0"/>
          </a:p>
        </p:txBody>
      </p:sp>
      <p:sp>
        <p:nvSpPr>
          <p:cNvPr id="17" name="Text 15"/>
          <p:cNvSpPr/>
          <p:nvPr/>
        </p:nvSpPr>
        <p:spPr>
          <a:xfrm>
            <a:off x="868680" y="2670048"/>
            <a:ext cx="5029200" cy="201168"/>
          </a:xfrm>
          <a:prstGeom prst="rect">
            <a:avLst/>
          </a:prstGeom>
          <a:noFill/>
          <a:ln/>
        </p:spPr>
        <p:txBody>
          <a:bodyPr wrap="square" rtlCol="0" anchor="ctr"/>
          <a:lstStyle/>
          <a:p>
            <a:pPr marL="0" indent="0">
              <a:buNone/>
            </a:pPr>
            <a:r>
              <a:rPr lang="en-US" sz="850" b="1" dirty="0">
                <a:solidFill>
                  <a:srgbClr val="5A6A7A"/>
                </a:solidFill>
                <a:latin typeface="Courier New" pitchFamily="34" charset="0"/>
                <a:ea typeface="Courier New" pitchFamily="34" charset="-122"/>
                <a:cs typeface="Courier New" pitchFamily="34" charset="-120"/>
              </a:rPr>
              <a:t>HKLM\SOFTWARE\Microsoft\Windows NT\CurrentVersion\Winlogon</a:t>
            </a:r>
            <a:endParaRPr lang="en-US" sz="850" b="1" dirty="0"/>
          </a:p>
        </p:txBody>
      </p:sp>
      <p:sp>
        <p:nvSpPr>
          <p:cNvPr id="18" name="Text 16"/>
          <p:cNvSpPr/>
          <p:nvPr/>
        </p:nvSpPr>
        <p:spPr>
          <a:xfrm>
            <a:off x="868680" y="2871216"/>
            <a:ext cx="5029200" cy="228600"/>
          </a:xfrm>
          <a:prstGeom prst="rect">
            <a:avLst/>
          </a:prstGeom>
          <a:noFill/>
          <a:ln/>
        </p:spPr>
        <p:txBody>
          <a:bodyPr wrap="square" rtlCol="0" anchor="ctr"/>
          <a:lstStyle/>
          <a:p>
            <a:pPr marL="0" indent="0">
              <a:buNone/>
            </a:pPr>
            <a:r>
              <a:rPr lang="en-US" sz="950" b="1" dirty="0">
                <a:solidFill>
                  <a:srgbClr val="0A7EA4"/>
                </a:solidFill>
                <a:latin typeface="Courier New" pitchFamily="34" charset="0"/>
                <a:ea typeface="Courier New" pitchFamily="34" charset="-122"/>
                <a:cs typeface="Courier New" pitchFamily="34" charset="-120"/>
              </a:rPr>
              <a:t>/v AutoAdminLogon  /d "1"</a:t>
            </a:r>
            <a:endParaRPr lang="en-US" sz="950" dirty="0"/>
          </a:p>
        </p:txBody>
      </p:sp>
      <p:sp>
        <p:nvSpPr>
          <p:cNvPr id="19" name="Text 17"/>
          <p:cNvSpPr/>
          <p:nvPr/>
        </p:nvSpPr>
        <p:spPr>
          <a:xfrm>
            <a:off x="6035040" y="2715768"/>
            <a:ext cx="2651760" cy="502920"/>
          </a:xfrm>
          <a:prstGeom prst="rect">
            <a:avLst/>
          </a:prstGeom>
          <a:noFill/>
          <a:ln/>
        </p:spPr>
        <p:txBody>
          <a:bodyPr wrap="square" rtlCol="0" anchor="ctr"/>
          <a:lstStyle/>
          <a:p>
            <a:pPr marL="0" indent="0">
              <a:buNone/>
            </a:pPr>
            <a:r>
              <a:rPr lang="en-US" sz="950" b="1" dirty="0">
                <a:solidFill>
                  <a:srgbClr val="5A6A7A"/>
                </a:solidFill>
                <a:latin typeface="Calibri" pitchFamily="34" charset="0"/>
                <a:ea typeface="Calibri" pitchFamily="34" charset="-122"/>
                <a:cs typeface="Calibri" pitchFamily="34" charset="-120"/>
              </a:rPr>
              <a:t>→ Windows se connecte automatiquement — pas d'écran de mot de passe</a:t>
            </a:r>
            <a:endParaRPr lang="en-US" sz="950" b="1" dirty="0"/>
          </a:p>
        </p:txBody>
      </p:sp>
      <p:sp>
        <p:nvSpPr>
          <p:cNvPr id="21" name="Shape 19"/>
          <p:cNvSpPr/>
          <p:nvPr/>
        </p:nvSpPr>
        <p:spPr>
          <a:xfrm>
            <a:off x="320040" y="3392424"/>
            <a:ext cx="457200" cy="658368"/>
          </a:xfrm>
          <a:prstGeom prst="rect">
            <a:avLst/>
          </a:prstGeom>
          <a:solidFill>
            <a:srgbClr val="1B3A6B"/>
          </a:solidFill>
          <a:ln w="12700">
            <a:solidFill>
              <a:srgbClr val="1B3A6B"/>
            </a:solidFill>
            <a:prstDash val="solid"/>
          </a:ln>
        </p:spPr>
        <p:txBody>
          <a:bodyPr/>
          <a:lstStyle/>
          <a:p>
            <a:endParaRPr lang="fr-FR"/>
          </a:p>
        </p:txBody>
      </p:sp>
      <p:sp>
        <p:nvSpPr>
          <p:cNvPr id="22" name="Text 20"/>
          <p:cNvSpPr/>
          <p:nvPr/>
        </p:nvSpPr>
        <p:spPr>
          <a:xfrm>
            <a:off x="320040" y="3392424"/>
            <a:ext cx="457200" cy="658368"/>
          </a:xfrm>
          <a:prstGeom prst="rect">
            <a:avLst/>
          </a:prstGeom>
          <a:noFill/>
          <a:ln/>
        </p:spPr>
        <p:txBody>
          <a:bodyPr wrap="square" rtlCol="0" anchor="ctr"/>
          <a:lstStyle/>
          <a:p>
            <a:pPr marL="0" indent="0" algn="ctr">
              <a:buNone/>
            </a:pPr>
            <a:r>
              <a:rPr lang="en-US" sz="1600" b="1" dirty="0">
                <a:solidFill>
                  <a:srgbClr val="FFFFFF"/>
                </a:solidFill>
                <a:latin typeface="Calibri Black" pitchFamily="34" charset="0"/>
                <a:ea typeface="Calibri Black" pitchFamily="34" charset="-122"/>
                <a:cs typeface="Calibri Black" pitchFamily="34" charset="-120"/>
              </a:rPr>
              <a:t>3</a:t>
            </a:r>
            <a:endParaRPr lang="en-US" sz="1600" dirty="0"/>
          </a:p>
        </p:txBody>
      </p:sp>
      <p:sp>
        <p:nvSpPr>
          <p:cNvPr id="23" name="Text 21"/>
          <p:cNvSpPr/>
          <p:nvPr/>
        </p:nvSpPr>
        <p:spPr>
          <a:xfrm>
            <a:off x="868680" y="3419856"/>
            <a:ext cx="5029200" cy="201168"/>
          </a:xfrm>
          <a:prstGeom prst="rect">
            <a:avLst/>
          </a:prstGeom>
          <a:noFill/>
          <a:ln/>
        </p:spPr>
        <p:txBody>
          <a:bodyPr wrap="square" rtlCol="0" anchor="ctr"/>
          <a:lstStyle/>
          <a:p>
            <a:pPr marL="0" indent="0">
              <a:buNone/>
            </a:pPr>
            <a:r>
              <a:rPr lang="en-US" sz="850" b="1" dirty="0">
                <a:solidFill>
                  <a:srgbClr val="5A6A7A"/>
                </a:solidFill>
                <a:latin typeface="Courier New" pitchFamily="34" charset="0"/>
                <a:ea typeface="Courier New" pitchFamily="34" charset="-122"/>
                <a:cs typeface="Courier New" pitchFamily="34" charset="-120"/>
              </a:rPr>
              <a:t>HKLM\SOFTWARE\Microsoft\Windows NT\CurrentVersion\Winlogon</a:t>
            </a:r>
            <a:endParaRPr lang="en-US" sz="850" b="1" dirty="0"/>
          </a:p>
        </p:txBody>
      </p:sp>
      <p:sp>
        <p:nvSpPr>
          <p:cNvPr id="24" name="Text 22"/>
          <p:cNvSpPr/>
          <p:nvPr/>
        </p:nvSpPr>
        <p:spPr>
          <a:xfrm>
            <a:off x="868680" y="3621024"/>
            <a:ext cx="5029200" cy="228600"/>
          </a:xfrm>
          <a:prstGeom prst="rect">
            <a:avLst/>
          </a:prstGeom>
          <a:noFill/>
          <a:ln/>
        </p:spPr>
        <p:txBody>
          <a:bodyPr wrap="square" rtlCol="0" anchor="ctr"/>
          <a:lstStyle/>
          <a:p>
            <a:pPr marL="0" indent="0">
              <a:buNone/>
            </a:pPr>
            <a:r>
              <a:rPr lang="en-US" sz="950" b="1" dirty="0">
                <a:solidFill>
                  <a:srgbClr val="0A7EA4"/>
                </a:solidFill>
                <a:latin typeface="Courier New" pitchFamily="34" charset="0"/>
                <a:ea typeface="Courier New" pitchFamily="34" charset="-122"/>
                <a:cs typeface="Courier New" pitchFamily="34" charset="-120"/>
              </a:rPr>
              <a:t>/v DefaultUserName  /d "chaima bouderbela"</a:t>
            </a:r>
            <a:endParaRPr lang="en-US" sz="950" dirty="0"/>
          </a:p>
        </p:txBody>
      </p:sp>
      <p:sp>
        <p:nvSpPr>
          <p:cNvPr id="25" name="Text 23"/>
          <p:cNvSpPr/>
          <p:nvPr/>
        </p:nvSpPr>
        <p:spPr>
          <a:xfrm>
            <a:off x="6035040" y="3465576"/>
            <a:ext cx="2651760" cy="502920"/>
          </a:xfrm>
          <a:prstGeom prst="rect">
            <a:avLst/>
          </a:prstGeom>
          <a:noFill/>
          <a:ln/>
        </p:spPr>
        <p:txBody>
          <a:bodyPr wrap="square" rtlCol="0" anchor="ctr"/>
          <a:lstStyle/>
          <a:p>
            <a:pPr marL="0" indent="0">
              <a:buNone/>
            </a:pPr>
            <a:r>
              <a:rPr lang="en-US" sz="950" b="1" dirty="0">
                <a:solidFill>
                  <a:srgbClr val="5A6A7A"/>
                </a:solidFill>
                <a:latin typeface="Calibri" pitchFamily="34" charset="0"/>
                <a:ea typeface="Calibri" pitchFamily="34" charset="-122"/>
                <a:cs typeface="Calibri" pitchFamily="34" charset="-120"/>
              </a:rPr>
              <a:t>→ Nom de l'utilisateur pour la connexion automatique</a:t>
            </a:r>
            <a:endParaRPr lang="en-US" sz="950" b="1" dirty="0"/>
          </a:p>
        </p:txBody>
      </p:sp>
      <p:sp>
        <p:nvSpPr>
          <p:cNvPr id="27" name="Shape 25"/>
          <p:cNvSpPr/>
          <p:nvPr/>
        </p:nvSpPr>
        <p:spPr>
          <a:xfrm>
            <a:off x="320040" y="4142232"/>
            <a:ext cx="457200" cy="658368"/>
          </a:xfrm>
          <a:prstGeom prst="rect">
            <a:avLst/>
          </a:prstGeom>
          <a:solidFill>
            <a:srgbClr val="1A7A4A"/>
          </a:solidFill>
          <a:ln w="12700">
            <a:solidFill>
              <a:srgbClr val="1A7A4A"/>
            </a:solidFill>
            <a:prstDash val="solid"/>
          </a:ln>
        </p:spPr>
        <p:txBody>
          <a:bodyPr/>
          <a:lstStyle/>
          <a:p>
            <a:endParaRPr lang="fr-FR"/>
          </a:p>
        </p:txBody>
      </p:sp>
      <p:sp>
        <p:nvSpPr>
          <p:cNvPr id="28" name="Text 26"/>
          <p:cNvSpPr/>
          <p:nvPr/>
        </p:nvSpPr>
        <p:spPr>
          <a:xfrm>
            <a:off x="320040" y="4142232"/>
            <a:ext cx="457200" cy="658368"/>
          </a:xfrm>
          <a:prstGeom prst="rect">
            <a:avLst/>
          </a:prstGeom>
          <a:noFill/>
          <a:ln/>
        </p:spPr>
        <p:txBody>
          <a:bodyPr wrap="square" rtlCol="0" anchor="ctr"/>
          <a:lstStyle/>
          <a:p>
            <a:pPr marL="0" indent="0" algn="ctr">
              <a:buNone/>
            </a:pPr>
            <a:r>
              <a:rPr lang="en-US" sz="1600" b="1" dirty="0">
                <a:solidFill>
                  <a:srgbClr val="FFFFFF"/>
                </a:solidFill>
                <a:latin typeface="Calibri Black" pitchFamily="34" charset="0"/>
                <a:ea typeface="Calibri Black" pitchFamily="34" charset="-122"/>
                <a:cs typeface="Calibri Black" pitchFamily="34" charset="-120"/>
              </a:rPr>
              <a:t>4</a:t>
            </a:r>
            <a:endParaRPr lang="en-US" sz="1600" dirty="0"/>
          </a:p>
        </p:txBody>
      </p:sp>
      <p:sp>
        <p:nvSpPr>
          <p:cNvPr id="29" name="Text 27"/>
          <p:cNvSpPr/>
          <p:nvPr/>
        </p:nvSpPr>
        <p:spPr>
          <a:xfrm>
            <a:off x="868680" y="4169664"/>
            <a:ext cx="5029200" cy="201168"/>
          </a:xfrm>
          <a:prstGeom prst="rect">
            <a:avLst/>
          </a:prstGeom>
          <a:noFill/>
          <a:ln/>
        </p:spPr>
        <p:txBody>
          <a:bodyPr wrap="square" rtlCol="0" anchor="ctr"/>
          <a:lstStyle/>
          <a:p>
            <a:pPr marL="0" indent="0">
              <a:buNone/>
            </a:pPr>
            <a:r>
              <a:rPr lang="en-US" sz="850" b="1" dirty="0">
                <a:solidFill>
                  <a:srgbClr val="5A6A7A"/>
                </a:solidFill>
                <a:latin typeface="Courier New" pitchFamily="34" charset="0"/>
                <a:ea typeface="Courier New" pitchFamily="34" charset="-122"/>
                <a:cs typeface="Courier New" pitchFamily="34" charset="-120"/>
              </a:rPr>
              <a:t>HKLM\SOFTWARE\Microsoft\Windows NT\CurrentVersion\Winlogon</a:t>
            </a:r>
            <a:endParaRPr lang="en-US" sz="850" b="1" dirty="0"/>
          </a:p>
        </p:txBody>
      </p:sp>
      <p:sp>
        <p:nvSpPr>
          <p:cNvPr id="30" name="Text 28"/>
          <p:cNvSpPr/>
          <p:nvPr/>
        </p:nvSpPr>
        <p:spPr>
          <a:xfrm>
            <a:off x="868680" y="4370832"/>
            <a:ext cx="5029200" cy="228600"/>
          </a:xfrm>
          <a:prstGeom prst="rect">
            <a:avLst/>
          </a:prstGeom>
          <a:noFill/>
          <a:ln/>
        </p:spPr>
        <p:txBody>
          <a:bodyPr wrap="square" rtlCol="0" anchor="ctr"/>
          <a:lstStyle/>
          <a:p>
            <a:pPr marL="0" indent="0">
              <a:buNone/>
            </a:pPr>
            <a:r>
              <a:rPr lang="en-US" sz="950" b="1" dirty="0">
                <a:solidFill>
                  <a:srgbClr val="0A7EA4"/>
                </a:solidFill>
                <a:latin typeface="Courier New" pitchFamily="34" charset="0"/>
                <a:ea typeface="Courier New" pitchFamily="34" charset="-122"/>
                <a:cs typeface="Courier New" pitchFamily="34" charset="-120"/>
              </a:rPr>
              <a:t>/v Userinit  /d "userinit.exe, pythonw.exe main.py,"</a:t>
            </a:r>
            <a:endParaRPr lang="en-US" sz="950" dirty="0"/>
          </a:p>
        </p:txBody>
      </p:sp>
      <p:sp>
        <p:nvSpPr>
          <p:cNvPr id="31" name="Text 29"/>
          <p:cNvSpPr/>
          <p:nvPr/>
        </p:nvSpPr>
        <p:spPr>
          <a:xfrm>
            <a:off x="6035040" y="4215384"/>
            <a:ext cx="2651760" cy="502920"/>
          </a:xfrm>
          <a:prstGeom prst="rect">
            <a:avLst/>
          </a:prstGeom>
          <a:noFill/>
          <a:ln/>
        </p:spPr>
        <p:txBody>
          <a:bodyPr wrap="square" rtlCol="0" anchor="ctr"/>
          <a:lstStyle/>
          <a:p>
            <a:pPr marL="0" indent="0">
              <a:buNone/>
            </a:pPr>
            <a:r>
              <a:rPr lang="en-US" sz="950" b="1" dirty="0">
                <a:solidFill>
                  <a:srgbClr val="5A6A7A"/>
                </a:solidFill>
                <a:latin typeface="Calibri" pitchFamily="34" charset="0"/>
                <a:ea typeface="Calibri" pitchFamily="34" charset="-122"/>
                <a:cs typeface="Calibri" pitchFamily="34" charset="-120"/>
              </a:rPr>
              <a:t>→ FaceLock se lance juste après le processus de login Windows</a:t>
            </a:r>
            <a:endParaRPr lang="en-US" sz="950" b="1" dirty="0"/>
          </a:p>
        </p:txBody>
      </p:sp>
      <p:sp>
        <p:nvSpPr>
          <p:cNvPr id="32" name="Shape 30"/>
          <p:cNvSpPr/>
          <p:nvPr/>
        </p:nvSpPr>
        <p:spPr>
          <a:xfrm>
            <a:off x="320040" y="4846320"/>
            <a:ext cx="8503920" cy="274320"/>
          </a:xfrm>
          <a:prstGeom prst="rect">
            <a:avLst/>
          </a:prstGeom>
          <a:solidFill>
            <a:srgbClr val="ECF0F4"/>
          </a:solidFill>
          <a:ln w="15240">
            <a:solidFill>
              <a:srgbClr val="C5D5E8"/>
            </a:solidFill>
            <a:prstDash val="solid"/>
          </a:ln>
          <a:effectLst>
            <a:outerShdw blurRad="63500" dist="25400" dir="8100000" algn="bl" rotWithShape="0">
              <a:srgbClr val="000000">
                <a:alpha val="10000"/>
              </a:srgbClr>
            </a:outerShdw>
          </a:effectLst>
        </p:spPr>
        <p:txBody>
          <a:bodyPr/>
          <a:lstStyle/>
          <a:p>
            <a:endParaRPr lang="fr-FR"/>
          </a:p>
        </p:txBody>
      </p:sp>
      <p:sp>
        <p:nvSpPr>
          <p:cNvPr id="33" name="Text 31"/>
          <p:cNvSpPr/>
          <p:nvPr/>
        </p:nvSpPr>
        <p:spPr>
          <a:xfrm>
            <a:off x="457200" y="4873752"/>
            <a:ext cx="8229600" cy="219456"/>
          </a:xfrm>
          <a:prstGeom prst="rect">
            <a:avLst/>
          </a:prstGeom>
          <a:noFill/>
          <a:ln/>
        </p:spPr>
        <p:txBody>
          <a:bodyPr wrap="square" rtlCol="0" anchor="ctr"/>
          <a:lstStyle/>
          <a:p>
            <a:pPr marL="0" indent="0">
              <a:buNone/>
            </a:pPr>
            <a:r>
              <a:rPr lang="en-US" sz="950" b="1" dirty="0">
                <a:latin typeface="Courier New" pitchFamily="34" charset="0"/>
                <a:ea typeface="Courier New" pitchFamily="34" charset="-122"/>
                <a:cs typeface="Courier New" pitchFamily="34" charset="-120"/>
              </a:rPr>
              <a:t>Commande CMD Admin :   reg add "HKLM\...\Run" /v FaceLock /t REG_SZ /d "pythonw.exe main.py" /f</a:t>
            </a:r>
            <a:endParaRPr lang="en-US" sz="950" b="1" dirty="0"/>
          </a:p>
        </p:txBody>
      </p:sp>
      <p:sp>
        <p:nvSpPr>
          <p:cNvPr id="36" name="Text 34"/>
          <p:cNvSpPr/>
          <p:nvPr/>
        </p:nvSpPr>
        <p:spPr>
          <a:xfrm>
            <a:off x="7772400" y="4974336"/>
            <a:ext cx="1097280" cy="164592"/>
          </a:xfrm>
          <a:prstGeom prst="rect">
            <a:avLst/>
          </a:prstGeom>
          <a:noFill/>
          <a:ln/>
        </p:spPr>
        <p:txBody>
          <a:bodyPr wrap="square" rtlCol="0" anchor="ctr"/>
          <a:lstStyle/>
          <a:p>
            <a:pPr marL="0" indent="0" algn="r">
              <a:buNone/>
            </a:pPr>
            <a:r>
              <a:rPr lang="en-US" sz="900" dirty="0">
                <a:solidFill>
                  <a:srgbClr val="5A6A7A"/>
                </a:solidFill>
                <a:latin typeface="Calibri" pitchFamily="34" charset="0"/>
                <a:ea typeface="Calibri" pitchFamily="34" charset="-122"/>
                <a:cs typeface="Calibri" pitchFamily="34" charset="-120"/>
              </a:rPr>
              <a:t>13 / 16</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6">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20222"/>
            <a:ext cx="9144000" cy="5324622"/>
          </a:xfrm>
          <a:prstGeom prst="rect">
            <a:avLst/>
          </a:prstGeom>
          <a:solidFill>
            <a:srgbClr val="1B3A6B"/>
          </a:solidFill>
          <a:ln w="12700">
            <a:solidFill>
              <a:srgbClr val="1B3A6B"/>
            </a:solidFill>
            <a:prstDash val="solid"/>
          </a:ln>
        </p:spPr>
        <p:txBody>
          <a:bodyPr/>
          <a:lstStyle/>
          <a:p>
            <a:endParaRPr lang="fr-FR"/>
          </a:p>
        </p:txBody>
      </p:sp>
      <p:sp>
        <p:nvSpPr>
          <p:cNvPr id="3" name="Text 1"/>
          <p:cNvSpPr/>
          <p:nvPr/>
        </p:nvSpPr>
        <p:spPr>
          <a:xfrm>
            <a:off x="2258032" y="2047729"/>
            <a:ext cx="5429963" cy="594360"/>
          </a:xfrm>
          <a:prstGeom prst="rect">
            <a:avLst/>
          </a:prstGeom>
          <a:noFill/>
          <a:ln/>
        </p:spPr>
        <p:txBody>
          <a:bodyPr wrap="square" rtlCol="0" anchor="ctr"/>
          <a:lstStyle/>
          <a:p>
            <a:pPr marL="0" indent="0">
              <a:buNone/>
            </a:pPr>
            <a:r>
              <a:rPr lang="en-US" sz="3200" b="1" dirty="0">
                <a:solidFill>
                  <a:srgbClr val="FFFFFF"/>
                </a:solidFill>
                <a:latin typeface="Calibri" pitchFamily="34" charset="0"/>
                <a:ea typeface="Calibri" pitchFamily="34" charset="-122"/>
                <a:cs typeface="Calibri" pitchFamily="34" charset="-120"/>
              </a:rPr>
              <a:t>Merci pour </a:t>
            </a:r>
            <a:r>
              <a:rPr lang="en-US" sz="3200" b="1" dirty="0" err="1">
                <a:solidFill>
                  <a:srgbClr val="FFFFFF"/>
                </a:solidFill>
                <a:latin typeface="Calibri" pitchFamily="34" charset="0"/>
                <a:ea typeface="Calibri" pitchFamily="34" charset="-122"/>
                <a:cs typeface="Calibri" pitchFamily="34" charset="-120"/>
              </a:rPr>
              <a:t>votre</a:t>
            </a:r>
            <a:r>
              <a:rPr lang="en-US" sz="3200" b="1" dirty="0">
                <a:solidFill>
                  <a:srgbClr val="FFFFFF"/>
                </a:solidFill>
                <a:latin typeface="Calibri" pitchFamily="34" charset="0"/>
                <a:ea typeface="Calibri" pitchFamily="34" charset="-122"/>
                <a:cs typeface="Calibri" pitchFamily="34" charset="-120"/>
              </a:rPr>
              <a:t> attention </a:t>
            </a:r>
            <a:endParaRPr lang="en-US" sz="3200" dirty="0"/>
          </a:p>
        </p:txBody>
      </p:sp>
      <p:sp>
        <p:nvSpPr>
          <p:cNvPr id="4" name="Text 2"/>
          <p:cNvSpPr/>
          <p:nvPr/>
        </p:nvSpPr>
        <p:spPr>
          <a:xfrm>
            <a:off x="365760" y="658368"/>
            <a:ext cx="8229600" cy="292608"/>
          </a:xfrm>
          <a:prstGeom prst="rect">
            <a:avLst/>
          </a:prstGeom>
          <a:noFill/>
          <a:ln/>
        </p:spPr>
        <p:txBody>
          <a:bodyPr wrap="square" rtlCol="0" anchor="ctr"/>
          <a:lstStyle/>
          <a:p>
            <a:pPr marL="0" indent="0">
              <a:buNone/>
            </a:pPr>
            <a:endParaRPr lang="en-US" sz="1300" dirty="0"/>
          </a:p>
        </p:txBody>
      </p:sp>
      <p:sp>
        <p:nvSpPr>
          <p:cNvPr id="5" name="Shape 3"/>
          <p:cNvSpPr/>
          <p:nvPr/>
        </p:nvSpPr>
        <p:spPr>
          <a:xfrm>
            <a:off x="0" y="3931920"/>
            <a:ext cx="9144000" cy="1392702"/>
          </a:xfrm>
          <a:prstGeom prst="rect">
            <a:avLst/>
          </a:prstGeom>
          <a:solidFill>
            <a:srgbClr val="0A7EA4"/>
          </a:solidFill>
          <a:ln w="12700">
            <a:solidFill>
              <a:srgbClr val="0A7EA4"/>
            </a:solidFill>
            <a:prstDash val="solid"/>
          </a:ln>
        </p:spPr>
        <p:txBody>
          <a:bodyPr/>
          <a:lstStyle/>
          <a:p>
            <a:endParaRPr lang="fr-F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34</TotalTime>
  <Words>1482</Words>
  <Application>Microsoft Office PowerPoint</Application>
  <PresentationFormat>On-screen Show (16:9)</PresentationFormat>
  <Paragraphs>296</Paragraphs>
  <Slides>14</Slides>
  <Notes>14</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14</vt:i4>
      </vt:variant>
    </vt:vector>
  </HeadingPairs>
  <TitlesOfParts>
    <vt:vector size="19" baseType="lpstr">
      <vt:lpstr>Arial</vt:lpstr>
      <vt:lpstr>Calibri</vt:lpstr>
      <vt:lpstr>Calibri Black</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FaceLock — Authentification Faciale Windows</dc:title>
  <dc:subject>PptxGenJS Presentation</dc:subject>
  <dc:creator>FaceLock Team</dc:creator>
  <cp:lastModifiedBy>BOUDERBELA Chaima</cp:lastModifiedBy>
  <cp:revision>5</cp:revision>
  <dcterms:created xsi:type="dcterms:W3CDTF">2026-04-23T07:12:21Z</dcterms:created>
  <dcterms:modified xsi:type="dcterms:W3CDTF">2026-06-21T14:24:41Z</dcterms:modified>
</cp:coreProperties>
</file>